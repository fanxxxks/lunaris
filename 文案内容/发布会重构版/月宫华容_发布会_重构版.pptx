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35a485aea74d47" /><Relationship Type="http://schemas.openxmlformats.org/officeDocument/2006/relationships/extended-properties" Target="/docProps/app.xml" Id="R79d9415d9e214d25" /><Relationship Type="http://schemas.openxmlformats.org/officeDocument/2006/relationships/officeDocument" Target="/ppt/presentation.xml" Id="Raf8083d8e1814b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f191ace9ec44a1"/>
  </p:sldMasterIdLst>
  <p:notesMasterIdLst>
    <p:notesMasterId xmlns:r="http://schemas.openxmlformats.org/officeDocument/2006/relationships" r:id="Rf077fe7a42484d63"/>
  </p:notesMasterIdLst>
  <p:sldIdLst>
    <p:sldId xmlns:r="http://schemas.openxmlformats.org/officeDocument/2006/relationships" id="256" r:id="R4e8dcbf5d60e4118"/>
    <p:sldId xmlns:r="http://schemas.openxmlformats.org/officeDocument/2006/relationships" id="257" r:id="R1787ff5ba8c84ebc"/>
    <p:sldId xmlns:r="http://schemas.openxmlformats.org/officeDocument/2006/relationships" id="258" r:id="Rae364032b77b4de4"/>
    <p:sldId xmlns:r="http://schemas.openxmlformats.org/officeDocument/2006/relationships" id="259" r:id="R4052f44835e44e91"/>
    <p:sldId xmlns:r="http://schemas.openxmlformats.org/officeDocument/2006/relationships" id="260" r:id="R2e4e3ac1e14145d4"/>
    <p:sldId xmlns:r="http://schemas.openxmlformats.org/officeDocument/2006/relationships" id="261" r:id="R4c27e741139a4c6c"/>
    <p:sldId xmlns:r="http://schemas.openxmlformats.org/officeDocument/2006/relationships" id="262" r:id="R9532ed0ce63d41ec"/>
    <p:sldId xmlns:r="http://schemas.openxmlformats.org/officeDocument/2006/relationships" id="263" r:id="R8799f5b3b53d4340"/>
    <p:sldId xmlns:r="http://schemas.openxmlformats.org/officeDocument/2006/relationships" id="264" r:id="R5d712b8fc6b34da6"/>
    <p:sldId xmlns:r="http://schemas.openxmlformats.org/officeDocument/2006/relationships" id="265" r:id="R581d250067d14195"/>
    <p:sldId xmlns:r="http://schemas.openxmlformats.org/officeDocument/2006/relationships" id="266" r:id="Rf3b3f5af7c5c4d36"/>
    <p:sldId xmlns:r="http://schemas.openxmlformats.org/officeDocument/2006/relationships" id="267" r:id="Re211c6c1649442af"/>
    <p:sldId xmlns:r="http://schemas.openxmlformats.org/officeDocument/2006/relationships" id="268" r:id="R058b0b3a809e4722"/>
    <p:sldId xmlns:r="http://schemas.openxmlformats.org/officeDocument/2006/relationships" id="269" r:id="Rdcd766365ef94d02"/>
    <p:sldId xmlns:r="http://schemas.openxmlformats.org/officeDocument/2006/relationships" id="270" r:id="R4495166acffa46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b69365da614894" /><Relationship Type="http://schemas.openxmlformats.org/officeDocument/2006/relationships/slideMaster" Target="/ppt/slideMasters/slideMaster1.xml" Id="R35f191ace9ec44a1" /><Relationship Type="http://schemas.openxmlformats.org/officeDocument/2006/relationships/notesMaster" Target="/ppt/notesMasters/notesMaster1.xml" Id="Rf077fe7a42484d63" /><Relationship Type="http://schemas.openxmlformats.org/officeDocument/2006/relationships/presProps" Target="/ppt/presProps.xml" Id="R44038bd0898b40f2" /><Relationship Type="http://schemas.openxmlformats.org/officeDocument/2006/relationships/tableStyles" Target="/ppt/tableStyles.xml" Id="R14ef25384c9c4dd8" /><Relationship Type="http://schemas.openxmlformats.org/officeDocument/2006/relationships/slide" Target="/ppt/slides/slide1.xml" Id="R4e8dcbf5d60e4118" /><Relationship Type="http://schemas.openxmlformats.org/officeDocument/2006/relationships/slide" Target="/ppt/slides/slide2.xml" Id="R1787ff5ba8c84ebc" /><Relationship Type="http://schemas.openxmlformats.org/officeDocument/2006/relationships/slide" Target="/ppt/slides/slide3.xml" Id="Rae364032b77b4de4" /><Relationship Type="http://schemas.openxmlformats.org/officeDocument/2006/relationships/slide" Target="/ppt/slides/slide4.xml" Id="R4052f44835e44e91" /><Relationship Type="http://schemas.openxmlformats.org/officeDocument/2006/relationships/slide" Target="/ppt/slides/slide5.xml" Id="R2e4e3ac1e14145d4" /><Relationship Type="http://schemas.openxmlformats.org/officeDocument/2006/relationships/slide" Target="/ppt/slides/slide6.xml" Id="R4c27e741139a4c6c" /><Relationship Type="http://schemas.openxmlformats.org/officeDocument/2006/relationships/slide" Target="/ppt/slides/slide7.xml" Id="R9532ed0ce63d41ec" /><Relationship Type="http://schemas.openxmlformats.org/officeDocument/2006/relationships/slide" Target="/ppt/slides/slide8.xml" Id="R8799f5b3b53d4340" /><Relationship Type="http://schemas.openxmlformats.org/officeDocument/2006/relationships/slide" Target="/ppt/slides/slide9.xml" Id="R5d712b8fc6b34da6" /><Relationship Type="http://schemas.openxmlformats.org/officeDocument/2006/relationships/slide" Target="/ppt/slides/slide10.xml" Id="R581d250067d14195" /><Relationship Type="http://schemas.openxmlformats.org/officeDocument/2006/relationships/slide" Target="/ppt/slides/slide11.xml" Id="Rf3b3f5af7c5c4d36" /><Relationship Type="http://schemas.openxmlformats.org/officeDocument/2006/relationships/slide" Target="/ppt/slides/slide12.xml" Id="Re211c6c1649442af" /><Relationship Type="http://schemas.openxmlformats.org/officeDocument/2006/relationships/slide" Target="/ppt/slides/slide13.xml" Id="R058b0b3a809e4722" /><Relationship Type="http://schemas.openxmlformats.org/officeDocument/2006/relationships/slide" Target="/ppt/slides/slide14.xml" Id="Rdcd766365ef94d02" /><Relationship Type="http://schemas.openxmlformats.org/officeDocument/2006/relationships/slide" Target="/ppt/slides/slide15.xml" Id="R4495166acffa46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f7f6660ac84c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0ae31ae798419c" /><Relationship Type="http://schemas.openxmlformats.org/officeDocument/2006/relationships/notesMaster" Target="/ppt/notesMasters/notesMaster1.xml" Id="R8391de260a0d44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d9922cb3f14603" /><Relationship Type="http://schemas.openxmlformats.org/officeDocument/2006/relationships/notesMaster" Target="/ppt/notesMasters/notesMaster1.xml" Id="R871d7a0b4a254e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686232bdfa4735" /><Relationship Type="http://schemas.openxmlformats.org/officeDocument/2006/relationships/notesMaster" Target="/ppt/notesMasters/notesMaster1.xml" Id="R7e8a8bf960d648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dfe255dbfd4383" /><Relationship Type="http://schemas.openxmlformats.org/officeDocument/2006/relationships/notesMaster" Target="/ppt/notesMasters/notesMaster1.xml" Id="R4e1e2739716145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342084bc524aeb" /><Relationship Type="http://schemas.openxmlformats.org/officeDocument/2006/relationships/notesMaster" Target="/ppt/notesMasters/notesMaster1.xml" Id="R8d6b541c790742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0480467f3441c6" /><Relationship Type="http://schemas.openxmlformats.org/officeDocument/2006/relationships/notesMaster" Target="/ppt/notesMasters/notesMaster1.xml" Id="Rc1bbb38ae6304a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527fb070d340f6" /><Relationship Type="http://schemas.openxmlformats.org/officeDocument/2006/relationships/notesMaster" Target="/ppt/notesMasters/notesMaster1.xml" Id="R0672b3e405074d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33ba9ddd99400e" /><Relationship Type="http://schemas.openxmlformats.org/officeDocument/2006/relationships/notesMaster" Target="/ppt/notesMasters/notesMaster1.xml" Id="Rbf95392fecb048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d40114137543bb" /><Relationship Type="http://schemas.openxmlformats.org/officeDocument/2006/relationships/notesMaster" Target="/ppt/notesMasters/notesMaster1.xml" Id="Rc33c6d6db40d4b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158f79d8c24519" /><Relationship Type="http://schemas.openxmlformats.org/officeDocument/2006/relationships/notesMaster" Target="/ppt/notesMasters/notesMaster1.xml" Id="R02da4d6b6ee842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327dd7485c4ca8" /><Relationship Type="http://schemas.openxmlformats.org/officeDocument/2006/relationships/notesMaster" Target="/ppt/notesMasters/notesMaster1.xml" Id="R277b9a619fce43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d894b10dd24ef3" /><Relationship Type="http://schemas.openxmlformats.org/officeDocument/2006/relationships/notesMaster" Target="/ppt/notesMasters/notesMaster1.xml" Id="Rdf2583f0651c48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2686bcfd684fdc" /><Relationship Type="http://schemas.openxmlformats.org/officeDocument/2006/relationships/notesMaster" Target="/ppt/notesMasters/notesMaster1.xml" Id="R393b3443d88244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c12daccb224b4f" /><Relationship Type="http://schemas.openxmlformats.org/officeDocument/2006/relationships/notesMaster" Target="/ppt/notesMasters/notesMaster1.xml" Id="R0a2e7a27bc7b47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459b95d24f4826" /><Relationship Type="http://schemas.openxmlformats.org/officeDocument/2006/relationships/notesMaster" Target="/ppt/notesMasters/notesMaster1.xml" Id="R1b33f97e01184f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研站的任务会更新，房间之间的关系也应该能跟上。今天发布的月宫华容，把布局变成一项可以调度的能力：使用者用中文提出模块关系，软件组织让位和搬运，再把新的空间组合展示出来。我们最值得关注的设计，是把任务表达、共享搬运和模块复用接在一起。同一批二十四个舱，已经在软件里完成了科研任务区归集与预留泊位启用。接下来，我们用一句话、一套机构和两组明确结果，展示空间怎样响应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衔接：先从科研站收到一项新任务说起。</a:t>
            </a:r>
          </a:p>
          <a:p xmlns:a="http://schemas.openxmlformats.org/drawingml/2006/main">
            <a:r>
              <a:t>现场动作：停留封面，读出项目名后稍停；依次指一句中文目标与同一批24舱两项结果。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资料来源：simulation-core.js的district预设，lunar-scheduler.js。配图来自原版PPT，为功能舱概念效果图。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设你负责这座科研站。新研究需要指定舱室进入同一任务区，检修需要为待检舱安排位置，新的空间安排需要启用预留泊位。这些需求涉及同一批房间，却要求不同的组合关系。因此，长周期运行的基地需要一种持续调整空间的办法：任务变化之后，已有模块还能重新安排，已有泊位还能继续使用。月宫华容选择把房间看作可组织的功能单元，让每一次任务更新，都有机会获得与它匹配的空间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衔接：要把这样的需求落到空间里，必须接通四个环节。</a:t>
            </a:r>
          </a:p>
          <a:p xmlns:a="http://schemas.openxmlformats.org/drawingml/2006/main">
            <a:r>
              <a:t>现场动作：先指左侧原有模块关系，再沿中间箭头指向右侧居住、材料、通信直线关系。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关系概念图：居住、材料、通信的同层连续直线排列。功能范围见《仿真软件使用说明.md》。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四个环节是目标、规划、搬运和连接。使用者先说清楚，希望哪些功能模块形成什么关系；软件再根据现有房间和可用位置，选择模块、安排让位、生成路线。搬运沿节点和升降通道逐段执行，落位后更新相邻舱室的连接。这里的核心优势，是把使用者关心的任务目标和系统处理的运动细节接起来。使用者可以先表达想要的结果，再观察每一步如何把当前布局变成目标布局，最后从终态确认新的关系已经形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衔接：先看目标这一端，一句话能组织怎样的模块关系。</a:t>
            </a:r>
          </a:p>
          <a:p xmlns:a="http://schemas.openxmlformats.org/drawingml/2006/main">
            <a:r>
              <a:t>现场动作：沿横向四个环节依次指示；最后指使用者指定结果与系统组织具体换位两句。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资料来源：lunar-scheduler.js的中文规则与约束规划，simulation-core.js的搬运及连接计算。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现在给系统一句任务：把居住、材料、通信直线相连。在这个示例中，软件选出 R15 居住、R19 材料和 R18 通信，安排必要的让位与中转，最终让三个模块在三层形成连续直线组团。我们输入的是想要的关系，系统提供的是可以逐段播放的搬运计划。它的价值很直接：使用者可以围绕任务表达需求，软件负责把需求展开成具体移动。请记住最后高亮的三个房间，一句中文已经对应到一个清晰的空间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衔接：目标已经清楚，接下来要回答，谁来为这些房间提供移动能力。</a:t>
            </a:r>
          </a:p>
          <a:p xmlns:a="http://schemas.openxmlformats.org/drawingml/2006/main">
            <a:r>
              <a:t>现场动作：指输入句与三模块终态；需现场演示时使用初始布局与预填指令，完成后返回第5页。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软件初始布局示例：lunar-scheduler.js生成R15居住、R19材料、R18通信的L3前排连续组团，含让位共9次搬运。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请看桌面机构的分工。面板托住房间，板下 XY 平台移动磁头，磁头升降完成吸合与释放，再通过磁耦合牵引房间平移。八个房间可以共享这一套搬运机构，房间本身保持被动结构。这项设计的优势，是把驱动集中到公共平台，让搬运能力成为多个模块共用的服务。对于按需、一次移动一个房间的重排场景，机构轮流接管、牵引、释放不同房间，同一套驱动就有了服务多个位置和多个任务的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衔接：共享机构解决由谁来搬，接下来还需要为换位留出周转空间。</a:t>
            </a:r>
          </a:p>
          <a:p xmlns:a="http://schemas.openxmlformats.org/drawingml/2006/main">
            <a:r>
              <a:t>现场动作：依次指被动房间、承重面板、磁头和XY平台；现场按已准备好的机构示意讲述。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设计来源：原版PPT的桌面机构概念图。配置为1套板下XY机构、8个被动房间，面板承重、磁耦合平面牵引。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两个房间需要交换位置时，可以先借用一个等待位。在各位置可达、路径具备净空的条件下，先让 A 进入等待位，再让 B 移到 A 的原位，最后让 A 进入 B 的原位。三个动作完成后，两个房间完成交换，等待位也重新空出来，能够继续服务下一次换位。华容道给我们的启发就在这里：空位可以成为反复使用的调度资源。把周转位置纳入方案，平台就能为连续发生的任务变化，保留重新组织空间的余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衔接：进入多层基地以后，这样的周转还要和每一段可用通路一起安排。</a:t>
            </a:r>
          </a:p>
          <a:p xmlns:a="http://schemas.openxmlformats.org/drawingml/2006/main">
            <a:r>
              <a:t>现场动作：沿A进入等待位、B换位、A归位三个状态图依次指示；最后指恢复的空位。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交换逻辑示意：共享机构可达各位置、路径具备净空时，借用一个等待位完成A/B换位并释放等待位。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软件把五层空间组织成四十二个有效节点，房间在同层逐段平移，跨层经过 A、B、C 内部升降通道。每次规划都要考虑当前占位、相邻节点和移动过程的扫掠包络；一次移动一个房间，其他房间保持停靠。因此，让谁先走、在哪里中转、选哪条升降通道，需要共同决定。当前科研初态中，封闭二层 C 通道后，规划可以改用 A、B 完成同一终态。这个例子展示了任务目标与可用路线之间的关系：约束发生变化，移动计划随之调整。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衔接：路线安排好以后，最清楚的判断就是任务要求的终态是否实现。</a:t>
            </a:r>
          </a:p>
          <a:p xmlns:a="http://schemas.openxmlformats.org/drawingml/2006/main">
            <a:r>
              <a:t>现场动作：先指左侧五层软件场景，再沿右侧目标泊位、可达路径、移动包络和封闭节点四项条件指向生成搬运计划。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资料来源：simulation-core.js的route、edgeClear、segmentClear，以及lunar-scheduler.js。科研任务封闭L2 C后的同终态与A/B改道计算见simulation-test.cjs第104至109行。配图为原版PPT中的软件截图。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这项科研任务要求 R02、R03、R08 进入二层的指定任务区。请看前后对照：起始时，三个指定舱室都在一层；经过包含让位和中转的六次搬运，它们进入二层目标泊位。二层指定协作舱的数量，从零个变成三个。这个结果的意义很具体：任务先确定需要哪些舱室，空间再按这个目标进行配置。每个目标舱都有明确的起点、路线和落点，观众可以直接核对任务是否完成，空间重组因此有了清楚的结果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衔接：同一套调度能力，也可以用来启用已有空间中的预留位置。</a:t>
            </a:r>
          </a:p>
          <a:p xmlns:a="http://schemas.openxmlformats.org/drawingml/2006/main">
            <a:r>
              <a:t>现场动作：先指初态L1的三个编号，再指终态L2目标区；读出0到3及6次完整搬运。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节点图数据：simulation-core.js初态L1与vertical预设终态L2。0至3指R02、R03、R08在L2的数量，计划包含6次搬运。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再看预留泊位启用任务。回到这项任务的起始布局，二层入驻六个舱，软件通过九次完整搬运，启用两个预留位置，让二层入驻变成八个。整个过程中，全站始终是同一批二十四个舱。这里最值得记住的数字，是二层六到八，以及全站二十四保持不变。任务改变了舱室的分布与组合，已有模块和已有泊位共同形成新的空间安排。月宫华容由此展示了一种复用方式：把已经具备的功能单元重新配置到需要它们的位置，让空间资源继续服务新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衔接：舱室有了新位置，连接关系也需要跟着更新。</a:t>
            </a:r>
          </a:p>
          <a:p xmlns:a="http://schemas.openxmlformats.org/drawingml/2006/main">
            <a:r>
              <a:t>现场动作：沿二层6到8的变化箭头讲述，再明确指全站24舱守恒；不将搬运次数作为效率排名。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节点图数据：simulation-core.js的district预设。L2普通泊位入驻6至8，全站房间总数24，包含9次搬运。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软件中，房间搬运和人员连接分别计算。搬运网络回答舱室沿哪条路线移动，人员网络回答落位后的舱室怎样相邻连通。每个房间设置六面舱口的概念几何，短接建立在正交相邻、已落位且可通行的房间之间。搬运前，舱门关闭、服务隔离、短接收回；搬运时，该房间退出人员网络；完成落位和连接恢复后，再重新参与通行。这样，观众既能看到房间去了哪里，也能理解新位置怎样改变连接关系，位置与使用关系在同一工作台中对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衔接：把目标、移动和连接连在一起，这项能力就可以面向不同任务反复使用。</a:t>
            </a:r>
          </a:p>
          <a:p xmlns:a="http://schemas.openxmlformats.org/drawingml/2006/main">
            <a:r>
              <a:t>现场动作：先沿右上接口分离、移动、落位三个步骤指示，再指右下两个相邻舱室之间的舱口短接。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资料来源：simulation-core.js的personnelNetwork及connections。下方为相邻连接机制示意，配图为原版PPT软件截图。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把三项任务放在一起，月宫华容的适用性就更清楚了。科研任务把指定舱室配置到二层任务区；维修隔离任务把 R24 调到首层东缘，附近两个普通位留空，并由 R11 补入顶层；预留泊位启用任务调整二层的入驻组合。它们共享公共平台、周转位置和同一批功能舱，却形成不同的任务终态。我们的优势，是把这些共用资源组织成可重复调用的空间能力。它适合预设平台上的按需、顺序重排，也让工程教学和模块空间方案讨论有了可以直接操作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衔接：最后，用一句话记住这套设计想带来的改变。</a:t>
            </a:r>
          </a:p>
          <a:p xmlns:a="http://schemas.openxmlformats.org/drawingml/2006/main">
            <a:r>
              <a:t>现场动作：按科研、检修、泊位启用三行读取任务与结果；最后指下方适用场景。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资料来源：simulation-core.js的vertical、cascade、district预设，三个任务分别从统一初始布局演示。检修任务的两处空位用于表达空间缓冲。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宫华容提出的是一种面向任务变化的空间组织方式。我们把中文目标、共享搬运与模块复用接在一起，在软件中演示了模块组团、科研任务区归集和预留泊位启用，并用桌面机构设计解释公共驱动如何轮流服务多个被动房间。每一项结果都指向同一个价值：既有空间可以继续被组织，已有模块可以继续承接新的任务。我们希望未来科研站每收到一项新任务，都能重新安排好它所需要的空间。月宫华容，任务在变，空间跟上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衔接：主讲结束；问答时按问题切换第13至15页。</a:t>
            </a:r>
          </a:p>
          <a:p xmlns:a="http://schemas.openxmlformats.org/drawingml/2006/main">
            <a:r>
              <a:t>现场动作：放慢最后两句；结束后停留本页，不主动翻到备答。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结果来源：lunar-scheduler.js的中文目标规划，以及simulation-core.js的科研与预留位启用任务。机构来源为桌面共享搬运设计。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的优势集中在三个相互支撑的设计。第一，任务目标可以用明确的中文模块关系表达，软件接着安排选舱、让位与路线。第二，桌面方案将驱动集中在公共平台，一套机构轮流服务多个被动房间，适合按需顺序重排。第三，软件用同一批二十四个舱展示不同任务的终态，把模块与泊位的复用表现出来。这些特点最适合预设平台、标准模块、任务阶段性变化的场景。近期可以用于工程创新教学、空间调度研究和模块建筑方案讨论；长周期科研站则提供了持续更新空间关系的应用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衔接：如追问软件使用方式，转第14页；如追问物理实现，转第15页。</a:t>
            </a:r>
          </a:p>
          <a:p xmlns:a="http://schemas.openxmlformats.org/drawingml/2006/main">
            <a:r>
              <a:t>现场动作：根据问题选一至两项优势回答，不把三项完整重复一遍。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资料来源：现有桌面机构方案、《仿真软件使用说明.md》与软件任务预设。适用条件为预设可达平台上的按需顺序重排。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当前中文调度支持从六类现有功能中组合二至五个模块的连接目标，可以指定楼层以及 X 或 Z 方向，组织同层连续直线组团。系统基于当前停靠布局，自动选择对应房间，允许其他房间让路和临时中转，完成后清空升降通道并高亮目标模块。它采用离线规则解析与约束规划，适合关系明确、能在已有节点网络里执行的任务表达。环形、分支、跨层排列以及否定或锁定条件，会由界面说明当前支持范围；无法生成计划时，场景保持原状。这样的处理让使用者能够知道指令表达了什么，也知道系统将实际执行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衔接：可返回第4页查看居住、材料、通信三模块实例。</a:t>
            </a:r>
          </a:p>
          <a:p xmlns:a="http://schemas.openxmlformats.org/drawingml/2006/main">
            <a:r>
              <a:t>现场动作：先指左侧六类功能与二至五个模块，再指右侧楼层、方向、排列顺序和重复类型四项条件。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资料来源：《仿真软件使用说明.md》的自然语言指令范围与lunar-scheduler.js。支持六类模块、2至5个模块、同层连续直线。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桌面机构与软件展示的是同一设计逻辑的不同对象。桌面方案以八个轻质被动模型说明单平台 XY 磁牵引：面板承重，磁头吸合、牵引与释放。软件则以五层、二十四个房间展示节点占位、路径规划、升降时序、相邻连接和任务终态。两者放在一起，能够让观众从机构分工理解共享搬运，再从完整任务理解空间重组。建筑尺度的实现将围绕承载与锁定、带载升降、服务接口和环境条件逐级开展验证。讲清每个对象承担的作用，也就能看清这项方案如何从可观察的机制继续向工程应用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衔接：回答完成后返回第12页结束。</a:t>
            </a:r>
          </a:p>
          <a:p xmlns:a="http://schemas.openxmlformats.org/drawingml/2006/main">
            <a:r>
              <a:t>现场动作：对应桌面机构与五层软件两行回答，再指下方近期应用。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资料来源：桌面机构概念方案、《仿真软件使用说明.md》与simulation-core.js。展示对象分别为桌面共享牵引机制和软件几何调度。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eb9c653c04a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0eeb57b2644afc" /><Relationship Type="http://schemas.openxmlformats.org/officeDocument/2006/relationships/slideLayout" Target="/ppt/slideLayouts/slideLayout1.xml" Id="Rc5fb460e54b34d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fb460e54b34d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304dfff424d46" /><Relationship Type="http://schemas.openxmlformats.org/officeDocument/2006/relationships/image" Target="/ppt/media/image.png" Id="R11a5a8a851344296" /><Relationship Type="http://schemas.openxmlformats.org/officeDocument/2006/relationships/image" Target="/ppt/media/image2.png" Id="R8a8a18cc57684b74" /><Relationship Type="http://schemas.openxmlformats.org/officeDocument/2006/relationships/notesSlide" Target="/ppt/notesSlides/notesSlide1.xml" Id="Rf3a0a48475d542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009a59a564c2c" /><Relationship Type="http://schemas.openxmlformats.org/officeDocument/2006/relationships/image" Target="/ppt/media/image3.png" Id="R0e5cdfdc5007484d" /><Relationship Type="http://schemas.openxmlformats.org/officeDocument/2006/relationships/notesSlide" Target="/ppt/notesSlides/notesSlide2.xml" Id="R128fbfb9e3b14c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4a7d571624fa2" /><Relationship Type="http://schemas.openxmlformats.org/officeDocument/2006/relationships/notesSlide" Target="/ppt/notesSlides/notesSlide3.xml" Id="R90e7bca6c79843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d166bb3074397" /><Relationship Type="http://schemas.openxmlformats.org/officeDocument/2006/relationships/image" Target="/ppt/media/image4.png" Id="Ra15a294550e84119" /><Relationship Type="http://schemas.openxmlformats.org/officeDocument/2006/relationships/notesSlide" Target="/ppt/notesSlides/notesSlide4.xml" Id="R233cba2165be4e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a372bec34441f" /><Relationship Type="http://schemas.openxmlformats.org/officeDocument/2006/relationships/image" Target="/ppt/media/image5.png" Id="R279ba561b03841f9" /><Relationship Type="http://schemas.openxmlformats.org/officeDocument/2006/relationships/image" Target="/ppt/media/image6.png" Id="Rdada362909734ce6" /><Relationship Type="http://schemas.openxmlformats.org/officeDocument/2006/relationships/notesSlide" Target="/ppt/notesSlides/notesSlide5.xml" Id="Rfa547760c5eb4e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7078412704112" /><Relationship Type="http://schemas.openxmlformats.org/officeDocument/2006/relationships/image" Target="/ppt/media/image7.png" Id="Rfe9f6aa2fb1045b1" /><Relationship Type="http://schemas.openxmlformats.org/officeDocument/2006/relationships/notesSlide" Target="/ppt/notesSlides/notesSlide6.xml" Id="R7e4079f21cbb4a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b1bd67a1f43a1" /><Relationship Type="http://schemas.openxmlformats.org/officeDocument/2006/relationships/image" Target="/ppt/media/image8.png" Id="R4fef37083d844866" /><Relationship Type="http://schemas.openxmlformats.org/officeDocument/2006/relationships/image" Target="/ppt/media/image9.png" Id="R09cb2e1a2d064c00" /><Relationship Type="http://schemas.openxmlformats.org/officeDocument/2006/relationships/notesSlide" Target="/ppt/notesSlides/notesSlide7.xml" Id="Rd7ec2975f9dc4c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ec93d41a24f96" /><Relationship Type="http://schemas.openxmlformats.org/officeDocument/2006/relationships/image" Target="/ppt/media/image10.png" Id="R59cee0dfe0d04338" /><Relationship Type="http://schemas.openxmlformats.org/officeDocument/2006/relationships/notesSlide" Target="/ppt/notesSlides/notesSlide8.xml" Id="R0e59bb1168ab4e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af050ff464856" /><Relationship Type="http://schemas.openxmlformats.org/officeDocument/2006/relationships/image" Target="/ppt/media/image11.png" Id="Rd16e83ee6b1645ce" /><Relationship Type="http://schemas.openxmlformats.org/officeDocument/2006/relationships/notesSlide" Target="/ppt/notesSlides/notesSlide9.xml" Id="R23270ada3e4e4f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26f151fb94f5c" /><Relationship Type="http://schemas.openxmlformats.org/officeDocument/2006/relationships/image" Target="/ppt/media/image12.png" Id="R67e96aafef73444a" /><Relationship Type="http://schemas.openxmlformats.org/officeDocument/2006/relationships/image" Target="/ppt/media/image13.png" Id="Rd1e35e0d718a4ac6" /><Relationship Type="http://schemas.openxmlformats.org/officeDocument/2006/relationships/notesSlide" Target="/ppt/notesSlides/notesSlide10.xml" Id="Rfe7522ca78a64d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7b5679d70428d" /><Relationship Type="http://schemas.openxmlformats.org/officeDocument/2006/relationships/image" Target="/ppt/media/image14.png" Id="R17943bb6004b4bb4" /><Relationship Type="http://schemas.openxmlformats.org/officeDocument/2006/relationships/notesSlide" Target="/ppt/notesSlides/notesSlide11.xml" Id="R8205452e8e8f41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6b509c7814557" /><Relationship Type="http://schemas.openxmlformats.org/officeDocument/2006/relationships/notesSlide" Target="/ppt/notesSlides/notesSlide12.xml" Id="R9ed1b7afdeda46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34cdf15944f09" /><Relationship Type="http://schemas.openxmlformats.org/officeDocument/2006/relationships/image" Target="/ppt/media/image15.png" Id="R858321a0eb084dd8" /><Relationship Type="http://schemas.openxmlformats.org/officeDocument/2006/relationships/notesSlide" Target="/ppt/notesSlides/notesSlide13.xml" Id="Rbf7795ef6a7b47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f35ef302049e7" /><Relationship Type="http://schemas.openxmlformats.org/officeDocument/2006/relationships/image" Target="/ppt/media/image16.png" Id="Rf8fb4894e2c44635" /><Relationship Type="http://schemas.openxmlformats.org/officeDocument/2006/relationships/notesSlide" Target="/ppt/notesSlides/notesSlide14.xml" Id="R70f814992a4644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d92f954804b9a" /><Relationship Type="http://schemas.openxmlformats.org/officeDocument/2006/relationships/image" Target="/ppt/media/image17.png" Id="R7755553b4d4a4056" /><Relationship Type="http://schemas.openxmlformats.org/officeDocument/2006/relationships/notesSlide" Target="/ppt/notesSlides/notesSlide15.xml" Id="Rf48919c3f95244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5a8a851344296"/>
          <a:stretch xmlns:a="http://schemas.openxmlformats.org/drawingml/2006/main"/>
        </p:blipFill>
        <p:spPr>
          <a:xfrm xmlns:a="http://schemas.openxmlformats.org/drawingml/2006/main">
            <a:off x="9982200" y="209990"/>
            <a:ext cx="1724025" cy="627770"/>
          </a:xfrm>
          <a:prstGeom xmlns:a="http://schemas.openxmlformats.org/drawingml/2006/main" prst="rect">
            <a:avLst/>
          </a:prstGeom>
        </p:spPr>
      </p:pic>
      <p:sp>
        <p:nvSpPr>
          <p:cNvPr id="2" name="text-可重构月球科研站">
            <a:extLst xmlns:a="http://schemas.openxmlformats.org/drawingml/2006/main">
              <a:ext uri="{FF2B5EF4-FFF2-40B4-BE49-F238E27FC236}">
                <a16:creationId xmlns:a16="http://schemas.microsoft.com/office/drawing/2014/main" id="{327A5945-46FC-4346-ABA8-B4F9B1E2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可重构月球科研站</a:t>
            </a:r>
          </a:p>
        </p:txBody>
      </p:sp>
      <p:sp>
        <p:nvSpPr>
          <p:cNvPr id="3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0A5C8CA1-782C-46DB-9067-99E7EF6C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sp>
        <p:nvSpPr>
          <p:cNvPr id="4" name="text-让空间跟着任务走">
            <a:extLst xmlns:a="http://schemas.openxmlformats.org/drawingml/2006/main">
              <a:ext uri="{FF2B5EF4-FFF2-40B4-BE49-F238E27FC236}">
                <a16:creationId xmlns:a16="http://schemas.microsoft.com/office/drawing/2014/main" id="{A538EE4E-F397-4F4B-B81D-19E7ED49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66975"/>
            <a:ext cx="561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让空间跟着任务走</a:t>
            </a:r>
          </a:p>
        </p:txBody>
      </p:sp>
      <p:sp>
        <p:nvSpPr>
          <p:cNvPr id="5" name="text-任务提出所需关系&#10;平台组织舱">
            <a:extLst xmlns:a="http://schemas.openxmlformats.org/drawingml/2006/main">
              <a:ext uri="{FF2B5EF4-FFF2-40B4-BE49-F238E27FC236}">
                <a16:creationId xmlns:a16="http://schemas.microsoft.com/office/drawing/2014/main" id="{72059E3A-5AF5-405F-9C85-DBBFB58B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任务提出所需关系</a:t>
            </a:r>
          </a:p>
          <a:p xmlns:a="http://schemas.openxmlformats.org/drawingml/2006/main">
            <a:pPr algn="l">
              <a:defRPr sz="217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平台组织舱室重新落位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a18cc57684b74"/>
          <a:stretch xmlns:a="http://schemas.openxmlformats.org/drawingml/2006/main"/>
        </p:blipFill>
        <p:spPr>
          <a:xfrm xmlns:a="http://schemas.openxmlformats.org/drawingml/2006/main">
            <a:off x="6191250" y="1335881"/>
            <a:ext cx="5619750" cy="4214813"/>
          </a:xfrm>
          <a:prstGeom xmlns:a="http://schemas.openxmlformats.org/drawingml/2006/main" prst="rect">
            <a:avLst/>
          </a:prstGeom>
        </p:spPr>
      </p:pic>
      <p:sp>
        <p:nvSpPr>
          <p:cNvPr id="7" name="text-功能舱概念效果图">
            <a:extLst xmlns:a="http://schemas.openxmlformats.org/drawingml/2006/main">
              <a:ext uri="{FF2B5EF4-FFF2-40B4-BE49-F238E27FC236}">
                <a16:creationId xmlns:a16="http://schemas.microsoft.com/office/drawing/2014/main" id="{3E0686E5-E6E9-4521-B91C-CCC23CDB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7212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功能舱概念效果图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AE5D2EF2-8146-4751-AC63-196B7E55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3EE"/>
            </a:solidFill>
          </a:ln>
        </p:spPr>
      </p:sp>
      <p:sp>
        <p:nvSpPr>
          <p:cNvPr id="9" name="text-一句中文目标">
            <a:extLst xmlns:a="http://schemas.openxmlformats.org/drawingml/2006/main">
              <a:ext uri="{FF2B5EF4-FFF2-40B4-BE49-F238E27FC236}">
                <a16:creationId xmlns:a16="http://schemas.microsoft.com/office/drawing/2014/main" id="{E43C073E-3CAA-4445-BF86-51C70F85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一句中文目标</a:t>
            </a:r>
          </a:p>
        </p:txBody>
      </p:sp>
      <p:sp>
        <p:nvSpPr>
          <p:cNvPr id="10" name="text-同层直线组团">
            <a:extLst xmlns:a="http://schemas.openxmlformats.org/drawingml/2006/main">
              <a:ext uri="{FF2B5EF4-FFF2-40B4-BE49-F238E27FC236}">
                <a16:creationId xmlns:a16="http://schemas.microsoft.com/office/drawing/2014/main" id="{153C9227-80C0-4ACB-ACDE-DCD5CE32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同层直线组团</a:t>
            </a:r>
          </a:p>
        </p:txBody>
      </p:sp>
      <p:sp>
        <p:nvSpPr>
          <p:cNvPr id="11" name="text-同一批24舱">
            <a:extLst xmlns:a="http://schemas.openxmlformats.org/drawingml/2006/main">
              <a:ext uri="{FF2B5EF4-FFF2-40B4-BE49-F238E27FC236}">
                <a16:creationId xmlns:a16="http://schemas.microsoft.com/office/drawing/2014/main" id="{D4A73FDA-510B-4496-ADA5-FEE98949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8155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同一批24舱</a:t>
            </a:r>
          </a:p>
        </p:txBody>
      </p:sp>
      <p:sp>
        <p:nvSpPr>
          <p:cNvPr id="12" name="text-二层入驻6舱变8舱">
            <a:extLst xmlns:a="http://schemas.openxmlformats.org/drawingml/2006/main">
              <a:ext uri="{FF2B5EF4-FFF2-40B4-BE49-F238E27FC236}">
                <a16:creationId xmlns:a16="http://schemas.microsoft.com/office/drawing/2014/main" id="{4D3CD5C7-F27E-497C-94C3-4FE0401E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2809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二层入驻6舱变8舱</a:t>
            </a:r>
          </a:p>
        </p:txBody>
      </p:sp>
      <p:sp>
        <p:nvSpPr>
          <p:cNvPr id="13" name="text-共享搬运与空间调度的交互演示">
            <a:extLst xmlns:a="http://schemas.openxmlformats.org/drawingml/2006/main">
              <a:ext uri="{FF2B5EF4-FFF2-40B4-BE49-F238E27FC236}">
                <a16:creationId xmlns:a16="http://schemas.microsoft.com/office/drawing/2014/main" id="{8222174D-4BC1-4BF6-B8EC-C21B5DE4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809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共享搬运与空间调度的交互演示</a:t>
            </a:r>
          </a:p>
        </p:txBody>
      </p:sp>
      <p:sp>
        <p:nvSpPr>
          <p:cNvPr id="14" name="text-01">
            <a:extLst xmlns:a="http://schemas.openxmlformats.org/drawingml/2006/main">
              <a:ext uri="{FF2B5EF4-FFF2-40B4-BE49-F238E27FC236}">
                <a16:creationId xmlns:a16="http://schemas.microsoft.com/office/drawing/2014/main" id="{D56EDEF8-F0C6-4199-BD56-4AC7F745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70942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FC4DE7FE-B2ED-4CE3-97D9-26773F95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cdfdc5007484d"/>
          <a:stretch xmlns:a="http://schemas.openxmlformats.org/drawingml/2006/main"/>
        </p:blipFill>
        <p:spPr>
          <a:xfrm xmlns:a="http://schemas.openxmlformats.org/drawingml/2006/main">
            <a:off x="10240370" y="219075"/>
            <a:ext cx="146486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ext-任务更新，需要空间关系一起更">
            <a:extLst xmlns:a="http://schemas.openxmlformats.org/drawingml/2006/main">
              <a:ext uri="{FF2B5EF4-FFF2-40B4-BE49-F238E27FC236}">
                <a16:creationId xmlns:a16="http://schemas.microsoft.com/office/drawing/2014/main" id="{F9740B80-AF79-4F45-B4B0-4FBFFD46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任务更新，需要空间关系一起更新</a:t>
            </a:r>
          </a:p>
        </p:txBody>
      </p:sp>
      <p:sp>
        <p:nvSpPr>
          <p:cNvPr id="4" name="text-当材料实验、通信协作或检修任">
            <a:extLst xmlns:a="http://schemas.openxmlformats.org/drawingml/2006/main">
              <a:ext uri="{FF2B5EF4-FFF2-40B4-BE49-F238E27FC236}">
                <a16:creationId xmlns:a16="http://schemas.microsoft.com/office/drawing/2014/main" id="{EE7C70DF-E2B2-4891-803F-BA384550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192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当材料实验、通信协作或检修任务变化，舱室需要重新找到合适的位置。</a:t>
            </a:r>
          </a:p>
        </p:txBody>
      </p:sp>
      <p:sp>
        <p:nvSpPr>
          <p:cNvPr id="5" name="text-02">
            <a:extLst xmlns:a="http://schemas.openxmlformats.org/drawingml/2006/main">
              <a:ext uri="{FF2B5EF4-FFF2-40B4-BE49-F238E27FC236}">
                <a16:creationId xmlns:a16="http://schemas.microsoft.com/office/drawing/2014/main" id="{E89102BE-05CE-4A55-BD37-71FD872C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任务交给原有布局">
            <a:extLst xmlns:a="http://schemas.openxmlformats.org/drawingml/2006/main">
              <a:ext uri="{FF2B5EF4-FFF2-40B4-BE49-F238E27FC236}">
                <a16:creationId xmlns:a16="http://schemas.microsoft.com/office/drawing/2014/main" id="{D0D7693E-2F2F-4B18-97CA-C4195E38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40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任务交给原有布局</a:t>
            </a:r>
          </a:p>
        </p:txBody>
      </p:sp>
      <p:sp>
        <p:nvSpPr>
          <p:cNvPr id="7" name="diagram-node-居住">
            <a:extLst xmlns:a="http://schemas.openxmlformats.org/drawingml/2006/main">
              <a:ext uri="{FF2B5EF4-FFF2-40B4-BE49-F238E27FC236}">
                <a16:creationId xmlns:a16="http://schemas.microsoft.com/office/drawing/2014/main" id="{36917975-36B4-4B07-81C2-511D9511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381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AF75"/>
            </a:solidFill>
          </a:ln>
        </p:spPr>
      </p:sp>
      <p:sp>
        <p:nvSpPr>
          <p:cNvPr id="8" name="text-居住">
            <a:extLst xmlns:a="http://schemas.openxmlformats.org/drawingml/2006/main">
              <a:ext uri="{FF2B5EF4-FFF2-40B4-BE49-F238E27FC236}">
                <a16:creationId xmlns:a16="http://schemas.microsoft.com/office/drawing/2014/main" id="{A5444028-085F-4AC3-B1A3-8E66EA9B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119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5A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5AF75"/>
                </a:solidFill>
                <a:latin typeface="Microsoft YaHei"/>
                <a:ea typeface="Microsoft YaHei"/>
                <a:cs typeface="Microsoft YaHei"/>
              </a:rPr>
              <a:t>居住</a:t>
            </a:r>
          </a:p>
        </p:txBody>
      </p:sp>
      <p:sp>
        <p:nvSpPr>
          <p:cNvPr id="9" name="diagram-node-材料">
            <a:extLst xmlns:a="http://schemas.openxmlformats.org/drawingml/2006/main">
              <a:ext uri="{FF2B5EF4-FFF2-40B4-BE49-F238E27FC236}">
                <a16:creationId xmlns:a16="http://schemas.microsoft.com/office/drawing/2014/main" id="{5384C1AF-0730-4548-9C83-1251EEFE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762250"/>
            <a:ext cx="1381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9DCC"/>
            </a:solidFill>
          </a:ln>
        </p:spPr>
      </p:sp>
      <p:sp>
        <p:nvSpPr>
          <p:cNvPr id="10" name="text-材料">
            <a:extLst xmlns:a="http://schemas.openxmlformats.org/drawingml/2006/main">
              <a:ext uri="{FF2B5EF4-FFF2-40B4-BE49-F238E27FC236}">
                <a16:creationId xmlns:a16="http://schemas.microsoft.com/office/drawing/2014/main" id="{EAD08456-F47C-47AE-ABFD-A3A8808A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38450"/>
            <a:ext cx="119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E9D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E9DCC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11" name="diagram-node-通信">
            <a:extLst xmlns:a="http://schemas.openxmlformats.org/drawingml/2006/main">
              <a:ext uri="{FF2B5EF4-FFF2-40B4-BE49-F238E27FC236}">
                <a16:creationId xmlns:a16="http://schemas.microsoft.com/office/drawing/2014/main" id="{1DBE4431-5315-43A9-9741-6017A313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57650"/>
            <a:ext cx="1381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78CC7"/>
            </a:solidFill>
          </a:ln>
        </p:spPr>
      </p:sp>
      <p:sp>
        <p:nvSpPr>
          <p:cNvPr id="12" name="text-通信">
            <a:extLst xmlns:a="http://schemas.openxmlformats.org/drawingml/2006/main">
              <a:ext uri="{FF2B5EF4-FFF2-40B4-BE49-F238E27FC236}">
                <a16:creationId xmlns:a16="http://schemas.microsoft.com/office/drawing/2014/main" id="{936F428A-4991-4813-89A1-D6E48D3A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133850"/>
            <a:ext cx="119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78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78CC7"/>
                </a:solidFill>
                <a:latin typeface="Microsoft YaHei"/>
                <a:ea typeface="Microsoft YaHei"/>
                <a:cs typeface="Microsoft YaHei"/>
              </a:rPr>
              <a:t>通信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3138C166-E019-46C4-9AE0-FF27DF5B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0522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AFBD"/>
            </a:solidFill>
          </a:ln>
        </p:spPr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EC722716-49BA-4D73-83C7-619E5610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0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AFBD"/>
            </a:solidFill>
          </a:ln>
        </p:spPr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7BB16CC2-7D9A-4E8D-846E-42EA384A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AFBD"/>
            </a:solidFill>
          </a:ln>
        </p:spPr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68B9E651-D457-4DA3-A23E-69C77CC9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3865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AFBD"/>
            </a:solidFill>
          </a:ln>
        </p:spPr>
      </p:sp>
      <p:sp>
        <p:nvSpPr>
          <p:cNvPr id="17" name="text-使用者还要确定目标位置、腾挪">
            <a:extLst xmlns:a="http://schemas.openxmlformats.org/drawingml/2006/main">
              <a:ext uri="{FF2B5EF4-FFF2-40B4-BE49-F238E27FC236}">
                <a16:creationId xmlns:a16="http://schemas.microsoft.com/office/drawing/2014/main" id="{D0F5AFC3-7A73-4668-B888-867157E0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使用者还要确定目标位置、腾挪顺序和路径</a:t>
            </a:r>
          </a:p>
        </p:txBody>
      </p:sp>
      <p:sp>
        <p:nvSpPr>
          <p:cNvPr id="18" name="direction">
            <a:extLst xmlns:a="http://schemas.openxmlformats.org/drawingml/2006/main">
              <a:ext uri="{FF2B5EF4-FFF2-40B4-BE49-F238E27FC236}">
                <a16:creationId xmlns:a16="http://schemas.microsoft.com/office/drawing/2014/main" id="{930BF07E-A2C1-4EFD-A6AA-EF07A04B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90900"/>
            <a:ext cx="619125" cy="3524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0">
            <a:noFill/>
          </a:ln>
        </p:spPr>
      </p:sp>
      <p:sp>
        <p:nvSpPr>
          <p:cNvPr id="19" name="text-布局响应新的任务关系">
            <a:extLst xmlns:a="http://schemas.openxmlformats.org/drawingml/2006/main">
              <a:ext uri="{FF2B5EF4-FFF2-40B4-BE49-F238E27FC236}">
                <a16:creationId xmlns:a16="http://schemas.microsoft.com/office/drawing/2014/main" id="{F095FFB3-F3A6-423A-894F-20A69E6E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240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布局响应新的任务关系</a:t>
            </a:r>
          </a:p>
        </p:txBody>
      </p:sp>
      <p:sp>
        <p:nvSpPr>
          <p:cNvPr id="20" name="diagram-node-居住">
            <a:extLst xmlns:a="http://schemas.openxmlformats.org/drawingml/2006/main">
              <a:ext uri="{FF2B5EF4-FFF2-40B4-BE49-F238E27FC236}">
                <a16:creationId xmlns:a16="http://schemas.microsoft.com/office/drawing/2014/main" id="{CE0059AF-489E-42F1-A269-E4B164CD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14382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F75"/>
          </a:solidFill>
          <a:ln xmlns:a="http://schemas.openxmlformats.org/drawingml/2006/main" w="19050">
            <a:solidFill>
              <a:srgbClr val="D5AF75"/>
            </a:solidFill>
          </a:ln>
        </p:spPr>
      </p:sp>
      <p:sp>
        <p:nvSpPr>
          <p:cNvPr id="21" name="text-居住">
            <a:extLst xmlns:a="http://schemas.openxmlformats.org/drawingml/2006/main">
              <a:ext uri="{FF2B5EF4-FFF2-40B4-BE49-F238E27FC236}">
                <a16:creationId xmlns:a16="http://schemas.microsoft.com/office/drawing/2014/main" id="{0B8E67A8-109C-4E6C-9874-A05D11C7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67075"/>
            <a:ext cx="12477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居住</a:t>
            </a:r>
          </a:p>
        </p:txBody>
      </p:sp>
      <p:sp>
        <p:nvSpPr>
          <p:cNvPr id="22" name="diagram-node-材料">
            <a:extLst xmlns:a="http://schemas.openxmlformats.org/drawingml/2006/main">
              <a:ext uri="{FF2B5EF4-FFF2-40B4-BE49-F238E27FC236}">
                <a16:creationId xmlns:a16="http://schemas.microsoft.com/office/drawing/2014/main" id="{B12ED200-3464-43E6-8F96-078952AB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90875"/>
            <a:ext cx="14382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DCC"/>
          </a:solidFill>
          <a:ln xmlns:a="http://schemas.openxmlformats.org/drawingml/2006/main" w="19050">
            <a:solidFill>
              <a:srgbClr val="3E9DCC"/>
            </a:solidFill>
          </a:ln>
        </p:spPr>
      </p:sp>
      <p:sp>
        <p:nvSpPr>
          <p:cNvPr id="23" name="text-材料">
            <a:extLst xmlns:a="http://schemas.openxmlformats.org/drawingml/2006/main">
              <a:ext uri="{FF2B5EF4-FFF2-40B4-BE49-F238E27FC236}">
                <a16:creationId xmlns:a16="http://schemas.microsoft.com/office/drawing/2014/main" id="{03F33160-6C55-42FE-AF2B-ACE47D43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67075"/>
            <a:ext cx="12477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24" name="diagram-node-通信">
            <a:extLst xmlns:a="http://schemas.openxmlformats.org/drawingml/2006/main">
              <a:ext uri="{FF2B5EF4-FFF2-40B4-BE49-F238E27FC236}">
                <a16:creationId xmlns:a16="http://schemas.microsoft.com/office/drawing/2014/main" id="{371B7902-C758-457D-BB80-67716BE4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90875"/>
            <a:ext cx="14382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CC7"/>
          </a:solidFill>
          <a:ln xmlns:a="http://schemas.openxmlformats.org/drawingml/2006/main" w="19050">
            <a:solidFill>
              <a:srgbClr val="978CC7"/>
            </a:solidFill>
          </a:ln>
        </p:spPr>
      </p:sp>
      <p:sp>
        <p:nvSpPr>
          <p:cNvPr id="25" name="text-通信">
            <a:extLst xmlns:a="http://schemas.openxmlformats.org/drawingml/2006/main">
              <a:ext uri="{FF2B5EF4-FFF2-40B4-BE49-F238E27FC236}">
                <a16:creationId xmlns:a16="http://schemas.microsoft.com/office/drawing/2014/main" id="{E1D948F4-9C0B-4A73-8623-E7A1AD5F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67075"/>
            <a:ext cx="12477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通信</a:t>
            </a:r>
          </a:p>
        </p:txBody>
      </p:sp>
      <p:cxnSp>
        <p:nvCxnSpPr>
          <p:cNvPr id="56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105775" y="36290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2338E"/>
            </a:solidFill>
          </a:ln>
        </p:spPr>
      </p:cxnSp>
      <p:cxnSp>
        <p:nvCxnSpPr>
          <p:cNvPr id="57" name=""/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820275" y="36290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2338E"/>
            </a:solidFill>
          </a:ln>
        </p:spPr>
      </p:cxnSp>
      <p:sp>
        <p:nvSpPr>
          <p:cNvPr id="28" name="text-一句关系目标，交给规划器&#10;组">
            <a:extLst xmlns:a="http://schemas.openxmlformats.org/drawingml/2006/main">
              <a:ext uri="{FF2B5EF4-FFF2-40B4-BE49-F238E27FC236}">
                <a16:creationId xmlns:a16="http://schemas.microsoft.com/office/drawing/2014/main" id="{B7907442-DA85-4440-BEE7-99D115A9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638675"/>
            <a:ext cx="4876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一句关系目标，交给规划器</a:t>
            </a:r>
          </a:p>
          <a:p xmlns:a="http://schemas.openxmlformats.org/drawingml/2006/main">
            <a:pPr algn="l">
              <a:def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组织可执行的换位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68A26194-11FB-44F1-BC19-E45E5404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3EE"/>
            </a:solidFill>
          </a:ln>
        </p:spPr>
      </p:sp>
      <p:sp>
        <p:nvSpPr>
          <p:cNvPr id="30" name="text-项目切入点：把舱室之间的关系">
            <a:extLst xmlns:a="http://schemas.openxmlformats.org/drawingml/2006/main">
              <a:ext uri="{FF2B5EF4-FFF2-40B4-BE49-F238E27FC236}">
                <a16:creationId xmlns:a16="http://schemas.microsoft.com/office/drawing/2014/main" id="{5ED592AF-678A-45D9-9614-EA5CBC38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项目切入点：把舱室之间的关系，变成可以重新配置的任务条件</a:t>
            </a:r>
          </a:p>
        </p:txBody>
      </p:sp>
    </p:spTree>
    <p:extLst>
      <p:ext uri="{BB962C8B-B14F-4D97-AF65-F5344CB8AC3E}">
        <p14:creationId xmlns:p14="http://schemas.microsoft.com/office/powerpoint/2010/main" val="5233251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51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65204D63-6B01-4556-B5C7-581188BE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B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4B2D2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sp>
        <p:nvSpPr>
          <p:cNvPr id="2" name="text-一句任务目标，形成一套重组方">
            <a:extLst xmlns:a="http://schemas.openxmlformats.org/drawingml/2006/main">
              <a:ext uri="{FF2B5EF4-FFF2-40B4-BE49-F238E27FC236}">
                <a16:creationId xmlns:a16="http://schemas.microsoft.com/office/drawing/2014/main" id="{005FCE80-0C35-4825-99DE-252E2306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一句任务目标，形成一套重组方案</a:t>
            </a:r>
          </a:p>
        </p:txBody>
      </p:sp>
      <p:sp>
        <p:nvSpPr>
          <p:cNvPr id="3" name="text-月宫华容把任务表达、空间规划">
            <a:extLst xmlns:a="http://schemas.openxmlformats.org/drawingml/2006/main">
              <a:ext uri="{FF2B5EF4-FFF2-40B4-BE49-F238E27FC236}">
                <a16:creationId xmlns:a16="http://schemas.microsoft.com/office/drawing/2014/main" id="{E0C77EEE-6CFB-4BB7-A791-E08E80B1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192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C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6CCD9"/>
                </a:solidFill>
                <a:latin typeface="Microsoft YaHei"/>
                <a:ea typeface="Microsoft YaHei"/>
                <a:cs typeface="Microsoft YaHei"/>
              </a:rPr>
              <a:t>月宫华容把任务表达、空间规划与搬运执行接在一起。</a:t>
            </a:r>
          </a:p>
        </p:txBody>
      </p:sp>
      <p:sp>
        <p:nvSpPr>
          <p:cNvPr id="4" name="text-03">
            <a:extLst xmlns:a="http://schemas.openxmlformats.org/drawingml/2006/main">
              <a:ext uri="{FF2B5EF4-FFF2-40B4-BE49-F238E27FC236}">
                <a16:creationId xmlns:a16="http://schemas.microsoft.com/office/drawing/2014/main" id="{7D375796-552E-4A91-963E-A92772CC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BA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A9C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-01">
            <a:extLst xmlns:a="http://schemas.openxmlformats.org/drawingml/2006/main">
              <a:ext uri="{FF2B5EF4-FFF2-40B4-BE49-F238E27FC236}">
                <a16:creationId xmlns:a16="http://schemas.microsoft.com/office/drawing/2014/main" id="{D0A57862-74BD-4AA4-9221-D87E304A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59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592C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diagram-node-提出关系">
            <a:extLst xmlns:a="http://schemas.openxmlformats.org/drawingml/2006/main">
              <a:ext uri="{FF2B5EF4-FFF2-40B4-BE49-F238E27FC236}">
                <a16:creationId xmlns:a16="http://schemas.microsoft.com/office/drawing/2014/main" id="{DAFA7661-170C-4DFD-98AA-4468FF7E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38475"/>
            <a:ext cx="2457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7" name="text-提出关系">
            <a:extLst xmlns:a="http://schemas.openxmlformats.org/drawingml/2006/main">
              <a:ext uri="{FF2B5EF4-FFF2-40B4-BE49-F238E27FC236}">
                <a16:creationId xmlns:a16="http://schemas.microsoft.com/office/drawing/2014/main" id="{E6960092-C963-4ACA-844B-A368E534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226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提出关系</a:t>
            </a:r>
          </a:p>
        </p:txBody>
      </p:sp>
      <p:sp>
        <p:nvSpPr>
          <p:cNvPr id="8" name="text-选择哪些功能舱&#10;明确排列与楼">
            <a:extLst xmlns:a="http://schemas.openxmlformats.org/drawingml/2006/main">
              <a:ext uri="{FF2B5EF4-FFF2-40B4-BE49-F238E27FC236}">
                <a16:creationId xmlns:a16="http://schemas.microsoft.com/office/drawing/2014/main" id="{98DD2AFD-5EB8-470E-9279-354ED5E1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29075"/>
            <a:ext cx="2495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选择哪些功能舱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明确排列与楼层</a:t>
            </a:r>
          </a:p>
        </p:txBody>
      </p:sp>
      <p:sp>
        <p:nvSpPr>
          <p:cNvPr id="9" name="direction">
            <a:extLst xmlns:a="http://schemas.openxmlformats.org/drawingml/2006/main">
              <a:ext uri="{FF2B5EF4-FFF2-40B4-BE49-F238E27FC236}">
                <a16:creationId xmlns:a16="http://schemas.microsoft.com/office/drawing/2014/main" id="{01AD199C-69CA-4211-8455-5AAE8FC6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05175"/>
            <a:ext cx="2381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92C8"/>
          </a:solidFill>
          <a:ln xmlns:a="http://schemas.openxmlformats.org/drawingml/2006/main" w="0">
            <a:noFill/>
          </a:ln>
        </p:spPr>
      </p:sp>
      <p:sp>
        <p:nvSpPr>
          <p:cNvPr id="10" name="text-02">
            <a:extLst xmlns:a="http://schemas.openxmlformats.org/drawingml/2006/main">
              <a:ext uri="{FF2B5EF4-FFF2-40B4-BE49-F238E27FC236}">
                <a16:creationId xmlns:a16="http://schemas.microsoft.com/office/drawing/2014/main" id="{E9E970F3-9D1C-4C5B-ACC5-23046278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59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592C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diagram-node-安排布局">
            <a:extLst xmlns:a="http://schemas.openxmlformats.org/drawingml/2006/main">
              <a:ext uri="{FF2B5EF4-FFF2-40B4-BE49-F238E27FC236}">
                <a16:creationId xmlns:a16="http://schemas.microsoft.com/office/drawing/2014/main" id="{1ED952D6-853F-41B1-A761-010BD211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38475"/>
            <a:ext cx="2457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12" name="text-安排布局">
            <a:extLst xmlns:a="http://schemas.openxmlformats.org/drawingml/2006/main">
              <a:ext uri="{FF2B5EF4-FFF2-40B4-BE49-F238E27FC236}">
                <a16:creationId xmlns:a16="http://schemas.microsoft.com/office/drawing/2014/main" id="{0567FB3F-4FC7-419D-A785-3D8EE4EE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14675"/>
            <a:ext cx="226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安排布局</a:t>
            </a:r>
          </a:p>
        </p:txBody>
      </p:sp>
      <p:sp>
        <p:nvSpPr>
          <p:cNvPr id="13" name="text-选择舱室与目标位&#10;安排让位和">
            <a:extLst xmlns:a="http://schemas.openxmlformats.org/drawingml/2006/main">
              <a:ext uri="{FF2B5EF4-FFF2-40B4-BE49-F238E27FC236}">
                <a16:creationId xmlns:a16="http://schemas.microsoft.com/office/drawing/2014/main" id="{6E527903-26F9-4CCF-870F-3971329E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29075"/>
            <a:ext cx="2495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选择舱室与目标位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安排让位和先后顺序</a:t>
            </a:r>
          </a:p>
        </p:txBody>
      </p:sp>
      <p:sp>
        <p:nvSpPr>
          <p:cNvPr id="14" name="direction">
            <a:extLst xmlns:a="http://schemas.openxmlformats.org/drawingml/2006/main">
              <a:ext uri="{FF2B5EF4-FFF2-40B4-BE49-F238E27FC236}">
                <a16:creationId xmlns:a16="http://schemas.microsoft.com/office/drawing/2014/main" id="{8D344A52-20E8-47FA-8334-6E543828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05175"/>
            <a:ext cx="2381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92C8"/>
          </a:solidFill>
          <a:ln xmlns:a="http://schemas.openxmlformats.org/drawingml/2006/main" w="0">
            <a:noFill/>
          </a:ln>
        </p:spPr>
      </p:sp>
      <p:sp>
        <p:nvSpPr>
          <p:cNvPr id="15" name="text-03">
            <a:extLst xmlns:a="http://schemas.openxmlformats.org/drawingml/2006/main">
              <a:ext uri="{FF2B5EF4-FFF2-40B4-BE49-F238E27FC236}">
                <a16:creationId xmlns:a16="http://schemas.microsoft.com/office/drawing/2014/main" id="{1452FA47-9A1D-431A-9A2C-6A9BA7D8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59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592C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diagram-node-逐段搬运">
            <a:extLst xmlns:a="http://schemas.openxmlformats.org/drawingml/2006/main">
              <a:ext uri="{FF2B5EF4-FFF2-40B4-BE49-F238E27FC236}">
                <a16:creationId xmlns:a16="http://schemas.microsoft.com/office/drawing/2014/main" id="{BD1AC3FD-3D34-4FAE-9919-DFFCDB3D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38475"/>
            <a:ext cx="2457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17" name="text-逐段搬运">
            <a:extLst xmlns:a="http://schemas.openxmlformats.org/drawingml/2006/main">
              <a:ext uri="{FF2B5EF4-FFF2-40B4-BE49-F238E27FC236}">
                <a16:creationId xmlns:a16="http://schemas.microsoft.com/office/drawing/2014/main" id="{4F4886F2-34ED-4519-B8BE-C59D6682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14675"/>
            <a:ext cx="226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逐段搬运</a:t>
            </a:r>
          </a:p>
        </p:txBody>
      </p:sp>
      <p:sp>
        <p:nvSpPr>
          <p:cNvPr id="18" name="text-沿既有导轨与升降节点&#10;逐段执">
            <a:extLst xmlns:a="http://schemas.openxmlformats.org/drawingml/2006/main">
              <a:ext uri="{FF2B5EF4-FFF2-40B4-BE49-F238E27FC236}">
                <a16:creationId xmlns:a16="http://schemas.microsoft.com/office/drawing/2014/main" id="{EEC869C8-B363-4EA9-AD3A-074740CD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29075"/>
            <a:ext cx="2495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沿既有导轨与升降节点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逐段执行搬运路线</a:t>
            </a:r>
          </a:p>
        </p:txBody>
      </p:sp>
      <p:sp>
        <p:nvSpPr>
          <p:cNvPr id="19" name="direction">
            <a:extLst xmlns:a="http://schemas.openxmlformats.org/drawingml/2006/main">
              <a:ext uri="{FF2B5EF4-FFF2-40B4-BE49-F238E27FC236}">
                <a16:creationId xmlns:a16="http://schemas.microsoft.com/office/drawing/2014/main" id="{FD85FDEF-6B13-4376-A82C-015546E8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05175"/>
            <a:ext cx="2381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92C8"/>
          </a:solidFill>
          <a:ln xmlns:a="http://schemas.openxmlformats.org/drawingml/2006/main" w="0">
            <a:noFill/>
          </a:ln>
        </p:spPr>
      </p:sp>
      <p:sp>
        <p:nvSpPr>
          <p:cNvPr id="20" name="text-04">
            <a:extLst xmlns:a="http://schemas.openxmlformats.org/drawingml/2006/main">
              <a:ext uri="{FF2B5EF4-FFF2-40B4-BE49-F238E27FC236}">
                <a16:creationId xmlns:a16="http://schemas.microsoft.com/office/drawing/2014/main" id="{D1E0B3E7-1326-4328-80BE-56DB5C22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90750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59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592C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diagram-node-更新连接">
            <a:extLst xmlns:a="http://schemas.openxmlformats.org/drawingml/2006/main">
              <a:ext uri="{FF2B5EF4-FFF2-40B4-BE49-F238E27FC236}">
                <a16:creationId xmlns:a16="http://schemas.microsoft.com/office/drawing/2014/main" id="{9DE4E3D0-A936-460A-9F16-6330E8A6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38475"/>
            <a:ext cx="2457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22" name="text-更新连接">
            <a:extLst xmlns:a="http://schemas.openxmlformats.org/drawingml/2006/main">
              <a:ext uri="{FF2B5EF4-FFF2-40B4-BE49-F238E27FC236}">
                <a16:creationId xmlns:a16="http://schemas.microsoft.com/office/drawing/2014/main" id="{76EABBE5-684B-4AAC-9A6C-BC67D29A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14675"/>
            <a:ext cx="226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更新连接</a:t>
            </a:r>
          </a:p>
        </p:txBody>
      </p:sp>
      <p:sp>
        <p:nvSpPr>
          <p:cNvPr id="23" name="text-落位后恢复相邻舱口连接&#10;持续">
            <a:extLst xmlns:a="http://schemas.openxmlformats.org/drawingml/2006/main">
              <a:ext uri="{FF2B5EF4-FFF2-40B4-BE49-F238E27FC236}">
                <a16:creationId xmlns:a16="http://schemas.microsoft.com/office/drawing/2014/main" id="{64E2B569-30B3-4AA5-A724-66D9E42F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29075"/>
            <a:ext cx="2495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落位后恢复相邻舱口连接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持续高亮目标组团</a:t>
            </a:r>
          </a:p>
        </p:txBody>
      </p:sp>
      <p:sp>
        <p:nvSpPr>
          <p:cNvPr id="24" name="text-使用者指定结果">
            <a:extLst xmlns:a="http://schemas.openxmlformats.org/drawingml/2006/main">
              <a:ext uri="{FF2B5EF4-FFF2-40B4-BE49-F238E27FC236}">
                <a16:creationId xmlns:a16="http://schemas.microsoft.com/office/drawing/2014/main" id="{9A46D446-478E-49A3-BFDA-49F9067D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AB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AB5D6"/>
                </a:solidFill>
                <a:latin typeface="Microsoft YaHei"/>
                <a:ea typeface="Microsoft YaHei"/>
                <a:cs typeface="Microsoft YaHei"/>
              </a:rPr>
              <a:t>使用者指定结果</a:t>
            </a:r>
          </a:p>
        </p:txBody>
      </p:sp>
      <p:sp>
        <p:nvSpPr>
          <p:cNvPr id="25" name="text-系统组织具体换位">
            <a:extLst xmlns:a="http://schemas.openxmlformats.org/drawingml/2006/main">
              <a:ext uri="{FF2B5EF4-FFF2-40B4-BE49-F238E27FC236}">
                <a16:creationId xmlns:a16="http://schemas.microsoft.com/office/drawing/2014/main" id="{0E23C1E6-45B4-4511-9B48-27EA76B8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816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AB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AB5D6"/>
                </a:solidFill>
                <a:latin typeface="Microsoft YaHei"/>
                <a:ea typeface="Microsoft YaHei"/>
                <a:cs typeface="Microsoft YaHei"/>
              </a:rPr>
              <a:t>系统组织具体换位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212AEC55-9938-4AE8-9DB0-5CFFA928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5473"/>
            </a:solidFill>
          </a:ln>
        </p:spPr>
      </p:sp>
      <p:sp>
        <p:nvSpPr>
          <p:cNvPr id="27" name="text-核心能力：把“想要什么空间关">
            <a:extLst xmlns:a="http://schemas.openxmlformats.org/drawingml/2006/main">
              <a:ext uri="{FF2B5EF4-FFF2-40B4-BE49-F238E27FC236}">
                <a16:creationId xmlns:a16="http://schemas.microsoft.com/office/drawing/2014/main" id="{19C7C3F1-E5A5-4C56-9F82-D254546B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核心能力：把“想要什么空间关系”，落实为可观察、可执行的重组过程</a:t>
            </a:r>
          </a:p>
        </p:txBody>
      </p:sp>
    </p:spTree>
    <p:extLst>
      <p:ext uri="{BB962C8B-B14F-4D97-AF65-F5344CB8AC3E}">
        <p14:creationId xmlns:p14="http://schemas.microsoft.com/office/powerpoint/2010/main" val="629323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681AB700-EFEE-4EA8-8DC2-30350599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a294550e84119"/>
          <a:stretch xmlns:a="http://schemas.openxmlformats.org/drawingml/2006/main"/>
        </p:blipFill>
        <p:spPr>
          <a:xfrm xmlns:a="http://schemas.openxmlformats.org/drawingml/2006/main">
            <a:off x="10240370" y="219075"/>
            <a:ext cx="146486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ext-说出所需关系，三个模块排成一">
            <a:extLst xmlns:a="http://schemas.openxmlformats.org/drawingml/2006/main">
              <a:ext uri="{FF2B5EF4-FFF2-40B4-BE49-F238E27FC236}">
                <a16:creationId xmlns:a16="http://schemas.microsoft.com/office/drawing/2014/main" id="{EA764F64-87F9-4F44-89B3-AA4F4655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说出所需关系，三个模块排成一组</a:t>
            </a:r>
          </a:p>
        </p:txBody>
      </p:sp>
      <p:sp>
        <p:nvSpPr>
          <p:cNvPr id="4" name="text-输入“构建一条直线相连的居住">
            <a:extLst xmlns:a="http://schemas.openxmlformats.org/drawingml/2006/main">
              <a:ext uri="{FF2B5EF4-FFF2-40B4-BE49-F238E27FC236}">
                <a16:creationId xmlns:a16="http://schemas.microsoft.com/office/drawing/2014/main" id="{E9CC56C6-ECBC-4AF6-9081-BA1E9151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192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输入“构建一条直线相连的居住模块、材料模块、通信模块”。</a:t>
            </a:r>
          </a:p>
        </p:txBody>
      </p:sp>
      <p:sp>
        <p:nvSpPr>
          <p:cNvPr id="5" name="text-04">
            <a:extLst xmlns:a="http://schemas.openxmlformats.org/drawingml/2006/main">
              <a:ext uri="{FF2B5EF4-FFF2-40B4-BE49-F238E27FC236}">
                <a16:creationId xmlns:a16="http://schemas.microsoft.com/office/drawing/2014/main" id="{5425B159-C1BD-4109-981B-3B7D4B13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text-明确所需关系">
            <a:extLst xmlns:a="http://schemas.openxmlformats.org/drawingml/2006/main">
              <a:ext uri="{FF2B5EF4-FFF2-40B4-BE49-F238E27FC236}">
                <a16:creationId xmlns:a16="http://schemas.microsoft.com/office/drawing/2014/main" id="{C58BB34D-881D-4A77-80E0-3D7A9945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明确所需关系</a:t>
            </a:r>
          </a:p>
        </p:txBody>
      </p:sp>
      <p:sp>
        <p:nvSpPr>
          <p:cNvPr id="7" name="diagram-node-居住 R15">
            <a:extLst xmlns:a="http://schemas.openxmlformats.org/drawingml/2006/main">
              <a:ext uri="{FF2B5EF4-FFF2-40B4-BE49-F238E27FC236}">
                <a16:creationId xmlns:a16="http://schemas.microsoft.com/office/drawing/2014/main" id="{1B7B06F9-5466-4B9C-95FF-61C907D1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18478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F75"/>
          </a:solidFill>
          <a:ln xmlns:a="http://schemas.openxmlformats.org/drawingml/2006/main" w="19050">
            <a:solidFill>
              <a:srgbClr val="D5AF75"/>
            </a:solidFill>
          </a:ln>
        </p:spPr>
      </p:sp>
      <p:sp>
        <p:nvSpPr>
          <p:cNvPr id="8" name="text-居住 R15">
            <a:extLst xmlns:a="http://schemas.openxmlformats.org/drawingml/2006/main">
              <a:ext uri="{FF2B5EF4-FFF2-40B4-BE49-F238E27FC236}">
                <a16:creationId xmlns:a16="http://schemas.microsoft.com/office/drawing/2014/main" id="{B368843B-D699-4E58-BA33-E86114CD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62275"/>
            <a:ext cx="1657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居住 R15</a:t>
            </a:r>
          </a:p>
        </p:txBody>
      </p:sp>
      <p:sp>
        <p:nvSpPr>
          <p:cNvPr id="9" name="diagram-node-材料 R19">
            <a:extLst xmlns:a="http://schemas.openxmlformats.org/drawingml/2006/main">
              <a:ext uri="{FF2B5EF4-FFF2-40B4-BE49-F238E27FC236}">
                <a16:creationId xmlns:a16="http://schemas.microsoft.com/office/drawing/2014/main" id="{7B28038A-CB14-48D9-BAA9-DB71F6E5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86075"/>
            <a:ext cx="18478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DCC"/>
          </a:solidFill>
          <a:ln xmlns:a="http://schemas.openxmlformats.org/drawingml/2006/main" w="19050">
            <a:solidFill>
              <a:srgbClr val="3E9DCC"/>
            </a:solidFill>
          </a:ln>
        </p:spPr>
      </p:sp>
      <p:sp>
        <p:nvSpPr>
          <p:cNvPr id="10" name="text-材料 R19">
            <a:extLst xmlns:a="http://schemas.openxmlformats.org/drawingml/2006/main">
              <a:ext uri="{FF2B5EF4-FFF2-40B4-BE49-F238E27FC236}">
                <a16:creationId xmlns:a16="http://schemas.microsoft.com/office/drawing/2014/main" id="{52E1B46A-3F54-4025-B274-41E120AF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62275"/>
            <a:ext cx="1657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 R19</a:t>
            </a:r>
          </a:p>
        </p:txBody>
      </p: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81250" y="33385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2338E"/>
            </a:solidFill>
          </a:ln>
        </p:spPr>
      </p:cxnSp>
      <p:sp>
        <p:nvSpPr>
          <p:cNvPr id="12" name="diagram-node-通信 R18">
            <a:extLst xmlns:a="http://schemas.openxmlformats.org/drawingml/2006/main">
              <a:ext uri="{FF2B5EF4-FFF2-40B4-BE49-F238E27FC236}">
                <a16:creationId xmlns:a16="http://schemas.microsoft.com/office/drawing/2014/main" id="{DBEFE0DB-6641-4DEC-BB15-A2DCC502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86075"/>
            <a:ext cx="18478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CC7"/>
          </a:solidFill>
          <a:ln xmlns:a="http://schemas.openxmlformats.org/drawingml/2006/main" w="19050">
            <a:solidFill>
              <a:srgbClr val="978CC7"/>
            </a:solidFill>
          </a:ln>
        </p:spPr>
      </p:sp>
      <p:sp>
        <p:nvSpPr>
          <p:cNvPr id="13" name="text-通信 R18">
            <a:extLst xmlns:a="http://schemas.openxmlformats.org/drawingml/2006/main">
              <a:ext uri="{FF2B5EF4-FFF2-40B4-BE49-F238E27FC236}">
                <a16:creationId xmlns:a16="http://schemas.microsoft.com/office/drawing/2014/main" id="{5CBADAA2-7F7A-4416-A49D-0B895D60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62275"/>
            <a:ext cx="1657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通信 R18</a:t>
            </a:r>
          </a:p>
        </p:txBody>
      </p: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14850" y="33385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2338E"/>
            </a:solidFill>
          </a:ln>
        </p:spPr>
      </p:cxnSp>
      <p:sp>
        <p:nvSpPr>
          <p:cNvPr id="15" name="text-L3 同层连续直线，按输入顺">
            <a:extLst xmlns:a="http://schemas.openxmlformats.org/drawingml/2006/main">
              <a:ext uri="{FF2B5EF4-FFF2-40B4-BE49-F238E27FC236}">
                <a16:creationId xmlns:a16="http://schemas.microsoft.com/office/drawing/2014/main" id="{37607F76-3ECA-4BA9-BF58-E04971DB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626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L3 同层连续直线，按输入顺序排列</a:t>
            </a:r>
          </a:p>
        </p:txBody>
      </p:sp>
      <p:sp>
        <p:nvSpPr>
          <p:cNvPr id="16" name="text-软件选择舱室并自动组织让位&#10;">
            <a:extLst xmlns:a="http://schemas.openxmlformats.org/drawingml/2006/main">
              <a:ext uri="{FF2B5EF4-FFF2-40B4-BE49-F238E27FC236}">
                <a16:creationId xmlns:a16="http://schemas.microsoft.com/office/drawing/2014/main" id="{B3353737-BDA6-421C-B7D2-0D58E388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6267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软件选择舱室并自动组织让位</a:t>
            </a:r>
          </a:p>
          <a:p xmlns:a="http://schemas.openxmlformats.org/drawingml/2006/main">
            <a:pPr algn="l">
              <a:def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本例形成9次计划搬运，包含让位动作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000B773E-ABB4-43FD-9B76-553A7ED3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62175"/>
            <a:ext cx="0" cy="3171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3EE"/>
            </a:solidFill>
          </a:ln>
        </p:spPr>
      </p:sp>
      <p:sp>
        <p:nvSpPr>
          <p:cNvPr id="18" name="text-3">
            <a:extLst xmlns:a="http://schemas.openxmlformats.org/drawingml/2006/main">
              <a:ext uri="{FF2B5EF4-FFF2-40B4-BE49-F238E27FC236}">
                <a16:creationId xmlns:a16="http://schemas.microsoft.com/office/drawing/2014/main" id="{4E374CB1-2B38-4AC0-AF02-81302707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7647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-个目标舱，形成连续组团">
            <a:extLst xmlns:a="http://schemas.openxmlformats.org/drawingml/2006/main">
              <a:ext uri="{FF2B5EF4-FFF2-40B4-BE49-F238E27FC236}">
                <a16:creationId xmlns:a16="http://schemas.microsoft.com/office/drawing/2014/main" id="{F171C339-0C8E-4443-9D08-E82F1842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257550"/>
            <a:ext cx="3638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个目标舱，形成连续组团</a:t>
            </a:r>
          </a:p>
        </p:txBody>
      </p:sp>
      <p:sp>
        <p:nvSpPr>
          <p:cNvPr id="20" name="text-执行结果">
            <a:extLst xmlns:a="http://schemas.openxmlformats.org/drawingml/2006/main">
              <a:ext uri="{FF2B5EF4-FFF2-40B4-BE49-F238E27FC236}">
                <a16:creationId xmlns:a16="http://schemas.microsoft.com/office/drawing/2014/main" id="{66260309-C548-49EB-8A5A-46EF5856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876675"/>
            <a:ext cx="3552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21" name="text-目标模块保持指定顺序&#10;相邻舱">
            <a:extLst xmlns:a="http://schemas.openxmlformats.org/drawingml/2006/main">
              <a:ext uri="{FF2B5EF4-FFF2-40B4-BE49-F238E27FC236}">
                <a16:creationId xmlns:a16="http://schemas.microsoft.com/office/drawing/2014/main" id="{0129FAE6-B222-42DC-B726-0B62179D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314825"/>
            <a:ext cx="35718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目标模块保持指定顺序</a:t>
            </a:r>
          </a:p>
          <a:p xmlns:a="http://schemas.openxmlformats.org/drawingml/2006/main">
            <a:pPr algn="l">
              <a:def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相邻舱口形成连接</a:t>
            </a:r>
          </a:p>
          <a:p xmlns:a="http://schemas.openxmlformats.org/drawingml/2006/main">
            <a:pPr algn="l">
              <a:def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目标组团持续高亮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37485EA3-A5E2-4412-9177-8422DBEC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3EE"/>
            </a:solidFill>
          </a:ln>
        </p:spPr>
      </p:sp>
      <p:sp>
        <p:nvSpPr>
          <p:cNvPr id="23" name="text-使用者说出所需组合，软件把关">
            <a:extLst xmlns:a="http://schemas.openxmlformats.org/drawingml/2006/main">
              <a:ext uri="{FF2B5EF4-FFF2-40B4-BE49-F238E27FC236}">
                <a16:creationId xmlns:a16="http://schemas.microsoft.com/office/drawing/2014/main" id="{D15F3A22-83A3-4CB2-9BD9-456F7BCA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使用者说出所需组合，软件把关系目标落实到具体舱号与位置</a:t>
            </a:r>
          </a:p>
        </p:txBody>
      </p:sp>
    </p:spTree>
    <p:extLst>
      <p:ext uri="{BB962C8B-B14F-4D97-AF65-F5344CB8AC3E}">
        <p14:creationId xmlns:p14="http://schemas.microsoft.com/office/powerpoint/2010/main" val="20034986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06BCDCB5-738E-43B1-8316-B1507EE4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ba561b03841f9"/>
          <a:stretch xmlns:a="http://schemas.openxmlformats.org/drawingml/2006/main"/>
        </p:blipFill>
        <p:spPr>
          <a:xfrm xmlns:a="http://schemas.openxmlformats.org/drawingml/2006/main">
            <a:off x="10240370" y="219075"/>
            <a:ext cx="146486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ext-八个被动房间，共享一套搬运机">
            <a:extLst xmlns:a="http://schemas.openxmlformats.org/drawingml/2006/main">
              <a:ext uri="{FF2B5EF4-FFF2-40B4-BE49-F238E27FC236}">
                <a16:creationId xmlns:a16="http://schemas.microsoft.com/office/drawing/2014/main" id="{9E530B1B-D154-4009-8A52-0303A9AF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八个被动房间，共享一套搬运机构</a:t>
            </a:r>
          </a:p>
        </p:txBody>
      </p:sp>
      <p:sp>
        <p:nvSpPr>
          <p:cNvPr id="4" name="text-驱动集中在公共平台，房间轮流">
            <a:extLst xmlns:a="http://schemas.openxmlformats.org/drawingml/2006/main">
              <a:ext uri="{FF2B5EF4-FFF2-40B4-BE49-F238E27FC236}">
                <a16:creationId xmlns:a16="http://schemas.microsoft.com/office/drawing/2014/main" id="{C7781660-B43D-4D8C-8963-F04397CC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192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驱动集中在公共平台，房间轮流调用搬运能力。</a:t>
            </a:r>
          </a:p>
        </p:txBody>
      </p:sp>
      <p:sp>
        <p:nvSpPr>
          <p:cNvPr id="5" name="text-05">
            <a:extLst xmlns:a="http://schemas.openxmlformats.org/drawingml/2006/main">
              <a:ext uri="{FF2B5EF4-FFF2-40B4-BE49-F238E27FC236}">
                <a16:creationId xmlns:a16="http://schemas.microsoft.com/office/drawing/2014/main" id="{11DB0D0B-E7C0-4C12-ADB5-52737AAB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a362909734ce6"/>
          <a:stretch xmlns:a="http://schemas.openxmlformats.org/drawingml/2006/main"/>
        </p:blipFill>
        <p:spPr>
          <a:xfrm xmlns:a="http://schemas.openxmlformats.org/drawingml/2006/main">
            <a:off x="938213" y="2038350"/>
            <a:ext cx="5286375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text-桌面机构概念图，面板承重、磁">
            <a:extLst xmlns:a="http://schemas.openxmlformats.org/drawingml/2006/main">
              <a:ext uri="{FF2B5EF4-FFF2-40B4-BE49-F238E27FC236}">
                <a16:creationId xmlns:a16="http://schemas.microsoft.com/office/drawing/2014/main" id="{F90063F3-16E3-4501-957E-7D538142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102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桌面机构概念图，面板承重、磁耦合牵引</a:t>
            </a:r>
          </a:p>
        </p:txBody>
      </p:sp>
      <p:sp>
        <p:nvSpPr>
          <p:cNvPr id="8" name="text-1套 XY 机构">
            <a:extLst xmlns:a="http://schemas.openxmlformats.org/drawingml/2006/main">
              <a:ext uri="{FF2B5EF4-FFF2-40B4-BE49-F238E27FC236}">
                <a16:creationId xmlns:a16="http://schemas.microsoft.com/office/drawing/2014/main" id="{DE7D9C79-356A-4CC0-8DEC-7837EBB5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1套 XY 机构</a:t>
            </a:r>
          </a:p>
        </p:txBody>
      </p:sp>
      <p:sp>
        <p:nvSpPr>
          <p:cNvPr id="9" name="diagram-node-板下移动磁头">
            <a:extLst xmlns:a="http://schemas.openxmlformats.org/drawingml/2006/main">
              <a:ext uri="{FF2B5EF4-FFF2-40B4-BE49-F238E27FC236}">
                <a16:creationId xmlns:a16="http://schemas.microsoft.com/office/drawing/2014/main" id="{E515BB41-9DD9-4E4D-99ED-4409C7DB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57500"/>
            <a:ext cx="41243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10" name="text-板下移动磁头">
            <a:extLst xmlns:a="http://schemas.openxmlformats.org/drawingml/2006/main">
              <a:ext uri="{FF2B5EF4-FFF2-40B4-BE49-F238E27FC236}">
                <a16:creationId xmlns:a16="http://schemas.microsoft.com/office/drawing/2014/main" id="{857CA267-9EED-4FCC-9EA7-3B26FF48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933700"/>
            <a:ext cx="3933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板下移动磁头</a:t>
            </a:r>
          </a:p>
        </p:txBody>
      </p:sp>
      <p:sp>
        <p:nvSpPr>
          <p:cNvPr id="11" name="diagram-node-01">
            <a:extLst xmlns:a="http://schemas.openxmlformats.org/drawingml/2006/main">
              <a:ext uri="{FF2B5EF4-FFF2-40B4-BE49-F238E27FC236}">
                <a16:creationId xmlns:a16="http://schemas.microsoft.com/office/drawing/2014/main" id="{07B14046-C1A7-420A-BD86-D2D5D659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876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12" name="text-01">
            <a:extLst xmlns:a="http://schemas.openxmlformats.org/drawingml/2006/main">
              <a:ext uri="{FF2B5EF4-FFF2-40B4-BE49-F238E27FC236}">
                <a16:creationId xmlns:a16="http://schemas.microsoft.com/office/drawing/2014/main" id="{E521CF8D-BD01-4D39-9EFA-4314D002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685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diagram-node-02">
            <a:extLst xmlns:a="http://schemas.openxmlformats.org/drawingml/2006/main">
              <a:ext uri="{FF2B5EF4-FFF2-40B4-BE49-F238E27FC236}">
                <a16:creationId xmlns:a16="http://schemas.microsoft.com/office/drawing/2014/main" id="{1DE607C7-298D-464A-A89B-7215CD28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62400"/>
            <a:ext cx="876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14" name="text-02">
            <a:extLst xmlns:a="http://schemas.openxmlformats.org/drawingml/2006/main">
              <a:ext uri="{FF2B5EF4-FFF2-40B4-BE49-F238E27FC236}">
                <a16:creationId xmlns:a16="http://schemas.microsoft.com/office/drawing/2014/main" id="{7541295C-B4CD-4CB7-8FA8-A36BCBB7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38600"/>
            <a:ext cx="685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diagram-node-03">
            <a:extLst xmlns:a="http://schemas.openxmlformats.org/drawingml/2006/main">
              <a:ext uri="{FF2B5EF4-FFF2-40B4-BE49-F238E27FC236}">
                <a16:creationId xmlns:a16="http://schemas.microsoft.com/office/drawing/2014/main" id="{4202E4A4-1744-44CF-865F-04BD2A4A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62400"/>
            <a:ext cx="876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16" name="text-03">
            <a:extLst xmlns:a="http://schemas.openxmlformats.org/drawingml/2006/main">
              <a:ext uri="{FF2B5EF4-FFF2-40B4-BE49-F238E27FC236}">
                <a16:creationId xmlns:a16="http://schemas.microsoft.com/office/drawing/2014/main" id="{7DAD06E6-5ABC-49F9-92FD-1C3B4CAA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38600"/>
            <a:ext cx="685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diagram-node-04">
            <a:extLst xmlns:a="http://schemas.openxmlformats.org/drawingml/2006/main">
              <a:ext uri="{FF2B5EF4-FFF2-40B4-BE49-F238E27FC236}">
                <a16:creationId xmlns:a16="http://schemas.microsoft.com/office/drawing/2014/main" id="{0B131FA4-EC5A-4240-9B18-25245DE9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962400"/>
            <a:ext cx="876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18" name="text-04">
            <a:extLst xmlns:a="http://schemas.openxmlformats.org/drawingml/2006/main">
              <a:ext uri="{FF2B5EF4-FFF2-40B4-BE49-F238E27FC236}">
                <a16:creationId xmlns:a16="http://schemas.microsoft.com/office/drawing/2014/main" id="{16E31EF2-DDE3-46B1-A463-960BB936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38600"/>
            <a:ext cx="685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diagram-node-05">
            <a:extLst xmlns:a="http://schemas.openxmlformats.org/drawingml/2006/main">
              <a:ext uri="{FF2B5EF4-FFF2-40B4-BE49-F238E27FC236}">
                <a16:creationId xmlns:a16="http://schemas.microsoft.com/office/drawing/2014/main" id="{37FFE867-A371-4B87-A723-FC937184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72025"/>
            <a:ext cx="876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20" name="text-05">
            <a:extLst xmlns:a="http://schemas.openxmlformats.org/drawingml/2006/main">
              <a:ext uri="{FF2B5EF4-FFF2-40B4-BE49-F238E27FC236}">
                <a16:creationId xmlns:a16="http://schemas.microsoft.com/office/drawing/2014/main" id="{BD46A602-387D-4478-876D-3ECEFF37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48225"/>
            <a:ext cx="685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diagram-node-06">
            <a:extLst xmlns:a="http://schemas.openxmlformats.org/drawingml/2006/main">
              <a:ext uri="{FF2B5EF4-FFF2-40B4-BE49-F238E27FC236}">
                <a16:creationId xmlns:a16="http://schemas.microsoft.com/office/drawing/2014/main" id="{0C98CB84-7DDE-40D9-9E38-F206CD6A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72025"/>
            <a:ext cx="876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22" name="text-06">
            <a:extLst xmlns:a="http://schemas.openxmlformats.org/drawingml/2006/main">
              <a:ext uri="{FF2B5EF4-FFF2-40B4-BE49-F238E27FC236}">
                <a16:creationId xmlns:a16="http://schemas.microsoft.com/office/drawing/2014/main" id="{60B43BEA-B74F-4CB9-BA0D-AF33AC09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48225"/>
            <a:ext cx="685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3" name="diagram-node-07">
            <a:extLst xmlns:a="http://schemas.openxmlformats.org/drawingml/2006/main">
              <a:ext uri="{FF2B5EF4-FFF2-40B4-BE49-F238E27FC236}">
                <a16:creationId xmlns:a16="http://schemas.microsoft.com/office/drawing/2014/main" id="{72859364-CEA4-4FAA-BE7F-83E0A2B1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72025"/>
            <a:ext cx="876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24" name="text-07">
            <a:extLst xmlns:a="http://schemas.openxmlformats.org/drawingml/2006/main">
              <a:ext uri="{FF2B5EF4-FFF2-40B4-BE49-F238E27FC236}">
                <a16:creationId xmlns:a16="http://schemas.microsoft.com/office/drawing/2014/main" id="{8FB004BC-250C-4768-80E2-28DE82F1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48225"/>
            <a:ext cx="685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5" name="diagram-node-08">
            <a:extLst xmlns:a="http://schemas.openxmlformats.org/drawingml/2006/main">
              <a:ext uri="{FF2B5EF4-FFF2-40B4-BE49-F238E27FC236}">
                <a16:creationId xmlns:a16="http://schemas.microsoft.com/office/drawing/2014/main" id="{4BFE38C2-DF78-4409-9FB2-1C29E07A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772025"/>
            <a:ext cx="876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26" name="text-08">
            <a:extLst xmlns:a="http://schemas.openxmlformats.org/drawingml/2006/main">
              <a:ext uri="{FF2B5EF4-FFF2-40B4-BE49-F238E27FC236}">
                <a16:creationId xmlns:a16="http://schemas.microsoft.com/office/drawing/2014/main" id="{E8C838AA-2DF7-47AE-8376-200BFB56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848225"/>
            <a:ext cx="685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59638AB8-F623-44EA-B2EA-E31F8C87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505200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7D484880-795E-4ADC-A83A-EA2D48E5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24275"/>
            <a:ext cx="3895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C189402B-FEBE-4347-8ED2-5501C6B6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24275"/>
            <a:ext cx="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06051738-B864-4DDE-8098-8AF465EF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10100"/>
            <a:ext cx="3895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DB69087F-AEF9-4217-AF93-028E3327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242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56AD1196-2884-4007-9018-E7D67556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1010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84F8D926-A1A2-4CE9-92E5-2408BC97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7242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BDB4D017-6D4C-4DA9-A104-9531A66C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61010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35" name="rule">
            <a:extLst xmlns:a="http://schemas.openxmlformats.org/drawingml/2006/main">
              <a:ext uri="{FF2B5EF4-FFF2-40B4-BE49-F238E27FC236}">
                <a16:creationId xmlns:a16="http://schemas.microsoft.com/office/drawing/2014/main" id="{19509732-EB8F-4434-976B-409110C0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242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36" name="rule">
            <a:extLst xmlns:a="http://schemas.openxmlformats.org/drawingml/2006/main">
              <a:ext uri="{FF2B5EF4-FFF2-40B4-BE49-F238E27FC236}">
                <a16:creationId xmlns:a16="http://schemas.microsoft.com/office/drawing/2014/main" id="{07FABDD4-2705-4B8F-BE3D-37082F5A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61010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37" name="rule">
            <a:extLst xmlns:a="http://schemas.openxmlformats.org/drawingml/2006/main">
              <a:ext uri="{FF2B5EF4-FFF2-40B4-BE49-F238E27FC236}">
                <a16:creationId xmlns:a16="http://schemas.microsoft.com/office/drawing/2014/main" id="{E829B739-5490-4784-858B-E9099C51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7242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38" name="rule">
            <a:extLst xmlns:a="http://schemas.openxmlformats.org/drawingml/2006/main">
              <a:ext uri="{FF2B5EF4-FFF2-40B4-BE49-F238E27FC236}">
                <a16:creationId xmlns:a16="http://schemas.microsoft.com/office/drawing/2014/main" id="{44734E34-D1DB-4C51-9755-FE6C18BC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61010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39" name="text-8个被动房间，按需顺序搬运">
            <a:extLst xmlns:a="http://schemas.openxmlformats.org/drawingml/2006/main">
              <a:ext uri="{FF2B5EF4-FFF2-40B4-BE49-F238E27FC236}">
                <a16:creationId xmlns:a16="http://schemas.microsoft.com/office/drawing/2014/main" id="{EA17FA02-673D-46AE-B16C-B21D2FAC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10200"/>
            <a:ext cx="4410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8个被动房间，按需顺序搬运</a:t>
            </a:r>
          </a:p>
        </p:txBody>
      </p:sp>
      <p:sp>
        <p:nvSpPr>
          <p:cNvPr id="40" name="rule">
            <a:extLst xmlns:a="http://schemas.openxmlformats.org/drawingml/2006/main">
              <a:ext uri="{FF2B5EF4-FFF2-40B4-BE49-F238E27FC236}">
                <a16:creationId xmlns:a16="http://schemas.microsoft.com/office/drawing/2014/main" id="{7632F982-A6B8-4782-8405-42D7E046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3EE"/>
            </a:solidFill>
          </a:ln>
        </p:spPr>
      </p:sp>
      <p:sp>
        <p:nvSpPr>
          <p:cNvPr id="41" name="text-共享的价值：把驱动机构留在平">
            <a:extLst xmlns:a="http://schemas.openxmlformats.org/drawingml/2006/main">
              <a:ext uri="{FF2B5EF4-FFF2-40B4-BE49-F238E27FC236}">
                <a16:creationId xmlns:a16="http://schemas.microsoft.com/office/drawing/2014/main" id="{1BFF321C-9C0F-4FE2-B167-0292C456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共享的价值：把驱动机构留在平台，把可重组的功能留给模块</a:t>
            </a:r>
          </a:p>
        </p:txBody>
      </p:sp>
    </p:spTree>
    <p:extLst>
      <p:ext uri="{BB962C8B-B14F-4D97-AF65-F5344CB8AC3E}">
        <p14:creationId xmlns:p14="http://schemas.microsoft.com/office/powerpoint/2010/main" val="19623424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5B80C267-15F8-471C-9C1B-D531F434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f6aa2fb1045b1"/>
          <a:stretch xmlns:a="http://schemas.openxmlformats.org/drawingml/2006/main"/>
        </p:blipFill>
        <p:spPr>
          <a:xfrm xmlns:a="http://schemas.openxmlformats.org/drawingml/2006/main">
            <a:off x="10240370" y="219075"/>
            <a:ext cx="146486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ext-一个等待位，让换位可以连续发">
            <a:extLst xmlns:a="http://schemas.openxmlformats.org/drawingml/2006/main">
              <a:ext uri="{FF2B5EF4-FFF2-40B4-BE49-F238E27FC236}">
                <a16:creationId xmlns:a16="http://schemas.microsoft.com/office/drawing/2014/main" id="{1B07AFD0-EBDD-4842-B6B2-6134B021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一个等待位，让换位可以连续发生</a:t>
            </a:r>
          </a:p>
        </p:txBody>
      </p:sp>
      <p:sp>
        <p:nvSpPr>
          <p:cNvPr id="4" name="text-在各位置可达、路径具备净空时">
            <a:extLst xmlns:a="http://schemas.openxmlformats.org/drawingml/2006/main">
              <a:ext uri="{FF2B5EF4-FFF2-40B4-BE49-F238E27FC236}">
                <a16:creationId xmlns:a16="http://schemas.microsoft.com/office/drawing/2014/main" id="{8F5A3D75-1145-4276-9FBE-EFF97C9E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192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在各位置可达、路径具备净空时，等待位承担临时周转，并在交换后恢复空闲。</a:t>
            </a:r>
          </a:p>
        </p:txBody>
      </p:sp>
      <p:sp>
        <p:nvSpPr>
          <p:cNvPr id="5" name="text-06">
            <a:extLst xmlns:a="http://schemas.openxmlformats.org/drawingml/2006/main">
              <a:ext uri="{FF2B5EF4-FFF2-40B4-BE49-F238E27FC236}">
                <a16:creationId xmlns:a16="http://schemas.microsoft.com/office/drawing/2014/main" id="{8EC8EBEB-BD72-480A-8886-A2B89CF0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text-准备">
            <a:extLst xmlns:a="http://schemas.openxmlformats.org/drawingml/2006/main">
              <a:ext uri="{FF2B5EF4-FFF2-40B4-BE49-F238E27FC236}">
                <a16:creationId xmlns:a16="http://schemas.microsoft.com/office/drawing/2014/main" id="{A00B43AE-583B-4250-8E9F-C75AFB0D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336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7" name="text-初始布局">
            <a:extLst xmlns:a="http://schemas.openxmlformats.org/drawingml/2006/main">
              <a:ext uri="{FF2B5EF4-FFF2-40B4-BE49-F238E27FC236}">
                <a16:creationId xmlns:a16="http://schemas.microsoft.com/office/drawing/2014/main" id="{EA9782D0-6D76-4C8B-A242-DF4EB950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255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初始布局</a:t>
            </a:r>
          </a:p>
        </p:txBody>
      </p:sp>
      <p:sp>
        <p:nvSpPr>
          <p:cNvPr id="8" name="diagram-node-A">
            <a:extLst xmlns:a="http://schemas.openxmlformats.org/drawingml/2006/main">
              <a:ext uri="{FF2B5EF4-FFF2-40B4-BE49-F238E27FC236}">
                <a16:creationId xmlns:a16="http://schemas.microsoft.com/office/drawing/2014/main" id="{78F23A2F-EA04-4135-9459-347373B8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723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9" name="text-A">
            <a:extLst xmlns:a="http://schemas.openxmlformats.org/drawingml/2006/main">
              <a:ext uri="{FF2B5EF4-FFF2-40B4-BE49-F238E27FC236}">
                <a16:creationId xmlns:a16="http://schemas.microsoft.com/office/drawing/2014/main" id="{DA489BF2-D73D-48FD-8D98-73744E07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533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diagram-node-B">
            <a:extLst xmlns:a="http://schemas.openxmlformats.org/drawingml/2006/main">
              <a:ext uri="{FF2B5EF4-FFF2-40B4-BE49-F238E27FC236}">
                <a16:creationId xmlns:a16="http://schemas.microsoft.com/office/drawing/2014/main" id="{3A7CD496-F4D8-4DAF-8B96-07B2C913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05175"/>
            <a:ext cx="723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79"/>
          </a:solidFill>
          <a:ln xmlns:a="http://schemas.openxmlformats.org/drawingml/2006/main" w="19050">
            <a:solidFill>
              <a:srgbClr val="4A8D79"/>
            </a:solidFill>
          </a:ln>
        </p:spPr>
      </p:sp>
      <p:sp>
        <p:nvSpPr>
          <p:cNvPr id="11" name="text-B">
            <a:extLst xmlns:a="http://schemas.openxmlformats.org/drawingml/2006/main">
              <a:ext uri="{FF2B5EF4-FFF2-40B4-BE49-F238E27FC236}">
                <a16:creationId xmlns:a16="http://schemas.microsoft.com/office/drawing/2014/main" id="{0EC4A468-DCDA-4012-BCB1-BF320424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81375"/>
            <a:ext cx="533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2" name="diagram-node-空">
            <a:extLst xmlns:a="http://schemas.openxmlformats.org/drawingml/2006/main">
              <a:ext uri="{FF2B5EF4-FFF2-40B4-BE49-F238E27FC236}">
                <a16:creationId xmlns:a16="http://schemas.microsoft.com/office/drawing/2014/main" id="{8847BB90-BAF4-418A-BB9C-46EB539B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05175"/>
            <a:ext cx="723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text-空">
            <a:extLst xmlns:a="http://schemas.openxmlformats.org/drawingml/2006/main">
              <a:ext uri="{FF2B5EF4-FFF2-40B4-BE49-F238E27FC236}">
                <a16:creationId xmlns:a16="http://schemas.microsoft.com/office/drawing/2014/main" id="{4EA3A7EC-C841-496E-BD56-6FEA315C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81375"/>
            <a:ext cx="533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空</a:t>
            </a:r>
          </a:p>
        </p:txBody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0F9B766F-8181-4D42-BCB2-75886FD8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05175"/>
            <a:ext cx="7239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8EAA"/>
            </a:solidFill>
          </a:ln>
        </p:spPr>
      </p:sp>
      <p:sp>
        <p:nvSpPr>
          <p:cNvPr id="15" name="text-位置1    位置2    ">
            <a:extLst xmlns:a="http://schemas.openxmlformats.org/drawingml/2006/main">
              <a:ext uri="{FF2B5EF4-FFF2-40B4-BE49-F238E27FC236}">
                <a16:creationId xmlns:a16="http://schemas.microsoft.com/office/drawing/2014/main" id="{E01204DF-2835-478C-930E-0DD19DE9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6720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位置1    位置2    等待位</a:t>
            </a:r>
          </a:p>
        </p:txBody>
      </p:sp>
      <p:sp>
        <p:nvSpPr>
          <p:cNvPr id="16" name="direction">
            <a:extLst xmlns:a="http://schemas.openxmlformats.org/drawingml/2006/main">
              <a:ext uri="{FF2B5EF4-FFF2-40B4-BE49-F238E27FC236}">
                <a16:creationId xmlns:a16="http://schemas.microsoft.com/office/drawing/2014/main" id="{CD6FA58B-F03A-491D-B3F7-A0B9DFF0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524250"/>
            <a:ext cx="2762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0">
            <a:noFill/>
          </a:ln>
        </p:spPr>
      </p:sp>
      <p:sp>
        <p:nvSpPr>
          <p:cNvPr id="17" name="text-1 / 换位">
            <a:extLst xmlns:a="http://schemas.openxmlformats.org/drawingml/2006/main">
              <a:ext uri="{FF2B5EF4-FFF2-40B4-BE49-F238E27FC236}">
                <a16:creationId xmlns:a16="http://schemas.microsoft.com/office/drawing/2014/main" id="{EAD8DD94-A754-4AD4-A70F-61EC75A1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1 / 换位</a:t>
            </a:r>
          </a:p>
        </p:txBody>
      </p:sp>
      <p:sp>
        <p:nvSpPr>
          <p:cNvPr id="18" name="text-A进入等待位">
            <a:extLst xmlns:a="http://schemas.openxmlformats.org/drawingml/2006/main">
              <a:ext uri="{FF2B5EF4-FFF2-40B4-BE49-F238E27FC236}">
                <a16:creationId xmlns:a16="http://schemas.microsoft.com/office/drawing/2014/main" id="{A3A379C2-407B-4DEB-BAE3-15D81DB5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55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A进入等待位</a:t>
            </a:r>
          </a:p>
        </p:txBody>
      </p:sp>
      <p:sp>
        <p:nvSpPr>
          <p:cNvPr id="19" name="diagram-node-空">
            <a:extLst xmlns:a="http://schemas.openxmlformats.org/drawingml/2006/main">
              <a:ext uri="{FF2B5EF4-FFF2-40B4-BE49-F238E27FC236}">
                <a16:creationId xmlns:a16="http://schemas.microsoft.com/office/drawing/2014/main" id="{B9F2D455-4CD2-4507-ABAC-B5418953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05175"/>
            <a:ext cx="723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text-空">
            <a:extLst xmlns:a="http://schemas.openxmlformats.org/drawingml/2006/main">
              <a:ext uri="{FF2B5EF4-FFF2-40B4-BE49-F238E27FC236}">
                <a16:creationId xmlns:a16="http://schemas.microsoft.com/office/drawing/2014/main" id="{588A5C11-F1DB-4632-8A33-774F7DD3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81375"/>
            <a:ext cx="533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空</a:t>
            </a:r>
          </a:p>
        </p:txBody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3C202FC5-B90A-4E60-A82F-91E64FC4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05175"/>
            <a:ext cx="7239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8EAA"/>
            </a:solidFill>
          </a:ln>
        </p:spPr>
      </p:sp>
      <p:sp>
        <p:nvSpPr>
          <p:cNvPr id="22" name="diagram-node-B">
            <a:extLst xmlns:a="http://schemas.openxmlformats.org/drawingml/2006/main">
              <a:ext uri="{FF2B5EF4-FFF2-40B4-BE49-F238E27FC236}">
                <a16:creationId xmlns:a16="http://schemas.microsoft.com/office/drawing/2014/main" id="{1C135B5F-86A3-4B76-B2AB-4134E2EC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05175"/>
            <a:ext cx="723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79"/>
          </a:solidFill>
          <a:ln xmlns:a="http://schemas.openxmlformats.org/drawingml/2006/main" w="19050">
            <a:solidFill>
              <a:srgbClr val="4A8D79"/>
            </a:solidFill>
          </a:ln>
        </p:spPr>
      </p:sp>
      <p:sp>
        <p:nvSpPr>
          <p:cNvPr id="23" name="text-B">
            <a:extLst xmlns:a="http://schemas.openxmlformats.org/drawingml/2006/main">
              <a:ext uri="{FF2B5EF4-FFF2-40B4-BE49-F238E27FC236}">
                <a16:creationId xmlns:a16="http://schemas.microsoft.com/office/drawing/2014/main" id="{D242FB07-AE05-4F1B-AA60-DB989F89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533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4" name="diagram-node-A">
            <a:extLst xmlns:a="http://schemas.openxmlformats.org/drawingml/2006/main">
              <a:ext uri="{FF2B5EF4-FFF2-40B4-BE49-F238E27FC236}">
                <a16:creationId xmlns:a16="http://schemas.microsoft.com/office/drawing/2014/main" id="{597C5B7C-1753-4EF1-883C-B6C8F8FC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05175"/>
            <a:ext cx="723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25" name="text-A">
            <a:extLst xmlns:a="http://schemas.openxmlformats.org/drawingml/2006/main">
              <a:ext uri="{FF2B5EF4-FFF2-40B4-BE49-F238E27FC236}">
                <a16:creationId xmlns:a16="http://schemas.microsoft.com/office/drawing/2014/main" id="{335EEEF9-8F21-4D98-87AC-5B2E01CE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81375"/>
            <a:ext cx="533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6" name="text-位置1    位置2    ">
            <a:extLst xmlns:a="http://schemas.openxmlformats.org/drawingml/2006/main">
              <a:ext uri="{FF2B5EF4-FFF2-40B4-BE49-F238E27FC236}">
                <a16:creationId xmlns:a16="http://schemas.microsoft.com/office/drawing/2014/main" id="{EA2BD4B6-DAA6-47C3-90DA-C4E3277A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6720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位置1    位置2    等待位</a:t>
            </a:r>
          </a:p>
        </p:txBody>
      </p:sp>
      <p:sp>
        <p:nvSpPr>
          <p:cNvPr id="27" name="direction">
            <a:extLst xmlns:a="http://schemas.openxmlformats.org/drawingml/2006/main">
              <a:ext uri="{FF2B5EF4-FFF2-40B4-BE49-F238E27FC236}">
                <a16:creationId xmlns:a16="http://schemas.microsoft.com/office/drawing/2014/main" id="{D0DAD989-7705-4913-87DD-7B88B8E2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524250"/>
            <a:ext cx="2762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0">
            <a:noFill/>
          </a:ln>
        </p:spPr>
      </p:sp>
      <p:sp>
        <p:nvSpPr>
          <p:cNvPr id="28" name="text-2 / 换位">
            <a:extLst xmlns:a="http://schemas.openxmlformats.org/drawingml/2006/main">
              <a:ext uri="{FF2B5EF4-FFF2-40B4-BE49-F238E27FC236}">
                <a16:creationId xmlns:a16="http://schemas.microsoft.com/office/drawing/2014/main" id="{54957BA2-9B18-4717-84D7-4A213F9E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2 / 换位</a:t>
            </a:r>
          </a:p>
        </p:txBody>
      </p:sp>
      <p:sp>
        <p:nvSpPr>
          <p:cNvPr id="29" name="text-B移入目标位">
            <a:extLst xmlns:a="http://schemas.openxmlformats.org/drawingml/2006/main">
              <a:ext uri="{FF2B5EF4-FFF2-40B4-BE49-F238E27FC236}">
                <a16:creationId xmlns:a16="http://schemas.microsoft.com/office/drawing/2014/main" id="{C9753CD3-4EB5-491B-B8A5-5585EC48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55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B移入目标位</a:t>
            </a:r>
          </a:p>
        </p:txBody>
      </p:sp>
      <p:sp>
        <p:nvSpPr>
          <p:cNvPr id="30" name="diagram-node-B">
            <a:extLst xmlns:a="http://schemas.openxmlformats.org/drawingml/2006/main">
              <a:ext uri="{FF2B5EF4-FFF2-40B4-BE49-F238E27FC236}">
                <a16:creationId xmlns:a16="http://schemas.microsoft.com/office/drawing/2014/main" id="{2A109BAE-C0A0-4882-B6A8-1D628F48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05175"/>
            <a:ext cx="723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79"/>
          </a:solidFill>
          <a:ln xmlns:a="http://schemas.openxmlformats.org/drawingml/2006/main" w="19050">
            <a:solidFill>
              <a:srgbClr val="4A8D79"/>
            </a:solidFill>
          </a:ln>
        </p:spPr>
      </p:sp>
      <p:sp>
        <p:nvSpPr>
          <p:cNvPr id="31" name="text-B">
            <a:extLst xmlns:a="http://schemas.openxmlformats.org/drawingml/2006/main">
              <a:ext uri="{FF2B5EF4-FFF2-40B4-BE49-F238E27FC236}">
                <a16:creationId xmlns:a16="http://schemas.microsoft.com/office/drawing/2014/main" id="{7035B0F6-FC0B-4830-A26E-85882096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81375"/>
            <a:ext cx="533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32" name="diagram-node-空">
            <a:extLst xmlns:a="http://schemas.openxmlformats.org/drawingml/2006/main">
              <a:ext uri="{FF2B5EF4-FFF2-40B4-BE49-F238E27FC236}">
                <a16:creationId xmlns:a16="http://schemas.microsoft.com/office/drawing/2014/main" id="{FFBDA735-6E2B-4012-ADFC-75C2A9DA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05175"/>
            <a:ext cx="723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" name="text-空">
            <a:extLst xmlns:a="http://schemas.openxmlformats.org/drawingml/2006/main">
              <a:ext uri="{FF2B5EF4-FFF2-40B4-BE49-F238E27FC236}">
                <a16:creationId xmlns:a16="http://schemas.microsoft.com/office/drawing/2014/main" id="{72143C10-FAA1-4027-B92F-BAC1F671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81375"/>
            <a:ext cx="533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空</a:t>
            </a:r>
          </a:p>
        </p:txBody>
      </p:sp>
      <p:sp>
        <p:nvSpPr>
          <p:cNvPr id="34" name="shape">
            <a:extLst xmlns:a="http://schemas.openxmlformats.org/drawingml/2006/main">
              <a:ext uri="{FF2B5EF4-FFF2-40B4-BE49-F238E27FC236}">
                <a16:creationId xmlns:a16="http://schemas.microsoft.com/office/drawing/2014/main" id="{B6C017A2-FCB5-4DFF-AFA2-F9A584CF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05175"/>
            <a:ext cx="7239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8EAA"/>
            </a:solidFill>
          </a:ln>
        </p:spPr>
      </p:sp>
      <p:sp>
        <p:nvSpPr>
          <p:cNvPr id="35" name="diagram-node-A">
            <a:extLst xmlns:a="http://schemas.openxmlformats.org/drawingml/2006/main">
              <a:ext uri="{FF2B5EF4-FFF2-40B4-BE49-F238E27FC236}">
                <a16:creationId xmlns:a16="http://schemas.microsoft.com/office/drawing/2014/main" id="{9430DD3E-72BF-4878-9664-D7DEE7E0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05175"/>
            <a:ext cx="723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36" name="text-A">
            <a:extLst xmlns:a="http://schemas.openxmlformats.org/drawingml/2006/main">
              <a:ext uri="{FF2B5EF4-FFF2-40B4-BE49-F238E27FC236}">
                <a16:creationId xmlns:a16="http://schemas.microsoft.com/office/drawing/2014/main" id="{3AF674F7-2D84-44AC-9847-7FD6B5F3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533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37" name="text-位置1    位置2    ">
            <a:extLst xmlns:a="http://schemas.openxmlformats.org/drawingml/2006/main">
              <a:ext uri="{FF2B5EF4-FFF2-40B4-BE49-F238E27FC236}">
                <a16:creationId xmlns:a16="http://schemas.microsoft.com/office/drawing/2014/main" id="{6D64A1A3-3346-4065-9C04-24784909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6720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位置1    位置2    等待位</a:t>
            </a:r>
          </a:p>
        </p:txBody>
      </p:sp>
      <p:sp>
        <p:nvSpPr>
          <p:cNvPr id="38" name="direction">
            <a:extLst xmlns:a="http://schemas.openxmlformats.org/drawingml/2006/main">
              <a:ext uri="{FF2B5EF4-FFF2-40B4-BE49-F238E27FC236}">
                <a16:creationId xmlns:a16="http://schemas.microsoft.com/office/drawing/2014/main" id="{08BCE2FF-9B40-4C07-847A-B6537793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24250"/>
            <a:ext cx="2762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0">
            <a:noFill/>
          </a:ln>
        </p:spPr>
      </p:sp>
      <p:sp>
        <p:nvSpPr>
          <p:cNvPr id="39" name="text-3 / 换位">
            <a:extLst xmlns:a="http://schemas.openxmlformats.org/drawingml/2006/main">
              <a:ext uri="{FF2B5EF4-FFF2-40B4-BE49-F238E27FC236}">
                <a16:creationId xmlns:a16="http://schemas.microsoft.com/office/drawing/2014/main" id="{2D7AA53D-7C82-4BE6-AF0F-BC5E91B1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336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3 / 换位</a:t>
            </a:r>
          </a:p>
        </p:txBody>
      </p:sp>
      <p:sp>
        <p:nvSpPr>
          <p:cNvPr id="40" name="text-A归位，等待位释放">
            <a:extLst xmlns:a="http://schemas.openxmlformats.org/drawingml/2006/main">
              <a:ext uri="{FF2B5EF4-FFF2-40B4-BE49-F238E27FC236}">
                <a16:creationId xmlns:a16="http://schemas.microsoft.com/office/drawing/2014/main" id="{7BF2AAA3-C96A-4025-9D62-1507ED2E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255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A归位，等待位释放</a:t>
            </a:r>
          </a:p>
        </p:txBody>
      </p:sp>
      <p:sp>
        <p:nvSpPr>
          <p:cNvPr id="41" name="diagram-node-B">
            <a:extLst xmlns:a="http://schemas.openxmlformats.org/drawingml/2006/main">
              <a:ext uri="{FF2B5EF4-FFF2-40B4-BE49-F238E27FC236}">
                <a16:creationId xmlns:a16="http://schemas.microsoft.com/office/drawing/2014/main" id="{71E8FAF4-151F-4DC1-B4F1-B5ABF6FD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723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79"/>
          </a:solidFill>
          <a:ln xmlns:a="http://schemas.openxmlformats.org/drawingml/2006/main" w="19050">
            <a:solidFill>
              <a:srgbClr val="4A8D79"/>
            </a:solidFill>
          </a:ln>
        </p:spPr>
      </p:sp>
      <p:sp>
        <p:nvSpPr>
          <p:cNvPr id="42" name="text-B">
            <a:extLst xmlns:a="http://schemas.openxmlformats.org/drawingml/2006/main">
              <a:ext uri="{FF2B5EF4-FFF2-40B4-BE49-F238E27FC236}">
                <a16:creationId xmlns:a16="http://schemas.microsoft.com/office/drawing/2014/main" id="{20781E2A-1273-4BB5-B4C9-14FA9E61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81375"/>
            <a:ext cx="533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43" name="diagram-node-A">
            <a:extLst xmlns:a="http://schemas.openxmlformats.org/drawingml/2006/main">
              <a:ext uri="{FF2B5EF4-FFF2-40B4-BE49-F238E27FC236}">
                <a16:creationId xmlns:a16="http://schemas.microsoft.com/office/drawing/2014/main" id="{29EDB29A-AE12-4FC3-B58D-5C8BA5BD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05175"/>
            <a:ext cx="723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44" name="text-A">
            <a:extLst xmlns:a="http://schemas.openxmlformats.org/drawingml/2006/main">
              <a:ext uri="{FF2B5EF4-FFF2-40B4-BE49-F238E27FC236}">
                <a16:creationId xmlns:a16="http://schemas.microsoft.com/office/drawing/2014/main" id="{419F4C8B-1403-4503-83D9-06564A2F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81375"/>
            <a:ext cx="533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45" name="diagram-node-空">
            <a:extLst xmlns:a="http://schemas.openxmlformats.org/drawingml/2006/main">
              <a:ext uri="{FF2B5EF4-FFF2-40B4-BE49-F238E27FC236}">
                <a16:creationId xmlns:a16="http://schemas.microsoft.com/office/drawing/2014/main" id="{EF5331E5-F27D-4216-B608-70086875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305175"/>
            <a:ext cx="723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6" name="text-空">
            <a:extLst xmlns:a="http://schemas.openxmlformats.org/drawingml/2006/main">
              <a:ext uri="{FF2B5EF4-FFF2-40B4-BE49-F238E27FC236}">
                <a16:creationId xmlns:a16="http://schemas.microsoft.com/office/drawing/2014/main" id="{80045620-5389-478C-AFFE-3056D1D4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381375"/>
            <a:ext cx="533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空</a:t>
            </a:r>
          </a:p>
        </p:txBody>
      </p:sp>
      <p:sp>
        <p:nvSpPr>
          <p:cNvPr id="47" name="shape">
            <a:extLst xmlns:a="http://schemas.openxmlformats.org/drawingml/2006/main">
              <a:ext uri="{FF2B5EF4-FFF2-40B4-BE49-F238E27FC236}">
                <a16:creationId xmlns:a16="http://schemas.microsoft.com/office/drawing/2014/main" id="{8FD9F330-68DA-473E-AD5F-AC50EB50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305175"/>
            <a:ext cx="7239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8EAA"/>
            </a:solidFill>
          </a:ln>
        </p:spPr>
      </p:sp>
      <p:sp>
        <p:nvSpPr>
          <p:cNvPr id="48" name="text-位置1    位置2    ">
            <a:extLst xmlns:a="http://schemas.openxmlformats.org/drawingml/2006/main">
              <a:ext uri="{FF2B5EF4-FFF2-40B4-BE49-F238E27FC236}">
                <a16:creationId xmlns:a16="http://schemas.microsoft.com/office/drawing/2014/main" id="{0B941BD6-F320-4318-9632-92E9759D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6720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位置1    位置2    等待位</a:t>
            </a:r>
          </a:p>
        </p:txBody>
      </p:sp>
      <p:sp>
        <p:nvSpPr>
          <p:cNvPr id="49" name="text-等待位的作用">
            <a:extLst xmlns:a="http://schemas.openxmlformats.org/drawingml/2006/main">
              <a:ext uri="{FF2B5EF4-FFF2-40B4-BE49-F238E27FC236}">
                <a16:creationId xmlns:a16="http://schemas.microsoft.com/office/drawing/2014/main" id="{13F11F3D-8862-48F6-B130-98EEE132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276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等待位的作用</a:t>
            </a:r>
          </a:p>
        </p:txBody>
      </p:sp>
      <p:sp>
        <p:nvSpPr>
          <p:cNvPr id="50" name="text-给暂时无处落脚的舱室一个中转">
            <a:extLst xmlns:a="http://schemas.openxmlformats.org/drawingml/2006/main">
              <a:ext uri="{FF2B5EF4-FFF2-40B4-BE49-F238E27FC236}">
                <a16:creationId xmlns:a16="http://schemas.microsoft.com/office/drawing/2014/main" id="{6B528A3B-D747-42CC-83B1-6D60E986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53000"/>
            <a:ext cx="8572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给暂时无处落脚的舱室一个中转位置，维持下一次换位的可能性。</a:t>
            </a:r>
          </a:p>
        </p:txBody>
      </p:sp>
      <p:sp>
        <p:nvSpPr>
          <p:cNvPr id="51" name="rule">
            <a:extLst xmlns:a="http://schemas.openxmlformats.org/drawingml/2006/main">
              <a:ext uri="{FF2B5EF4-FFF2-40B4-BE49-F238E27FC236}">
                <a16:creationId xmlns:a16="http://schemas.microsoft.com/office/drawing/2014/main" id="{9BEC7AEA-287C-4E4A-A49A-C714DF44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3EE"/>
            </a:solidFill>
          </a:ln>
        </p:spPr>
      </p:sp>
      <p:sp>
        <p:nvSpPr>
          <p:cNvPr id="52" name="text-可变布局需要周转空间：换位完">
            <a:extLst xmlns:a="http://schemas.openxmlformats.org/drawingml/2006/main">
              <a:ext uri="{FF2B5EF4-FFF2-40B4-BE49-F238E27FC236}">
                <a16:creationId xmlns:a16="http://schemas.microsoft.com/office/drawing/2014/main" id="{1C7D40A2-A02A-4044-834C-F12E36FE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可变布局需要周转空间：换位完成，等待位仍可继续使用</a:t>
            </a:r>
          </a:p>
        </p:txBody>
      </p:sp>
    </p:spTree>
    <p:extLst>
      <p:ext uri="{BB962C8B-B14F-4D97-AF65-F5344CB8AC3E}">
        <p14:creationId xmlns:p14="http://schemas.microsoft.com/office/powerpoint/2010/main" val="6889928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47195598-8870-4999-BBEF-AD51CED8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f37083d844866"/>
          <a:stretch xmlns:a="http://schemas.openxmlformats.org/drawingml/2006/main"/>
        </p:blipFill>
        <p:spPr>
          <a:xfrm xmlns:a="http://schemas.openxmlformats.org/drawingml/2006/main">
            <a:off x="10240370" y="219075"/>
            <a:ext cx="146486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ext-搬运顺序与路线，由空间约束共">
            <a:extLst xmlns:a="http://schemas.openxmlformats.org/drawingml/2006/main">
              <a:ext uri="{FF2B5EF4-FFF2-40B4-BE49-F238E27FC236}">
                <a16:creationId xmlns:a16="http://schemas.microsoft.com/office/drawing/2014/main" id="{BE1201E3-A074-47DB-8FAE-D5D3C049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搬运顺序与路线，由空间约束共同决定</a:t>
            </a:r>
          </a:p>
        </p:txBody>
      </p:sp>
      <p:sp>
        <p:nvSpPr>
          <p:cNvPr id="4" name="text-同一目标布局，需要同时安排目">
            <a:extLst xmlns:a="http://schemas.openxmlformats.org/drawingml/2006/main">
              <a:ext uri="{FF2B5EF4-FFF2-40B4-BE49-F238E27FC236}">
                <a16:creationId xmlns:a16="http://schemas.microsoft.com/office/drawing/2014/main" id="{003CC34F-78C0-4DBF-BC78-DCF9A376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192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同一目标布局，需要同时安排目标位、让位空间与可达路径。</a:t>
            </a:r>
          </a:p>
        </p:txBody>
      </p:sp>
      <p:sp>
        <p:nvSpPr>
          <p:cNvPr id="5" name="text-07">
            <a:extLst xmlns:a="http://schemas.openxmlformats.org/drawingml/2006/main">
              <a:ext uri="{FF2B5EF4-FFF2-40B4-BE49-F238E27FC236}">
                <a16:creationId xmlns:a16="http://schemas.microsoft.com/office/drawing/2014/main" id="{2DB1501D-C4F1-4808-AA2A-2703BE06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cb2e1a2d064c00"/>
          <a:stretch xmlns:a="http://schemas.openxmlformats.org/drawingml/2006/main"/>
        </p:blipFill>
        <p:spPr>
          <a:xfrm xmlns:a="http://schemas.openxmlformats.org/drawingml/2006/main">
            <a:off x="438150" y="2112648"/>
            <a:ext cx="3181350" cy="3289928"/>
          </a:xfrm>
          <a:prstGeom xmlns:a="http://schemas.openxmlformats.org/drawingml/2006/main" prst="rect">
            <a:avLst/>
          </a:prstGeom>
        </p:spPr>
      </p:pic>
      <p:sp>
        <p:nvSpPr>
          <p:cNvPr id="7" name="text-当前软件的五层24舱场景">
            <a:extLst xmlns:a="http://schemas.openxmlformats.org/drawingml/2006/main">
              <a:ext uri="{FF2B5EF4-FFF2-40B4-BE49-F238E27FC236}">
                <a16:creationId xmlns:a16="http://schemas.microsoft.com/office/drawing/2014/main" id="{DD238416-C44D-4767-9BB3-E168D604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438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当前软件的五层24舱场景</a:t>
            </a:r>
          </a:p>
        </p:txBody>
      </p:sp>
      <p:sp>
        <p:nvSpPr>
          <p:cNvPr id="8" name="diagram-node-生成搬运计划">
            <a:extLst xmlns:a="http://schemas.openxmlformats.org/drawingml/2006/main">
              <a:ext uri="{FF2B5EF4-FFF2-40B4-BE49-F238E27FC236}">
                <a16:creationId xmlns:a16="http://schemas.microsoft.com/office/drawing/2014/main" id="{853F41B2-5273-4230-90CA-977619F2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409950"/>
            <a:ext cx="2533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9" name="text-生成搬运计划">
            <a:extLst xmlns:a="http://schemas.openxmlformats.org/drawingml/2006/main">
              <a:ext uri="{FF2B5EF4-FFF2-40B4-BE49-F238E27FC236}">
                <a16:creationId xmlns:a16="http://schemas.microsoft.com/office/drawing/2014/main" id="{36621459-75C4-4121-A391-4418B613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48615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生成搬运计划</a:t>
            </a:r>
          </a:p>
        </p:txBody>
      </p:sp>
      <p:sp>
        <p:nvSpPr>
          <p:cNvPr id="10" name="diagram-node-目标泊位空闲">
            <a:extLst xmlns:a="http://schemas.openxmlformats.org/drawingml/2006/main">
              <a:ext uri="{FF2B5EF4-FFF2-40B4-BE49-F238E27FC236}">
                <a16:creationId xmlns:a16="http://schemas.microsoft.com/office/drawing/2014/main" id="{622E38FE-1301-4E12-9ED7-C426A202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209800"/>
            <a:ext cx="2838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11" name="text-目标泊位空闲">
            <a:extLst xmlns:a="http://schemas.openxmlformats.org/drawingml/2006/main">
              <a:ext uri="{FF2B5EF4-FFF2-40B4-BE49-F238E27FC236}">
                <a16:creationId xmlns:a16="http://schemas.microsoft.com/office/drawing/2014/main" id="{4E456239-E7A2-4336-85D3-692E5079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860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目标泊位空闲</a:t>
            </a:r>
          </a:p>
        </p:txBody>
      </p:sp>
      <p:cxnSp>
        <p:nvCxnSpPr>
          <p:cNvPr id="35" name=""/>
          <p:cNvCxnSpPr>
            <a:stCxn xmlns:a="http://schemas.openxmlformats.org/drawingml/2006/main" id="10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343650" y="276225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2338E"/>
            </a:solidFill>
            <a:tailEnd type="triangle" w="med" len="med"/>
          </a:ln>
        </p:spPr>
      </p:cxnSp>
      <p:sp>
        <p:nvSpPr>
          <p:cNvPr id="13" name="diagram-node-导轨与升降节点可达">
            <a:extLst xmlns:a="http://schemas.openxmlformats.org/drawingml/2006/main">
              <a:ext uri="{FF2B5EF4-FFF2-40B4-BE49-F238E27FC236}">
                <a16:creationId xmlns:a16="http://schemas.microsoft.com/office/drawing/2014/main" id="{8EC118ED-F180-4723-ACAE-6839F0E5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81275"/>
            <a:ext cx="3095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14" name="text-导轨与升降节点可达">
            <a:extLst xmlns:a="http://schemas.openxmlformats.org/drawingml/2006/main">
              <a:ext uri="{FF2B5EF4-FFF2-40B4-BE49-F238E27FC236}">
                <a16:creationId xmlns:a16="http://schemas.microsoft.com/office/drawing/2014/main" id="{8791EC57-9FCC-4EA3-8BB5-03328111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57475"/>
            <a:ext cx="2905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导轨与升降节点可达</a:t>
            </a:r>
          </a:p>
        </p:txBody>
      </p:sp>
      <p:cxnSp>
        <p:nvCxnSpPr>
          <p:cNvPr id="38" name=""/>
          <p:cNvCxnSpPr>
            <a:stCxn xmlns:a="http://schemas.openxmlformats.org/drawingml/2006/main" id="13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610475" y="2881313"/>
            <a:ext cx="1000125" cy="9382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72338E"/>
            </a:solidFill>
            <a:tailEnd type="triangle" w="med" len="med"/>
          </a:ln>
        </p:spPr>
      </p:cxnSp>
      <p:sp>
        <p:nvSpPr>
          <p:cNvPr id="16" name="diagram-node-移动包络通过碰撞检查">
            <a:extLst xmlns:a="http://schemas.openxmlformats.org/drawingml/2006/main">
              <a:ext uri="{FF2B5EF4-FFF2-40B4-BE49-F238E27FC236}">
                <a16:creationId xmlns:a16="http://schemas.microsoft.com/office/drawing/2014/main" id="{68814DF0-C567-4C64-8203-9438D290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14775"/>
            <a:ext cx="3095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17" name="text-移动包络通过碰撞检查">
            <a:extLst xmlns:a="http://schemas.openxmlformats.org/drawingml/2006/main">
              <a:ext uri="{FF2B5EF4-FFF2-40B4-BE49-F238E27FC236}">
                <a16:creationId xmlns:a16="http://schemas.microsoft.com/office/drawing/2014/main" id="{218FF2CE-D85E-4A6C-AC39-8DDD8A42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90975"/>
            <a:ext cx="2905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移动包络通过碰撞检查</a:t>
            </a:r>
          </a:p>
        </p:txBody>
      </p:sp>
      <p:cxnSp>
        <p:nvCxnSpPr>
          <p:cNvPr id="41" name=""/>
          <p:cNvCxnSpPr>
            <a:stCxn xmlns:a="http://schemas.openxmlformats.org/drawingml/2006/main" id="16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7610475" y="3819525"/>
            <a:ext cx="1000125" cy="3952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72338E"/>
            </a:solidFill>
            <a:tailEnd type="triangle" w="med" len="med"/>
          </a:ln>
        </p:spPr>
      </p:cxnSp>
      <p:sp>
        <p:nvSpPr>
          <p:cNvPr id="19" name="diagram-node-封闭节点不参与路线">
            <a:extLst xmlns:a="http://schemas.openxmlformats.org/drawingml/2006/main">
              <a:ext uri="{FF2B5EF4-FFF2-40B4-BE49-F238E27FC236}">
                <a16:creationId xmlns:a16="http://schemas.microsoft.com/office/drawing/2014/main" id="{1F5F9B6D-0DBA-4C55-A111-C94725FC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705350"/>
            <a:ext cx="28384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20" name="text-封闭节点不参与路线">
            <a:extLst xmlns:a="http://schemas.openxmlformats.org/drawingml/2006/main">
              <a:ext uri="{FF2B5EF4-FFF2-40B4-BE49-F238E27FC236}">
                <a16:creationId xmlns:a16="http://schemas.microsoft.com/office/drawing/2014/main" id="{370402EC-C08E-43DA-A5F2-76D4ED87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781550"/>
            <a:ext cx="2647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封闭节点不参与路线</a:t>
            </a:r>
          </a:p>
        </p:txBody>
      </p:sp>
      <p:cxnSp>
        <p:nvCxnSpPr>
          <p:cNvPr id="44" name=""/>
          <p:cNvCxnSpPr>
            <a:stCxn xmlns:a="http://schemas.openxmlformats.org/drawingml/2006/main" id="19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6343650" y="42291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2338E"/>
            </a:solidFill>
            <a:tailEnd type="triangle" w="med" len="med"/>
          </a:ln>
        </p:spPr>
      </p:cxn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91BE8600-10DA-4E3C-9AC7-51F3F4B1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3EE"/>
            </a:solidFill>
          </a:ln>
        </p:spPr>
      </p:sp>
      <p:sp>
        <p:nvSpPr>
          <p:cNvPr id="23" name="text-科研任务示例：封闭L2的C通">
            <a:extLst xmlns:a="http://schemas.openxmlformats.org/drawingml/2006/main">
              <a:ext uri="{FF2B5EF4-FFF2-40B4-BE49-F238E27FC236}">
                <a16:creationId xmlns:a16="http://schemas.microsoft.com/office/drawing/2014/main" id="{B69744B2-427F-4A7B-A909-A4CC7617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科研任务示例：封闭L2的C通道后，改用A/B通道完成相同目标布局</a:t>
            </a:r>
          </a:p>
        </p:txBody>
      </p:sp>
    </p:spTree>
    <p:extLst>
      <p:ext uri="{BB962C8B-B14F-4D97-AF65-F5344CB8AC3E}">
        <p14:creationId xmlns:p14="http://schemas.microsoft.com/office/powerpoint/2010/main" val="18036626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FCC0B604-7662-4791-828A-ED1AB0C6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ee0dfe0d04338"/>
          <a:stretch xmlns:a="http://schemas.openxmlformats.org/drawingml/2006/main"/>
        </p:blipFill>
        <p:spPr>
          <a:xfrm xmlns:a="http://schemas.openxmlformats.org/drawingml/2006/main">
            <a:off x="10240370" y="219075"/>
            <a:ext cx="146486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ext-三间指定舱室，进入二层科研任">
            <a:extLst xmlns:a="http://schemas.openxmlformats.org/drawingml/2006/main">
              <a:ext uri="{FF2B5EF4-FFF2-40B4-BE49-F238E27FC236}">
                <a16:creationId xmlns:a16="http://schemas.microsoft.com/office/drawing/2014/main" id="{ECCFC9A9-BB8A-4403-80C6-D68F30FE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三间指定舱室，进入二层科研任务区</a:t>
            </a:r>
          </a:p>
        </p:txBody>
      </p:sp>
      <p:sp>
        <p:nvSpPr>
          <p:cNvPr id="4" name="text-材料R02、生命R03、物资">
            <a:extLst xmlns:a="http://schemas.openxmlformats.org/drawingml/2006/main">
              <a:ext uri="{FF2B5EF4-FFF2-40B4-BE49-F238E27FC236}">
                <a16:creationId xmlns:a16="http://schemas.microsoft.com/office/drawing/2014/main" id="{86355C23-FB5A-4322-82D5-DD4C1FDA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192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材料R02、生命R03、物资R08，按任务要求调入L2。</a:t>
            </a:r>
          </a:p>
        </p:txBody>
      </p:sp>
      <p:sp>
        <p:nvSpPr>
          <p:cNvPr id="5" name="text-08">
            <a:extLst xmlns:a="http://schemas.openxmlformats.org/drawingml/2006/main">
              <a:ext uri="{FF2B5EF4-FFF2-40B4-BE49-F238E27FC236}">
                <a16:creationId xmlns:a16="http://schemas.microsoft.com/office/drawing/2014/main" id="{1360FB4E-F443-48BF-BB16-1770D1CC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text-任务前 · L1">
            <a:extLst xmlns:a="http://schemas.openxmlformats.org/drawingml/2006/main">
              <a:ext uri="{FF2B5EF4-FFF2-40B4-BE49-F238E27FC236}">
                <a16:creationId xmlns:a16="http://schemas.microsoft.com/office/drawing/2014/main" id="{B60ACB4B-52DC-4315-B9AF-09C8A05E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85975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任务前 · L1</a:t>
            </a:r>
          </a:p>
        </p:txBody>
      </p:sp>
      <p:sp>
        <p:nvSpPr>
          <p:cNvPr id="7" name="room-R01">
            <a:extLst xmlns:a="http://schemas.openxmlformats.org/drawingml/2006/main">
              <a:ext uri="{FF2B5EF4-FFF2-40B4-BE49-F238E27FC236}">
                <a16:creationId xmlns:a16="http://schemas.microsoft.com/office/drawing/2014/main" id="{B444D226-0EA8-4D15-9F61-5428C551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57475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4"/>
          </a:solidFill>
          <a:ln xmlns:a="http://schemas.openxmlformats.org/drawingml/2006/main" w="14288">
            <a:solidFill>
              <a:srgbClr val="CBC3D2"/>
            </a:solidFill>
          </a:ln>
        </p:spPr>
      </p:sp>
      <p:sp>
        <p:nvSpPr>
          <p:cNvPr id="8" name="text-R01">
            <a:extLst xmlns:a="http://schemas.openxmlformats.org/drawingml/2006/main">
              <a:ext uri="{FF2B5EF4-FFF2-40B4-BE49-F238E27FC236}">
                <a16:creationId xmlns:a16="http://schemas.microsoft.com/office/drawing/2014/main" id="{441FE916-9952-48F2-927B-0631388E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676525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R01</a:t>
            </a:r>
          </a:p>
        </p:txBody>
      </p:sp>
      <p:sp>
        <p:nvSpPr>
          <p:cNvPr id="9" name="room-R02">
            <a:extLst xmlns:a="http://schemas.openxmlformats.org/drawingml/2006/main">
              <a:ext uri="{FF2B5EF4-FFF2-40B4-BE49-F238E27FC236}">
                <a16:creationId xmlns:a16="http://schemas.microsoft.com/office/drawing/2014/main" id="{AFF46164-A02D-403F-B047-586596E9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657475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DCC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10" name="text-R02">
            <a:extLst xmlns:a="http://schemas.openxmlformats.org/drawingml/2006/main">
              <a:ext uri="{FF2B5EF4-FFF2-40B4-BE49-F238E27FC236}">
                <a16:creationId xmlns:a16="http://schemas.microsoft.com/office/drawing/2014/main" id="{C7503505-1B8D-473E-8FE7-8051DA7B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76525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R02</a:t>
            </a:r>
          </a:p>
        </p:txBody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000CDF24-6EE6-46C0-9F8B-37E1FAF6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657475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D"/>
          </a:solidFill>
          <a:ln xmlns:a="http://schemas.openxmlformats.org/drawingml/2006/main" w="11430">
            <a:solidFill>
              <a:srgbClr val="C6BFCE"/>
            </a:solidFill>
          </a:ln>
        </p:spPr>
      </p:sp>
      <p:sp>
        <p:nvSpPr>
          <p:cNvPr id="12" name="text-C">
            <a:extLst xmlns:a="http://schemas.openxmlformats.org/drawingml/2006/main">
              <a:ext uri="{FF2B5EF4-FFF2-40B4-BE49-F238E27FC236}">
                <a16:creationId xmlns:a16="http://schemas.microsoft.com/office/drawing/2014/main" id="{4A704B9E-43B7-4945-A50B-7E8D47A6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657475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3" name="room-R03">
            <a:extLst xmlns:a="http://schemas.openxmlformats.org/drawingml/2006/main">
              <a:ext uri="{FF2B5EF4-FFF2-40B4-BE49-F238E27FC236}">
                <a16:creationId xmlns:a16="http://schemas.microsoft.com/office/drawing/2014/main" id="{2C7A7DFB-173C-42DA-BF03-9F8547A9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57475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E85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14" name="text-R03">
            <a:extLst xmlns:a="http://schemas.openxmlformats.org/drawingml/2006/main">
              <a:ext uri="{FF2B5EF4-FFF2-40B4-BE49-F238E27FC236}">
                <a16:creationId xmlns:a16="http://schemas.microsoft.com/office/drawing/2014/main" id="{8A62ADD0-F2A5-44C8-9A1B-74AFAAD3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76525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R03</a:t>
            </a:r>
          </a:p>
        </p:txBody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ACBC6CD1-8E6B-44D8-A990-4AB83203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57475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2338E"/>
            </a:solidFill>
          </a:ln>
        </p:spPr>
      </p:sp>
      <p:sp>
        <p:nvSpPr>
          <p:cNvPr id="16" name="text-空位">
            <a:extLst xmlns:a="http://schemas.openxmlformats.org/drawingml/2006/main">
              <a:ext uri="{FF2B5EF4-FFF2-40B4-BE49-F238E27FC236}">
                <a16:creationId xmlns:a16="http://schemas.microsoft.com/office/drawing/2014/main" id="{26B8F7B2-9999-44D0-A513-0FA33AC5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57475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空位</a:t>
            </a:r>
          </a:p>
        </p:txBody>
      </p:sp>
      <p:sp>
        <p:nvSpPr>
          <p:cNvPr id="17" name="room-R04">
            <a:extLst xmlns:a="http://schemas.openxmlformats.org/drawingml/2006/main">
              <a:ext uri="{FF2B5EF4-FFF2-40B4-BE49-F238E27FC236}">
                <a16:creationId xmlns:a16="http://schemas.microsoft.com/office/drawing/2014/main" id="{8F1E2BC9-C680-4635-9885-E24BB38B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881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4"/>
          </a:solidFill>
          <a:ln xmlns:a="http://schemas.openxmlformats.org/drawingml/2006/main" w="14288">
            <a:solidFill>
              <a:srgbClr val="CBC3D2"/>
            </a:solidFill>
          </a:ln>
        </p:spPr>
      </p:sp>
      <p:sp>
        <p:nvSpPr>
          <p:cNvPr id="18" name="text-R04">
            <a:extLst xmlns:a="http://schemas.openxmlformats.org/drawingml/2006/main">
              <a:ext uri="{FF2B5EF4-FFF2-40B4-BE49-F238E27FC236}">
                <a16:creationId xmlns:a16="http://schemas.microsoft.com/office/drawing/2014/main" id="{701D53D1-BF39-4057-A27F-4E9EF16F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257931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R04</a:t>
            </a:r>
          </a:p>
        </p:txBody>
      </p:sp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B8A12735-1F63-40F6-86A9-008F14B1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38881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D"/>
          </a:solidFill>
          <a:ln xmlns:a="http://schemas.openxmlformats.org/drawingml/2006/main" w="11430">
            <a:solidFill>
              <a:srgbClr val="C6BFCE"/>
            </a:solidFill>
          </a:ln>
        </p:spPr>
      </p:sp>
      <p:sp>
        <p:nvSpPr>
          <p:cNvPr id="20" name="text-A">
            <a:extLst xmlns:a="http://schemas.openxmlformats.org/drawingml/2006/main">
              <a:ext uri="{FF2B5EF4-FFF2-40B4-BE49-F238E27FC236}">
                <a16:creationId xmlns:a16="http://schemas.microsoft.com/office/drawing/2014/main" id="{E314AEDB-7267-4E38-8673-21915CAE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38881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CF56FE7C-1ABA-4B92-90C6-DA84B676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38881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D"/>
          </a:solidFill>
          <a:ln xmlns:a="http://schemas.openxmlformats.org/drawingml/2006/main" w="11430">
            <a:solidFill>
              <a:srgbClr val="C6BFCE"/>
            </a:solidFill>
          </a:ln>
        </p:spPr>
      </p:sp>
      <p:sp>
        <p:nvSpPr>
          <p:cNvPr id="22" name="text-B">
            <a:extLst xmlns:a="http://schemas.openxmlformats.org/drawingml/2006/main">
              <a:ext uri="{FF2B5EF4-FFF2-40B4-BE49-F238E27FC236}">
                <a16:creationId xmlns:a16="http://schemas.microsoft.com/office/drawing/2014/main" id="{622DF024-EB3A-42AE-81CA-C1994D5D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38881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3" name="room-R05">
            <a:extLst xmlns:a="http://schemas.openxmlformats.org/drawingml/2006/main">
              <a:ext uri="{FF2B5EF4-FFF2-40B4-BE49-F238E27FC236}">
                <a16:creationId xmlns:a16="http://schemas.microsoft.com/office/drawing/2014/main" id="{72B286D5-6C32-4731-A500-CBE5F492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238881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4"/>
          </a:solidFill>
          <a:ln xmlns:a="http://schemas.openxmlformats.org/drawingml/2006/main" w="14288">
            <a:solidFill>
              <a:srgbClr val="CBC3D2"/>
            </a:solidFill>
          </a:ln>
        </p:spPr>
      </p:sp>
      <p:sp>
        <p:nvSpPr>
          <p:cNvPr id="24" name="text-R05">
            <a:extLst xmlns:a="http://schemas.openxmlformats.org/drawingml/2006/main">
              <a:ext uri="{FF2B5EF4-FFF2-40B4-BE49-F238E27FC236}">
                <a16:creationId xmlns:a16="http://schemas.microsoft.com/office/drawing/2014/main" id="{C1476D61-78EE-4B46-88BE-0A5D1FDF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257931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R05</a:t>
            </a:r>
          </a:p>
        </p:txBody>
      </p:sp>
      <p:sp>
        <p:nvSpPr>
          <p:cNvPr id="25" name="room-R06">
            <a:extLst xmlns:a="http://schemas.openxmlformats.org/drawingml/2006/main">
              <a:ext uri="{FF2B5EF4-FFF2-40B4-BE49-F238E27FC236}">
                <a16:creationId xmlns:a16="http://schemas.microsoft.com/office/drawing/2014/main" id="{615BC498-1957-47D3-BB4D-94633525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20287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4"/>
          </a:solidFill>
          <a:ln xmlns:a="http://schemas.openxmlformats.org/drawingml/2006/main" w="14288">
            <a:solidFill>
              <a:srgbClr val="CBC3D2"/>
            </a:solidFill>
          </a:ln>
        </p:spPr>
      </p:sp>
      <p:sp>
        <p:nvSpPr>
          <p:cNvPr id="26" name="text-R06">
            <a:extLst xmlns:a="http://schemas.openxmlformats.org/drawingml/2006/main">
              <a:ext uri="{FF2B5EF4-FFF2-40B4-BE49-F238E27FC236}">
                <a16:creationId xmlns:a16="http://schemas.microsoft.com/office/drawing/2014/main" id="{E5745499-7B89-46BA-B6BF-C992C8D4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839337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R06</a:t>
            </a:r>
          </a:p>
        </p:txBody>
      </p:sp>
      <p:sp>
        <p:nvSpPr>
          <p:cNvPr id="27" name="room-R07">
            <a:extLst xmlns:a="http://schemas.openxmlformats.org/drawingml/2006/main">
              <a:ext uri="{FF2B5EF4-FFF2-40B4-BE49-F238E27FC236}">
                <a16:creationId xmlns:a16="http://schemas.microsoft.com/office/drawing/2014/main" id="{17EFBD28-797B-4D8A-ABE6-1CC55EB4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820287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4"/>
          </a:solidFill>
          <a:ln xmlns:a="http://schemas.openxmlformats.org/drawingml/2006/main" w="14288">
            <a:solidFill>
              <a:srgbClr val="CBC3D2"/>
            </a:solidFill>
          </a:ln>
        </p:spPr>
      </p:sp>
      <p:sp>
        <p:nvSpPr>
          <p:cNvPr id="28" name="text-R07">
            <a:extLst xmlns:a="http://schemas.openxmlformats.org/drawingml/2006/main">
              <a:ext uri="{FF2B5EF4-FFF2-40B4-BE49-F238E27FC236}">
                <a16:creationId xmlns:a16="http://schemas.microsoft.com/office/drawing/2014/main" id="{61075B67-25AF-4D56-AAEE-E246BF39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39337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R07</a:t>
            </a:r>
          </a:p>
        </p:txBody>
      </p:sp>
      <p:sp>
        <p:nvSpPr>
          <p:cNvPr id="29" name="shape">
            <a:extLst xmlns:a="http://schemas.openxmlformats.org/drawingml/2006/main">
              <a:ext uri="{FF2B5EF4-FFF2-40B4-BE49-F238E27FC236}">
                <a16:creationId xmlns:a16="http://schemas.microsoft.com/office/drawing/2014/main" id="{C90844A0-C5ED-4F25-8159-47F9592C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820287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2338E"/>
            </a:solidFill>
          </a:ln>
        </p:spPr>
      </p:sp>
      <p:sp>
        <p:nvSpPr>
          <p:cNvPr id="30" name="text-空位">
            <a:extLst xmlns:a="http://schemas.openxmlformats.org/drawingml/2006/main">
              <a:ext uri="{FF2B5EF4-FFF2-40B4-BE49-F238E27FC236}">
                <a16:creationId xmlns:a16="http://schemas.microsoft.com/office/drawing/2014/main" id="{0E24D8BA-22D2-4B32-BC3E-A677993A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820287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空位</a:t>
            </a:r>
          </a:p>
        </p:txBody>
      </p:sp>
      <p:sp>
        <p:nvSpPr>
          <p:cNvPr id="31" name="room-R08">
            <a:extLst xmlns:a="http://schemas.openxmlformats.org/drawingml/2006/main">
              <a:ext uri="{FF2B5EF4-FFF2-40B4-BE49-F238E27FC236}">
                <a16:creationId xmlns:a16="http://schemas.microsoft.com/office/drawing/2014/main" id="{A3241C0B-94AE-4FA1-B575-81813025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20287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16F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32" name="text-R08">
            <a:extLst xmlns:a="http://schemas.openxmlformats.org/drawingml/2006/main">
              <a:ext uri="{FF2B5EF4-FFF2-40B4-BE49-F238E27FC236}">
                <a16:creationId xmlns:a16="http://schemas.microsoft.com/office/drawing/2014/main" id="{2891D31F-C5BB-4333-B7F6-13955D60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39337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R08</a:t>
            </a:r>
          </a:p>
        </p:txBody>
      </p:sp>
      <p:sp>
        <p:nvSpPr>
          <p:cNvPr id="33" name="room-R09">
            <a:extLst xmlns:a="http://schemas.openxmlformats.org/drawingml/2006/main">
              <a:ext uri="{FF2B5EF4-FFF2-40B4-BE49-F238E27FC236}">
                <a16:creationId xmlns:a16="http://schemas.microsoft.com/office/drawing/2014/main" id="{8CF714C3-5F02-4C71-A3A6-4B314308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820287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4"/>
          </a:solidFill>
          <a:ln xmlns:a="http://schemas.openxmlformats.org/drawingml/2006/main" w="14288">
            <a:solidFill>
              <a:srgbClr val="CBC3D2"/>
            </a:solidFill>
          </a:ln>
        </p:spPr>
      </p:sp>
      <p:sp>
        <p:nvSpPr>
          <p:cNvPr id="34" name="text-R09">
            <a:extLst xmlns:a="http://schemas.openxmlformats.org/drawingml/2006/main">
              <a:ext uri="{FF2B5EF4-FFF2-40B4-BE49-F238E27FC236}">
                <a16:creationId xmlns:a16="http://schemas.microsoft.com/office/drawing/2014/main" id="{BBF469F0-2129-4057-9EB7-9F874AAA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839337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R09</a:t>
            </a:r>
          </a:p>
        </p:txBody>
      </p:sp>
      <p:sp>
        <p:nvSpPr>
          <p:cNvPr id="35" name="text-任务后 · L2">
            <a:extLst xmlns:a="http://schemas.openxmlformats.org/drawingml/2006/main">
              <a:ext uri="{FF2B5EF4-FFF2-40B4-BE49-F238E27FC236}">
                <a16:creationId xmlns:a16="http://schemas.microsoft.com/office/drawing/2014/main" id="{A8A5F5A1-DC0A-4FAA-8FB0-33DB0BD0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859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任务后 · L2</a:t>
            </a:r>
          </a:p>
        </p:txBody>
      </p:sp>
      <p:sp>
        <p:nvSpPr>
          <p:cNvPr id="36" name="room-R10">
            <a:extLst xmlns:a="http://schemas.openxmlformats.org/drawingml/2006/main">
              <a:ext uri="{FF2B5EF4-FFF2-40B4-BE49-F238E27FC236}">
                <a16:creationId xmlns:a16="http://schemas.microsoft.com/office/drawing/2014/main" id="{58879241-D559-4CDE-AE58-42421017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57475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4"/>
          </a:solidFill>
          <a:ln xmlns:a="http://schemas.openxmlformats.org/drawingml/2006/main" w="14288">
            <a:solidFill>
              <a:srgbClr val="CBC3D2"/>
            </a:solidFill>
          </a:ln>
        </p:spPr>
      </p:sp>
      <p:sp>
        <p:nvSpPr>
          <p:cNvPr id="37" name="text-R10">
            <a:extLst xmlns:a="http://schemas.openxmlformats.org/drawingml/2006/main">
              <a:ext uri="{FF2B5EF4-FFF2-40B4-BE49-F238E27FC236}">
                <a16:creationId xmlns:a16="http://schemas.microsoft.com/office/drawing/2014/main" id="{CB3F02CB-D388-44A0-B455-BEBF16CD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76525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R10</a:t>
            </a:r>
          </a:p>
        </p:txBody>
      </p:sp>
      <p:sp>
        <p:nvSpPr>
          <p:cNvPr id="38" name="room-R11">
            <a:extLst xmlns:a="http://schemas.openxmlformats.org/drawingml/2006/main">
              <a:ext uri="{FF2B5EF4-FFF2-40B4-BE49-F238E27FC236}">
                <a16:creationId xmlns:a16="http://schemas.microsoft.com/office/drawing/2014/main" id="{07303294-1BD8-455A-A856-B3A30EF0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57475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4"/>
          </a:solidFill>
          <a:ln xmlns:a="http://schemas.openxmlformats.org/drawingml/2006/main" w="14288">
            <a:solidFill>
              <a:srgbClr val="CBC3D2"/>
            </a:solidFill>
          </a:ln>
        </p:spPr>
      </p:sp>
      <p:sp>
        <p:nvSpPr>
          <p:cNvPr id="39" name="text-R11">
            <a:extLst xmlns:a="http://schemas.openxmlformats.org/drawingml/2006/main">
              <a:ext uri="{FF2B5EF4-FFF2-40B4-BE49-F238E27FC236}">
                <a16:creationId xmlns:a16="http://schemas.microsoft.com/office/drawing/2014/main" id="{D8449899-B597-4253-884C-0469635D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76525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R11</a:t>
            </a:r>
          </a:p>
        </p:txBody>
      </p:sp>
      <p:sp>
        <p:nvSpPr>
          <p:cNvPr id="40" name="shape">
            <a:extLst xmlns:a="http://schemas.openxmlformats.org/drawingml/2006/main">
              <a:ext uri="{FF2B5EF4-FFF2-40B4-BE49-F238E27FC236}">
                <a16:creationId xmlns:a16="http://schemas.microsoft.com/office/drawing/2014/main" id="{3B74131E-471A-40B7-B240-9CAA5790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57475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D"/>
          </a:solidFill>
          <a:ln xmlns:a="http://schemas.openxmlformats.org/drawingml/2006/main" w="11430">
            <a:solidFill>
              <a:srgbClr val="C6BFCE"/>
            </a:solidFill>
          </a:ln>
        </p:spPr>
      </p:sp>
      <p:sp>
        <p:nvSpPr>
          <p:cNvPr id="41" name="text-C">
            <a:extLst xmlns:a="http://schemas.openxmlformats.org/drawingml/2006/main">
              <a:ext uri="{FF2B5EF4-FFF2-40B4-BE49-F238E27FC236}">
                <a16:creationId xmlns:a16="http://schemas.microsoft.com/office/drawing/2014/main" id="{5201E736-DA26-4626-A4A1-D3454FBF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57475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42" name="room-R03">
            <a:extLst xmlns:a="http://schemas.openxmlformats.org/drawingml/2006/main">
              <a:ext uri="{FF2B5EF4-FFF2-40B4-BE49-F238E27FC236}">
                <a16:creationId xmlns:a16="http://schemas.microsoft.com/office/drawing/2014/main" id="{51F4863F-4A7B-458B-B39F-993E8880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57475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E85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43" name="text-R03">
            <a:extLst xmlns:a="http://schemas.openxmlformats.org/drawingml/2006/main">
              <a:ext uri="{FF2B5EF4-FFF2-40B4-BE49-F238E27FC236}">
                <a16:creationId xmlns:a16="http://schemas.microsoft.com/office/drawing/2014/main" id="{33269161-FBAC-4F51-8B57-53F44718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76525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R03</a:t>
            </a:r>
          </a:p>
        </p:txBody>
      </p:sp>
      <p:sp>
        <p:nvSpPr>
          <p:cNvPr id="44" name="room-R12">
            <a:extLst xmlns:a="http://schemas.openxmlformats.org/drawingml/2006/main">
              <a:ext uri="{FF2B5EF4-FFF2-40B4-BE49-F238E27FC236}">
                <a16:creationId xmlns:a16="http://schemas.microsoft.com/office/drawing/2014/main" id="{94B84B68-25C0-434B-9D68-3EF7927E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38881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4"/>
          </a:solidFill>
          <a:ln xmlns:a="http://schemas.openxmlformats.org/drawingml/2006/main" w="14288">
            <a:solidFill>
              <a:srgbClr val="CBC3D2"/>
            </a:solidFill>
          </a:ln>
        </p:spPr>
      </p:sp>
      <p:sp>
        <p:nvSpPr>
          <p:cNvPr id="45" name="text-R12">
            <a:extLst xmlns:a="http://schemas.openxmlformats.org/drawingml/2006/main">
              <a:ext uri="{FF2B5EF4-FFF2-40B4-BE49-F238E27FC236}">
                <a16:creationId xmlns:a16="http://schemas.microsoft.com/office/drawing/2014/main" id="{F5E4356D-9E64-4A99-9D1B-CFB6F10C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7931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R12</a:t>
            </a:r>
          </a:p>
        </p:txBody>
      </p:sp>
      <p:sp>
        <p:nvSpPr>
          <p:cNvPr id="46" name="shape">
            <a:extLst xmlns:a="http://schemas.openxmlformats.org/drawingml/2006/main">
              <a:ext uri="{FF2B5EF4-FFF2-40B4-BE49-F238E27FC236}">
                <a16:creationId xmlns:a16="http://schemas.microsoft.com/office/drawing/2014/main" id="{9AAE4830-4A03-4724-AAFD-51025F37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38881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D"/>
          </a:solidFill>
          <a:ln xmlns:a="http://schemas.openxmlformats.org/drawingml/2006/main" w="11430">
            <a:solidFill>
              <a:srgbClr val="C6BFCE"/>
            </a:solidFill>
          </a:ln>
        </p:spPr>
      </p:sp>
      <p:sp>
        <p:nvSpPr>
          <p:cNvPr id="47" name="text-A">
            <a:extLst xmlns:a="http://schemas.openxmlformats.org/drawingml/2006/main">
              <a:ext uri="{FF2B5EF4-FFF2-40B4-BE49-F238E27FC236}">
                <a16:creationId xmlns:a16="http://schemas.microsoft.com/office/drawing/2014/main" id="{A8FBB84D-A0D7-41BC-95E5-70A6F3B5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38881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48" name="shape">
            <a:extLst xmlns:a="http://schemas.openxmlformats.org/drawingml/2006/main">
              <a:ext uri="{FF2B5EF4-FFF2-40B4-BE49-F238E27FC236}">
                <a16:creationId xmlns:a16="http://schemas.microsoft.com/office/drawing/2014/main" id="{2B507377-3307-401D-AF09-719B4F07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38881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D"/>
          </a:solidFill>
          <a:ln xmlns:a="http://schemas.openxmlformats.org/drawingml/2006/main" w="11430">
            <a:solidFill>
              <a:srgbClr val="C6BFCE"/>
            </a:solidFill>
          </a:ln>
        </p:spPr>
      </p:sp>
      <p:sp>
        <p:nvSpPr>
          <p:cNvPr id="49" name="text-B">
            <a:extLst xmlns:a="http://schemas.openxmlformats.org/drawingml/2006/main">
              <a:ext uri="{FF2B5EF4-FFF2-40B4-BE49-F238E27FC236}">
                <a16:creationId xmlns:a16="http://schemas.microsoft.com/office/drawing/2014/main" id="{DBADD768-3160-4977-86E0-2FCAD15C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38881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0" name="room-R02">
            <a:extLst xmlns:a="http://schemas.openxmlformats.org/drawingml/2006/main">
              <a:ext uri="{FF2B5EF4-FFF2-40B4-BE49-F238E27FC236}">
                <a16:creationId xmlns:a16="http://schemas.microsoft.com/office/drawing/2014/main" id="{5A5B8DDF-642C-408B-ADBA-E7FC3E85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20287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DCC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51" name="text-R02">
            <a:extLst xmlns:a="http://schemas.openxmlformats.org/drawingml/2006/main">
              <a:ext uri="{FF2B5EF4-FFF2-40B4-BE49-F238E27FC236}">
                <a16:creationId xmlns:a16="http://schemas.microsoft.com/office/drawing/2014/main" id="{9A28DE54-3352-4D22-BA07-6240A4AD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39337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R02</a:t>
            </a:r>
          </a:p>
        </p:txBody>
      </p:sp>
      <p:sp>
        <p:nvSpPr>
          <p:cNvPr id="52" name="shape">
            <a:extLst xmlns:a="http://schemas.openxmlformats.org/drawingml/2006/main">
              <a:ext uri="{FF2B5EF4-FFF2-40B4-BE49-F238E27FC236}">
                <a16:creationId xmlns:a16="http://schemas.microsoft.com/office/drawing/2014/main" id="{CEB2B627-95D7-4732-8A99-5B43D5FB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0287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2338E"/>
            </a:solidFill>
          </a:ln>
        </p:spPr>
      </p:sp>
      <p:sp>
        <p:nvSpPr>
          <p:cNvPr id="53" name="text-空位">
            <a:extLst xmlns:a="http://schemas.openxmlformats.org/drawingml/2006/main">
              <a:ext uri="{FF2B5EF4-FFF2-40B4-BE49-F238E27FC236}">
                <a16:creationId xmlns:a16="http://schemas.microsoft.com/office/drawing/2014/main" id="{BC6CF4CA-6E72-40BE-BE53-31784AE3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0287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空位</a:t>
            </a:r>
          </a:p>
        </p:txBody>
      </p:sp>
      <p:sp>
        <p:nvSpPr>
          <p:cNvPr id="54" name="room-R14">
            <a:extLst xmlns:a="http://schemas.openxmlformats.org/drawingml/2006/main">
              <a:ext uri="{FF2B5EF4-FFF2-40B4-BE49-F238E27FC236}">
                <a16:creationId xmlns:a16="http://schemas.microsoft.com/office/drawing/2014/main" id="{8B584545-40BA-4B4A-838D-8DCD7EC8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0287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4"/>
          </a:solidFill>
          <a:ln xmlns:a="http://schemas.openxmlformats.org/drawingml/2006/main" w="14288">
            <a:solidFill>
              <a:srgbClr val="CBC3D2"/>
            </a:solidFill>
          </a:ln>
        </p:spPr>
      </p:sp>
      <p:sp>
        <p:nvSpPr>
          <p:cNvPr id="55" name="text-R14">
            <a:extLst xmlns:a="http://schemas.openxmlformats.org/drawingml/2006/main">
              <a:ext uri="{FF2B5EF4-FFF2-40B4-BE49-F238E27FC236}">
                <a16:creationId xmlns:a16="http://schemas.microsoft.com/office/drawing/2014/main" id="{2E0095F7-B4E0-41F3-8B1D-159F5FBD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39337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R14</a:t>
            </a:r>
          </a:p>
        </p:txBody>
      </p:sp>
      <p:sp>
        <p:nvSpPr>
          <p:cNvPr id="56" name="room-R08">
            <a:extLst xmlns:a="http://schemas.openxmlformats.org/drawingml/2006/main">
              <a:ext uri="{FF2B5EF4-FFF2-40B4-BE49-F238E27FC236}">
                <a16:creationId xmlns:a16="http://schemas.microsoft.com/office/drawing/2014/main" id="{25D0C89C-8574-424F-85C0-159EB3F4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20287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16F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57" name="text-R08">
            <a:extLst xmlns:a="http://schemas.openxmlformats.org/drawingml/2006/main">
              <a:ext uri="{FF2B5EF4-FFF2-40B4-BE49-F238E27FC236}">
                <a16:creationId xmlns:a16="http://schemas.microsoft.com/office/drawing/2014/main" id="{8F23C01B-48DD-4E8B-8455-A89D3ECD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39337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R08</a:t>
            </a:r>
          </a:p>
        </p:txBody>
      </p:sp>
      <p:sp>
        <p:nvSpPr>
          <p:cNvPr id="58" name="direction">
            <a:extLst xmlns:a="http://schemas.openxmlformats.org/drawingml/2006/main">
              <a:ext uri="{FF2B5EF4-FFF2-40B4-BE49-F238E27FC236}">
                <a16:creationId xmlns:a16="http://schemas.microsoft.com/office/drawing/2014/main" id="{908138CE-038A-440B-AD1F-F420ECBA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333750"/>
            <a:ext cx="809625" cy="3524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0">
            <a:noFill/>
          </a:ln>
        </p:spPr>
      </p:sp>
      <p:sp>
        <p:nvSpPr>
          <p:cNvPr id="59" name="text-指定三舱在二层的数量">
            <a:extLst xmlns:a="http://schemas.openxmlformats.org/drawingml/2006/main">
              <a:ext uri="{FF2B5EF4-FFF2-40B4-BE49-F238E27FC236}">
                <a16:creationId xmlns:a16="http://schemas.microsoft.com/office/drawing/2014/main" id="{CAE60851-49FB-4383-A244-9400B23D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398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指定三舱在二层的数量</a:t>
            </a:r>
          </a:p>
        </p:txBody>
      </p:sp>
      <p:sp>
        <p:nvSpPr>
          <p:cNvPr id="60" name="text-0">
            <a:extLst xmlns:a="http://schemas.openxmlformats.org/drawingml/2006/main">
              <a:ext uri="{FF2B5EF4-FFF2-40B4-BE49-F238E27FC236}">
                <a16:creationId xmlns:a16="http://schemas.microsoft.com/office/drawing/2014/main" id="{4EE546AF-15EB-4DCA-88AA-831B0680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619625"/>
            <a:ext cx="8286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1" name="direction">
            <a:extLst xmlns:a="http://schemas.openxmlformats.org/drawingml/2006/main">
              <a:ext uri="{FF2B5EF4-FFF2-40B4-BE49-F238E27FC236}">
                <a16:creationId xmlns:a16="http://schemas.microsoft.com/office/drawing/2014/main" id="{7D3D0D94-56D3-4269-996C-950BF725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857750"/>
            <a:ext cx="6000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0">
            <a:noFill/>
          </a:ln>
        </p:spPr>
      </p:sp>
      <p:sp>
        <p:nvSpPr>
          <p:cNvPr id="62" name="text-3">
            <a:extLst xmlns:a="http://schemas.openxmlformats.org/drawingml/2006/main">
              <a:ext uri="{FF2B5EF4-FFF2-40B4-BE49-F238E27FC236}">
                <a16:creationId xmlns:a16="http://schemas.microsoft.com/office/drawing/2014/main" id="{FFC60137-9839-41B1-B8C6-B861C639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619625"/>
            <a:ext cx="83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3" name="text-6次搬运完成目标&#10;升降节点恢">
            <a:extLst xmlns:a="http://schemas.openxmlformats.org/drawingml/2006/main">
              <a:ext uri="{FF2B5EF4-FFF2-40B4-BE49-F238E27FC236}">
                <a16:creationId xmlns:a16="http://schemas.microsoft.com/office/drawing/2014/main" id="{0F857119-77B4-44C2-AD8E-31126621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67250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6次搬运完成目标</a:t>
            </a:r>
          </a:p>
          <a:p xmlns:a="http://schemas.openxmlformats.org/drawingml/2006/main">
            <a:pPr algn="l">
              <a:def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升降节点恢复空闲</a:t>
            </a:r>
          </a:p>
        </p:txBody>
      </p:sp>
      <p:sp>
        <p:nvSpPr>
          <p:cNvPr id="64" name="text-着色为目标舱，灰色为其他舱；">
            <a:extLst xmlns:a="http://schemas.openxmlformats.org/drawingml/2006/main">
              <a:ext uri="{FF2B5EF4-FFF2-40B4-BE49-F238E27FC236}">
                <a16:creationId xmlns:a16="http://schemas.microsoft.com/office/drawing/2014/main" id="{82FC6F87-6844-4AB3-8051-DE0E56E3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00675"/>
            <a:ext cx="10925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着色为目标舱，灰色为其他舱；A/B/C为升降节点</a:t>
            </a:r>
          </a:p>
        </p:txBody>
      </p:sp>
      <p:sp>
        <p:nvSpPr>
          <p:cNvPr id="65" name="rule">
            <a:extLst xmlns:a="http://schemas.openxmlformats.org/drawingml/2006/main">
              <a:ext uri="{FF2B5EF4-FFF2-40B4-BE49-F238E27FC236}">
                <a16:creationId xmlns:a16="http://schemas.microsoft.com/office/drawing/2014/main" id="{2E252279-84F2-4FAF-A2CB-0217A2EF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3EE"/>
            </a:solidFill>
          </a:ln>
        </p:spPr>
      </p:sp>
      <p:sp>
        <p:nvSpPr>
          <p:cNvPr id="66" name="text-把已有舱室迁入指定任务区，让">
            <a:extLst xmlns:a="http://schemas.openxmlformats.org/drawingml/2006/main">
              <a:ext uri="{FF2B5EF4-FFF2-40B4-BE49-F238E27FC236}">
                <a16:creationId xmlns:a16="http://schemas.microsoft.com/office/drawing/2014/main" id="{0C364E1F-B938-4AEE-A8EA-62273887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把已有舱室迁入指定任务区，让空间配置响应新的工作安排</a:t>
            </a:r>
          </a:p>
        </p:txBody>
      </p:sp>
    </p:spTree>
    <p:extLst>
      <p:ext uri="{BB962C8B-B14F-4D97-AF65-F5344CB8AC3E}">
        <p14:creationId xmlns:p14="http://schemas.microsoft.com/office/powerpoint/2010/main" val="5981979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C44087F6-3686-4304-AB7E-3705E0F2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e83ee6b1645ce"/>
          <a:stretch xmlns:a="http://schemas.openxmlformats.org/drawingml/2006/main"/>
        </p:blipFill>
        <p:spPr>
          <a:xfrm xmlns:a="http://schemas.openxmlformats.org/drawingml/2006/main">
            <a:off x="10240370" y="219075"/>
            <a:ext cx="146486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ext-全站24舱不变，二层入驻6舱">
            <a:extLst xmlns:a="http://schemas.openxmlformats.org/drawingml/2006/main">
              <a:ext uri="{FF2B5EF4-FFF2-40B4-BE49-F238E27FC236}">
                <a16:creationId xmlns:a16="http://schemas.microsoft.com/office/drawing/2014/main" id="{F01E9FE3-9CD4-457E-BDDF-253C6F33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全站24舱不变，二层入驻6舱变8舱</a:t>
            </a:r>
          </a:p>
        </p:txBody>
      </p:sp>
      <p:sp>
        <p:nvSpPr>
          <p:cNvPr id="4" name="text-启用二层两处预留泊位，让既有">
            <a:extLst xmlns:a="http://schemas.openxmlformats.org/drawingml/2006/main">
              <a:ext uri="{FF2B5EF4-FFF2-40B4-BE49-F238E27FC236}">
                <a16:creationId xmlns:a16="http://schemas.microsoft.com/office/drawing/2014/main" id="{57CB64C4-FC0A-4BDC-BCD1-6180A959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192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启用二层两处预留泊位，让既有模块承接更多二层任务。</a:t>
            </a:r>
          </a:p>
        </p:txBody>
      </p:sp>
      <p:sp>
        <p:nvSpPr>
          <p:cNvPr id="5" name="text-09">
            <a:extLst xmlns:a="http://schemas.openxmlformats.org/drawingml/2006/main">
              <a:ext uri="{FF2B5EF4-FFF2-40B4-BE49-F238E27FC236}">
                <a16:creationId xmlns:a16="http://schemas.microsoft.com/office/drawing/2014/main" id="{3FDD4AE7-D653-45E9-AA36-CD2F3A5B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text-二层初态 · 6舱">
            <a:extLst xmlns:a="http://schemas.openxmlformats.org/drawingml/2006/main">
              <a:ext uri="{FF2B5EF4-FFF2-40B4-BE49-F238E27FC236}">
                <a16:creationId xmlns:a16="http://schemas.microsoft.com/office/drawing/2014/main" id="{1F8CFE67-1F79-4803-8845-57EC2381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8597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二层初态 · 6舱</a:t>
            </a:r>
          </a:p>
        </p:txBody>
      </p:sp>
      <p:sp>
        <p:nvSpPr>
          <p:cNvPr id="7" name="room-R10">
            <a:extLst xmlns:a="http://schemas.openxmlformats.org/drawingml/2006/main">
              <a:ext uri="{FF2B5EF4-FFF2-40B4-BE49-F238E27FC236}">
                <a16:creationId xmlns:a16="http://schemas.microsoft.com/office/drawing/2014/main" id="{2A529F47-59EF-4A68-9B1E-4B85A6D2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95575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48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8" name="text-R10">
            <a:extLst xmlns:a="http://schemas.openxmlformats.org/drawingml/2006/main">
              <a:ext uri="{FF2B5EF4-FFF2-40B4-BE49-F238E27FC236}">
                <a16:creationId xmlns:a16="http://schemas.microsoft.com/office/drawing/2014/main" id="{0C3573E1-BF58-4AF0-BD11-111CC273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14625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R10</a:t>
            </a:r>
          </a:p>
        </p:txBody>
      </p:sp>
      <p:sp>
        <p:nvSpPr>
          <p:cNvPr id="9" name="room-R11">
            <a:extLst xmlns:a="http://schemas.openxmlformats.org/drawingml/2006/main">
              <a:ext uri="{FF2B5EF4-FFF2-40B4-BE49-F238E27FC236}">
                <a16:creationId xmlns:a16="http://schemas.microsoft.com/office/drawing/2014/main" id="{E7E34B1A-AF18-45B9-A25A-FCAB4A61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695575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48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10" name="text-R11">
            <a:extLst xmlns:a="http://schemas.openxmlformats.org/drawingml/2006/main">
              <a:ext uri="{FF2B5EF4-FFF2-40B4-BE49-F238E27FC236}">
                <a16:creationId xmlns:a16="http://schemas.microsoft.com/office/drawing/2014/main" id="{EBCE4900-DC26-4B3C-B765-4E56379A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14625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R11</a:t>
            </a:r>
          </a:p>
        </p:txBody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C9F1D16B-BAB1-4186-8FAB-78189BC8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695575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D"/>
          </a:solidFill>
          <a:ln xmlns:a="http://schemas.openxmlformats.org/drawingml/2006/main" w="11430">
            <a:solidFill>
              <a:srgbClr val="C6BFCE"/>
            </a:solidFill>
          </a:ln>
        </p:spPr>
      </p:sp>
      <p:sp>
        <p:nvSpPr>
          <p:cNvPr id="12" name="text-C">
            <a:extLst xmlns:a="http://schemas.openxmlformats.org/drawingml/2006/main">
              <a:ext uri="{FF2B5EF4-FFF2-40B4-BE49-F238E27FC236}">
                <a16:creationId xmlns:a16="http://schemas.microsoft.com/office/drawing/2014/main" id="{479DCCAB-289F-4114-AA6A-2C69DA0B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695575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7D239F6C-9800-4DEF-B75F-95638604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95575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2338E"/>
            </a:solidFill>
          </a:ln>
        </p:spPr>
      </p:sp>
      <p:sp>
        <p:nvSpPr>
          <p:cNvPr id="14" name="text-空位">
            <a:extLst xmlns:a="http://schemas.openxmlformats.org/drawingml/2006/main">
              <a:ext uri="{FF2B5EF4-FFF2-40B4-BE49-F238E27FC236}">
                <a16:creationId xmlns:a16="http://schemas.microsoft.com/office/drawing/2014/main" id="{B7A05455-FB90-472A-B546-57E89E83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95575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空位</a:t>
            </a:r>
          </a:p>
        </p:txBody>
      </p:sp>
      <p:sp>
        <p:nvSpPr>
          <p:cNvPr id="15" name="room-R12">
            <a:extLst xmlns:a="http://schemas.openxmlformats.org/drawingml/2006/main">
              <a:ext uri="{FF2B5EF4-FFF2-40B4-BE49-F238E27FC236}">
                <a16:creationId xmlns:a16="http://schemas.microsoft.com/office/drawing/2014/main" id="{E4515944-1890-4E2E-92E4-79D98A7B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76981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CC7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16" name="text-R12">
            <a:extLst xmlns:a="http://schemas.openxmlformats.org/drawingml/2006/main">
              <a:ext uri="{FF2B5EF4-FFF2-40B4-BE49-F238E27FC236}">
                <a16:creationId xmlns:a16="http://schemas.microsoft.com/office/drawing/2014/main" id="{98677E98-DCC3-4451-BB1C-11E68F7B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296031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R12</a:t>
            </a:r>
          </a:p>
        </p:txBody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0D8A388C-BA0C-404A-BBF6-9212244F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76981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D"/>
          </a:solidFill>
          <a:ln xmlns:a="http://schemas.openxmlformats.org/drawingml/2006/main" w="11430">
            <a:solidFill>
              <a:srgbClr val="C6BFCE"/>
            </a:solidFill>
          </a:ln>
        </p:spPr>
      </p:sp>
      <p:sp>
        <p:nvSpPr>
          <p:cNvPr id="18" name="text-A">
            <a:extLst xmlns:a="http://schemas.openxmlformats.org/drawingml/2006/main">
              <a:ext uri="{FF2B5EF4-FFF2-40B4-BE49-F238E27FC236}">
                <a16:creationId xmlns:a16="http://schemas.microsoft.com/office/drawing/2014/main" id="{2B661B40-0827-4DB7-AA40-0DF20E92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76981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E79D06B5-0F12-4648-9A9B-98B34D05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76981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D"/>
          </a:solidFill>
          <a:ln xmlns:a="http://schemas.openxmlformats.org/drawingml/2006/main" w="11430">
            <a:solidFill>
              <a:srgbClr val="C6BFCE"/>
            </a:solidFill>
          </a:ln>
        </p:spPr>
      </p:sp>
      <p:sp>
        <p:nvSpPr>
          <p:cNvPr id="20" name="text-B">
            <a:extLst xmlns:a="http://schemas.openxmlformats.org/drawingml/2006/main">
              <a:ext uri="{FF2B5EF4-FFF2-40B4-BE49-F238E27FC236}">
                <a16:creationId xmlns:a16="http://schemas.microsoft.com/office/drawing/2014/main" id="{550FB3A9-9170-481F-9038-B3C82BBA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76981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03981769-4F7B-444B-AF29-15BC9553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8387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2338E"/>
            </a:solidFill>
          </a:ln>
        </p:spPr>
      </p:sp>
      <p:sp>
        <p:nvSpPr>
          <p:cNvPr id="22" name="text-空位">
            <a:extLst xmlns:a="http://schemas.openxmlformats.org/drawingml/2006/main">
              <a:ext uri="{FF2B5EF4-FFF2-40B4-BE49-F238E27FC236}">
                <a16:creationId xmlns:a16="http://schemas.microsoft.com/office/drawing/2014/main" id="{7CD39043-6AA3-4AD7-9D52-9AB34E78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8387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空位</a:t>
            </a:r>
          </a:p>
        </p:txBody>
      </p:sp>
      <p:sp>
        <p:nvSpPr>
          <p:cNvPr id="23" name="room-R13">
            <a:extLst xmlns:a="http://schemas.openxmlformats.org/drawingml/2006/main">
              <a:ext uri="{FF2B5EF4-FFF2-40B4-BE49-F238E27FC236}">
                <a16:creationId xmlns:a16="http://schemas.microsoft.com/office/drawing/2014/main" id="{377FB79D-5BC5-4966-A431-94E4975E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858387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DCC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24" name="text-R13">
            <a:extLst xmlns:a="http://schemas.openxmlformats.org/drawingml/2006/main">
              <a:ext uri="{FF2B5EF4-FFF2-40B4-BE49-F238E27FC236}">
                <a16:creationId xmlns:a16="http://schemas.microsoft.com/office/drawing/2014/main" id="{D7092889-64A0-4388-B738-4B6089DD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77437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R13</a:t>
            </a:r>
          </a:p>
        </p:txBody>
      </p:sp>
      <p:sp>
        <p:nvSpPr>
          <p:cNvPr id="25" name="room-R14">
            <a:extLst xmlns:a="http://schemas.openxmlformats.org/drawingml/2006/main">
              <a:ext uri="{FF2B5EF4-FFF2-40B4-BE49-F238E27FC236}">
                <a16:creationId xmlns:a16="http://schemas.microsoft.com/office/drawing/2014/main" id="{3E231AD2-7611-4782-8933-74A99AE9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858387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E85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26" name="text-R14">
            <a:extLst xmlns:a="http://schemas.openxmlformats.org/drawingml/2006/main">
              <a:ext uri="{FF2B5EF4-FFF2-40B4-BE49-F238E27FC236}">
                <a16:creationId xmlns:a16="http://schemas.microsoft.com/office/drawing/2014/main" id="{C53BD1FA-44D7-4B8C-B581-582DDAD6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877437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R14</a:t>
            </a:r>
          </a:p>
        </p:txBody>
      </p:sp>
      <p:sp>
        <p:nvSpPr>
          <p:cNvPr id="27" name="room-R15">
            <a:extLst xmlns:a="http://schemas.openxmlformats.org/drawingml/2006/main">
              <a:ext uri="{FF2B5EF4-FFF2-40B4-BE49-F238E27FC236}">
                <a16:creationId xmlns:a16="http://schemas.microsoft.com/office/drawing/2014/main" id="{D055AB85-3980-4686-9473-C79CBCCC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58387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F75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28" name="text-R15">
            <a:extLst xmlns:a="http://schemas.openxmlformats.org/drawingml/2006/main">
              <a:ext uri="{FF2B5EF4-FFF2-40B4-BE49-F238E27FC236}">
                <a16:creationId xmlns:a16="http://schemas.microsoft.com/office/drawing/2014/main" id="{24DB54EA-5B0A-4EED-B6D0-377DBB6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77437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R15</a:t>
            </a:r>
          </a:p>
        </p:txBody>
      </p:sp>
      <p:sp>
        <p:nvSpPr>
          <p:cNvPr id="29" name="text-二层终态 · 8舱">
            <a:extLst xmlns:a="http://schemas.openxmlformats.org/drawingml/2006/main">
              <a:ext uri="{FF2B5EF4-FFF2-40B4-BE49-F238E27FC236}">
                <a16:creationId xmlns:a16="http://schemas.microsoft.com/office/drawing/2014/main" id="{1D635B31-CA26-46E4-9338-A3DDD905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859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二层终态 · 8舱</a:t>
            </a:r>
          </a:p>
        </p:txBody>
      </p:sp>
      <p:sp>
        <p:nvSpPr>
          <p:cNvPr id="30" name="room-R10">
            <a:extLst xmlns:a="http://schemas.openxmlformats.org/drawingml/2006/main">
              <a:ext uri="{FF2B5EF4-FFF2-40B4-BE49-F238E27FC236}">
                <a16:creationId xmlns:a16="http://schemas.microsoft.com/office/drawing/2014/main" id="{CD20829B-D5A2-44DF-B2E2-410C95E0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95575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48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31" name="text-R10">
            <a:extLst xmlns:a="http://schemas.openxmlformats.org/drawingml/2006/main">
              <a:ext uri="{FF2B5EF4-FFF2-40B4-BE49-F238E27FC236}">
                <a16:creationId xmlns:a16="http://schemas.microsoft.com/office/drawing/2014/main" id="{B97EA1DF-C21F-49C1-95C7-6E91E8EA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14625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R10</a:t>
            </a:r>
          </a:p>
        </p:txBody>
      </p:sp>
      <p:sp>
        <p:nvSpPr>
          <p:cNvPr id="32" name="room-R11">
            <a:extLst xmlns:a="http://schemas.openxmlformats.org/drawingml/2006/main">
              <a:ext uri="{FF2B5EF4-FFF2-40B4-BE49-F238E27FC236}">
                <a16:creationId xmlns:a16="http://schemas.microsoft.com/office/drawing/2014/main" id="{136A2C63-B733-4F49-9C56-04DCE907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95575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48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33" name="text-R11">
            <a:extLst xmlns:a="http://schemas.openxmlformats.org/drawingml/2006/main">
              <a:ext uri="{FF2B5EF4-FFF2-40B4-BE49-F238E27FC236}">
                <a16:creationId xmlns:a16="http://schemas.microsoft.com/office/drawing/2014/main" id="{0FB7107E-C56C-465C-8B82-D80B6C26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14625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R11</a:t>
            </a:r>
          </a:p>
        </p:txBody>
      </p:sp>
      <p:sp>
        <p:nvSpPr>
          <p:cNvPr id="34" name="shape">
            <a:extLst xmlns:a="http://schemas.openxmlformats.org/drawingml/2006/main">
              <a:ext uri="{FF2B5EF4-FFF2-40B4-BE49-F238E27FC236}">
                <a16:creationId xmlns:a16="http://schemas.microsoft.com/office/drawing/2014/main" id="{427F5A5D-F322-4102-9DAE-3DF0D571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95575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D"/>
          </a:solidFill>
          <a:ln xmlns:a="http://schemas.openxmlformats.org/drawingml/2006/main" w="11430">
            <a:solidFill>
              <a:srgbClr val="C6BFCE"/>
            </a:solidFill>
          </a:ln>
        </p:spPr>
      </p:sp>
      <p:sp>
        <p:nvSpPr>
          <p:cNvPr id="35" name="text-C">
            <a:extLst xmlns:a="http://schemas.openxmlformats.org/drawingml/2006/main">
              <a:ext uri="{FF2B5EF4-FFF2-40B4-BE49-F238E27FC236}">
                <a16:creationId xmlns:a16="http://schemas.microsoft.com/office/drawing/2014/main" id="{36B35177-ABA5-4FF3-BAC5-3307034F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95575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6" name="room-R17">
            <a:extLst xmlns:a="http://schemas.openxmlformats.org/drawingml/2006/main">
              <a:ext uri="{FF2B5EF4-FFF2-40B4-BE49-F238E27FC236}">
                <a16:creationId xmlns:a16="http://schemas.microsoft.com/office/drawing/2014/main" id="{E6C2E5F0-8CD3-4837-B0A7-CAA9960B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95575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16F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37" name="text-R17">
            <a:extLst xmlns:a="http://schemas.openxmlformats.org/drawingml/2006/main">
              <a:ext uri="{FF2B5EF4-FFF2-40B4-BE49-F238E27FC236}">
                <a16:creationId xmlns:a16="http://schemas.microsoft.com/office/drawing/2014/main" id="{C5FAE2E2-991A-49BD-96C7-18D3C7C9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14625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R17</a:t>
            </a:r>
          </a:p>
        </p:txBody>
      </p:sp>
      <p:sp>
        <p:nvSpPr>
          <p:cNvPr id="38" name="room-R12">
            <a:extLst xmlns:a="http://schemas.openxmlformats.org/drawingml/2006/main">
              <a:ext uri="{FF2B5EF4-FFF2-40B4-BE49-F238E27FC236}">
                <a16:creationId xmlns:a16="http://schemas.microsoft.com/office/drawing/2014/main" id="{084C070E-31F0-4EFF-8EBE-FB871A7D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76981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CC7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39" name="text-R12">
            <a:extLst xmlns:a="http://schemas.openxmlformats.org/drawingml/2006/main">
              <a:ext uri="{FF2B5EF4-FFF2-40B4-BE49-F238E27FC236}">
                <a16:creationId xmlns:a16="http://schemas.microsoft.com/office/drawing/2014/main" id="{C43003B8-E0C5-4930-B1C1-04352CDB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96031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R12</a:t>
            </a:r>
          </a:p>
        </p:txBody>
      </p:sp>
      <p:sp>
        <p:nvSpPr>
          <p:cNvPr id="40" name="shape">
            <a:extLst xmlns:a="http://schemas.openxmlformats.org/drawingml/2006/main">
              <a:ext uri="{FF2B5EF4-FFF2-40B4-BE49-F238E27FC236}">
                <a16:creationId xmlns:a16="http://schemas.microsoft.com/office/drawing/2014/main" id="{A7F06E92-3904-459A-AD3A-597058B3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76981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D"/>
          </a:solidFill>
          <a:ln xmlns:a="http://schemas.openxmlformats.org/drawingml/2006/main" w="11430">
            <a:solidFill>
              <a:srgbClr val="C6BFCE"/>
            </a:solidFill>
          </a:ln>
        </p:spPr>
      </p:sp>
      <p:sp>
        <p:nvSpPr>
          <p:cNvPr id="41" name="text-A">
            <a:extLst xmlns:a="http://schemas.openxmlformats.org/drawingml/2006/main">
              <a:ext uri="{FF2B5EF4-FFF2-40B4-BE49-F238E27FC236}">
                <a16:creationId xmlns:a16="http://schemas.microsoft.com/office/drawing/2014/main" id="{6BB27FB0-DE6D-4CC1-AF1B-50A6A394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76981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42" name="shape">
            <a:extLst xmlns:a="http://schemas.openxmlformats.org/drawingml/2006/main">
              <a:ext uri="{FF2B5EF4-FFF2-40B4-BE49-F238E27FC236}">
                <a16:creationId xmlns:a16="http://schemas.microsoft.com/office/drawing/2014/main" id="{5B7B605D-121F-4BD9-B311-424BD4A3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76981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D"/>
          </a:solidFill>
          <a:ln xmlns:a="http://schemas.openxmlformats.org/drawingml/2006/main" w="11430">
            <a:solidFill>
              <a:srgbClr val="C6BFCE"/>
            </a:solidFill>
          </a:ln>
        </p:spPr>
      </p:sp>
      <p:sp>
        <p:nvSpPr>
          <p:cNvPr id="43" name="text-B">
            <a:extLst xmlns:a="http://schemas.openxmlformats.org/drawingml/2006/main">
              <a:ext uri="{FF2B5EF4-FFF2-40B4-BE49-F238E27FC236}">
                <a16:creationId xmlns:a16="http://schemas.microsoft.com/office/drawing/2014/main" id="{3759C99B-9042-4908-BE8A-7A1E73A7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76981"/>
            <a:ext cx="742950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44" name="room-R18">
            <a:extLst xmlns:a="http://schemas.openxmlformats.org/drawingml/2006/main">
              <a:ext uri="{FF2B5EF4-FFF2-40B4-BE49-F238E27FC236}">
                <a16:creationId xmlns:a16="http://schemas.microsoft.com/office/drawing/2014/main" id="{F25D3199-883B-438F-9749-FF962799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58387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CC7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45" name="text-R18">
            <a:extLst xmlns:a="http://schemas.openxmlformats.org/drawingml/2006/main">
              <a:ext uri="{FF2B5EF4-FFF2-40B4-BE49-F238E27FC236}">
                <a16:creationId xmlns:a16="http://schemas.microsoft.com/office/drawing/2014/main" id="{5A9FC4C5-C11F-46DD-9E2A-7D97CAED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7437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R18</a:t>
            </a:r>
          </a:p>
        </p:txBody>
      </p:sp>
      <p:sp>
        <p:nvSpPr>
          <p:cNvPr id="46" name="room-R04">
            <a:extLst xmlns:a="http://schemas.openxmlformats.org/drawingml/2006/main">
              <a:ext uri="{FF2B5EF4-FFF2-40B4-BE49-F238E27FC236}">
                <a16:creationId xmlns:a16="http://schemas.microsoft.com/office/drawing/2014/main" id="{E938A1D0-387F-4B97-8E6F-5EE48116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58387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48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47" name="text-R04">
            <a:extLst xmlns:a="http://schemas.openxmlformats.org/drawingml/2006/main">
              <a:ext uri="{FF2B5EF4-FFF2-40B4-BE49-F238E27FC236}">
                <a16:creationId xmlns:a16="http://schemas.microsoft.com/office/drawing/2014/main" id="{50585BB9-3659-43E4-ACC4-4C816F44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77437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R04</a:t>
            </a:r>
          </a:p>
        </p:txBody>
      </p:sp>
      <p:sp>
        <p:nvSpPr>
          <p:cNvPr id="48" name="room-R14">
            <a:extLst xmlns:a="http://schemas.openxmlformats.org/drawingml/2006/main">
              <a:ext uri="{FF2B5EF4-FFF2-40B4-BE49-F238E27FC236}">
                <a16:creationId xmlns:a16="http://schemas.microsoft.com/office/drawing/2014/main" id="{505B68D2-B32B-46D7-A50E-DA58A58E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58387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E85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49" name="text-R14">
            <a:extLst xmlns:a="http://schemas.openxmlformats.org/drawingml/2006/main">
              <a:ext uri="{FF2B5EF4-FFF2-40B4-BE49-F238E27FC236}">
                <a16:creationId xmlns:a16="http://schemas.microsoft.com/office/drawing/2014/main" id="{3ACE8CA5-1FB3-40C0-9229-374B6C13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77437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R14</a:t>
            </a:r>
          </a:p>
        </p:txBody>
      </p:sp>
      <p:sp>
        <p:nvSpPr>
          <p:cNvPr id="50" name="room-R08">
            <a:extLst xmlns:a="http://schemas.openxmlformats.org/drawingml/2006/main">
              <a:ext uri="{FF2B5EF4-FFF2-40B4-BE49-F238E27FC236}">
                <a16:creationId xmlns:a16="http://schemas.microsoft.com/office/drawing/2014/main" id="{F6F2DE2A-3914-42BF-A264-CDCFD900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58387"/>
            <a:ext cx="74295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16F"/>
          </a:solidFill>
          <a:ln xmlns:a="http://schemas.openxmlformats.org/drawingml/2006/main" w="28575">
            <a:solidFill>
              <a:srgbClr val="72338E"/>
            </a:solidFill>
          </a:ln>
        </p:spPr>
      </p:sp>
      <p:sp>
        <p:nvSpPr>
          <p:cNvPr id="51" name="text-R08">
            <a:extLst xmlns:a="http://schemas.openxmlformats.org/drawingml/2006/main">
              <a:ext uri="{FF2B5EF4-FFF2-40B4-BE49-F238E27FC236}">
                <a16:creationId xmlns:a16="http://schemas.microsoft.com/office/drawing/2014/main" id="{A543FBA8-B729-44C5-9D19-F5E43657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77437"/>
            <a:ext cx="70485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R08</a:t>
            </a:r>
          </a:p>
        </p:txBody>
      </p:sp>
      <p:sp>
        <p:nvSpPr>
          <p:cNvPr id="52" name="direction">
            <a:extLst xmlns:a="http://schemas.openxmlformats.org/drawingml/2006/main">
              <a:ext uri="{FF2B5EF4-FFF2-40B4-BE49-F238E27FC236}">
                <a16:creationId xmlns:a16="http://schemas.microsoft.com/office/drawing/2014/main" id="{09282789-2261-4B7A-9CA0-EF502FF5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333750"/>
            <a:ext cx="809625" cy="3524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0">
            <a:noFill/>
          </a:ln>
        </p:spPr>
      </p:sp>
      <p:sp>
        <p:nvSpPr>
          <p:cNvPr id="53" name="rule">
            <a:extLst xmlns:a="http://schemas.openxmlformats.org/drawingml/2006/main">
              <a:ext uri="{FF2B5EF4-FFF2-40B4-BE49-F238E27FC236}">
                <a16:creationId xmlns:a16="http://schemas.microsoft.com/office/drawing/2014/main" id="{B62853F2-A14E-493B-93DF-29A8D161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75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3EE"/>
            </a:solidFill>
          </a:ln>
        </p:spPr>
      </p:sp>
      <p:sp>
        <p:nvSpPr>
          <p:cNvPr id="54" name="text-2处预留位启用">
            <a:extLst xmlns:a="http://schemas.openxmlformats.org/drawingml/2006/main">
              <a:ext uri="{FF2B5EF4-FFF2-40B4-BE49-F238E27FC236}">
                <a16:creationId xmlns:a16="http://schemas.microsoft.com/office/drawing/2014/main" id="{A5852FF1-E27D-4F0F-9F55-31DD970B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3552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2处预留位启用</a:t>
            </a:r>
          </a:p>
        </p:txBody>
      </p:sp>
      <p:sp>
        <p:nvSpPr>
          <p:cNvPr id="55" name="text-9次搬运完成重组">
            <a:extLst xmlns:a="http://schemas.openxmlformats.org/drawingml/2006/main">
              <a:ext uri="{FF2B5EF4-FFF2-40B4-BE49-F238E27FC236}">
                <a16:creationId xmlns:a16="http://schemas.microsoft.com/office/drawing/2014/main" id="{43EB63BD-6307-4378-9768-139E5AEF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76800"/>
            <a:ext cx="366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9次搬运完成重组</a:t>
            </a:r>
          </a:p>
        </p:txBody>
      </p:sp>
      <p:sp>
        <p:nvSpPr>
          <p:cNvPr id="56" name="text-24舱总量保持不变">
            <a:extLst xmlns:a="http://schemas.openxmlformats.org/drawingml/2006/main">
              <a:ext uri="{FF2B5EF4-FFF2-40B4-BE49-F238E27FC236}">
                <a16:creationId xmlns:a16="http://schemas.microsoft.com/office/drawing/2014/main" id="{DADF2AB1-BE5C-4D30-BBA6-6D67BEDC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876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24舱总量保持不变</a:t>
            </a:r>
          </a:p>
        </p:txBody>
      </p:sp>
      <p:sp>
        <p:nvSpPr>
          <p:cNvPr id="57" name="text-图为L2实际节点占位；A/B">
            <a:extLst xmlns:a="http://schemas.openxmlformats.org/drawingml/2006/main">
              <a:ext uri="{FF2B5EF4-FFF2-40B4-BE49-F238E27FC236}">
                <a16:creationId xmlns:a16="http://schemas.microsoft.com/office/drawing/2014/main" id="{155ECA7A-5715-4E00-AB38-D70932AC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1099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图为L2实际节点占位；A/B/C升降节点在终态保持空闲</a:t>
            </a:r>
          </a:p>
        </p:txBody>
      </p:sp>
      <p:sp>
        <p:nvSpPr>
          <p:cNvPr id="58" name="rule">
            <a:extLst xmlns:a="http://schemas.openxmlformats.org/drawingml/2006/main">
              <a:ext uri="{FF2B5EF4-FFF2-40B4-BE49-F238E27FC236}">
                <a16:creationId xmlns:a16="http://schemas.microsoft.com/office/drawing/2014/main" id="{A53DF859-D6D2-4729-BA93-9D2A73E2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3EE"/>
            </a:solidFill>
          </a:ln>
        </p:spPr>
      </p:sp>
      <p:sp>
        <p:nvSpPr>
          <p:cNvPr id="59" name="text-改变的是舱室的配置与服务位置">
            <a:extLst xmlns:a="http://schemas.openxmlformats.org/drawingml/2006/main">
              <a:ext uri="{FF2B5EF4-FFF2-40B4-BE49-F238E27FC236}">
                <a16:creationId xmlns:a16="http://schemas.microsoft.com/office/drawing/2014/main" id="{0F8D7827-23D9-4B50-BE08-58DF6FD7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改变的是舱室的配置与服务位置，同一批模块可以承担新的空间任务</a:t>
            </a:r>
          </a:p>
        </p:txBody>
      </p:sp>
    </p:spTree>
    <p:extLst>
      <p:ext uri="{BB962C8B-B14F-4D97-AF65-F5344CB8AC3E}">
        <p14:creationId xmlns:p14="http://schemas.microsoft.com/office/powerpoint/2010/main" val="10749836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58FF6176-1BB8-4D22-B967-61D69BC2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96aafef73444a"/>
          <a:stretch xmlns:a="http://schemas.openxmlformats.org/drawingml/2006/main"/>
        </p:blipFill>
        <p:spPr>
          <a:xfrm xmlns:a="http://schemas.openxmlformats.org/drawingml/2006/main">
            <a:off x="10240370" y="219075"/>
            <a:ext cx="146486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ext-舱室重新落位，连接关系同步更">
            <a:extLst xmlns:a="http://schemas.openxmlformats.org/drawingml/2006/main">
              <a:ext uri="{FF2B5EF4-FFF2-40B4-BE49-F238E27FC236}">
                <a16:creationId xmlns:a16="http://schemas.microsoft.com/office/drawing/2014/main" id="{7DF35C7A-F650-4787-9E52-95C6AB42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舱室重新落位，连接关系同步更新</a:t>
            </a:r>
          </a:p>
        </p:txBody>
      </p:sp>
      <p:sp>
        <p:nvSpPr>
          <p:cNvPr id="4" name="text-六面舱口提供相邻连接表达，软">
            <a:extLst xmlns:a="http://schemas.openxmlformats.org/drawingml/2006/main">
              <a:ext uri="{FF2B5EF4-FFF2-40B4-BE49-F238E27FC236}">
                <a16:creationId xmlns:a16="http://schemas.microsoft.com/office/drawing/2014/main" id="{8F2341A2-4FF6-4C71-AB66-7F5AB202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192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六面舱口提供相邻连接表达，软件随布局更新人员通行网络。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22F1DC4A-C772-402D-BC04-192ECBCE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35e0d718a4ac6"/>
          <a:stretch xmlns:a="http://schemas.openxmlformats.org/drawingml/2006/main"/>
        </p:blipFill>
        <p:spPr>
          <a:xfrm xmlns:a="http://schemas.openxmlformats.org/drawingml/2006/main">
            <a:off x="485767" y="2295525"/>
            <a:ext cx="5019692" cy="3228975"/>
          </a:xfrm>
          <a:prstGeom xmlns:a="http://schemas.openxmlformats.org/drawingml/2006/main" prst="rect">
            <a:avLst/>
          </a:prstGeom>
        </p:spPr>
      </p:pic>
      <p:sp>
        <p:nvSpPr>
          <p:cNvPr id="7" name="text-软件站体局部视图">
            <a:extLst xmlns:a="http://schemas.openxmlformats.org/drawingml/2006/main">
              <a:ext uri="{FF2B5EF4-FFF2-40B4-BE49-F238E27FC236}">
                <a16:creationId xmlns:a16="http://schemas.microsoft.com/office/drawing/2014/main" id="{17423F20-E352-40F1-9FAC-3BD34E1C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553075"/>
            <a:ext cx="503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软件站体局部视图</a:t>
            </a:r>
          </a:p>
        </p:txBody>
      </p:sp>
      <p:sp>
        <p:nvSpPr>
          <p:cNvPr id="8" name="text-搬运中的房间">
            <a:extLst xmlns:a="http://schemas.openxmlformats.org/drawingml/2006/main">
              <a:ext uri="{FF2B5EF4-FFF2-40B4-BE49-F238E27FC236}">
                <a16:creationId xmlns:a16="http://schemas.microsoft.com/office/drawing/2014/main" id="{B0ED0F6D-233A-4EDB-B990-FE115360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24075"/>
            <a:ext cx="5114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搬运中的房间</a:t>
            </a:r>
          </a:p>
        </p:txBody>
      </p:sp>
      <p:sp>
        <p:nvSpPr>
          <p:cNvPr id="9" name="diagram-node-接口分离">
            <a:extLst xmlns:a="http://schemas.openxmlformats.org/drawingml/2006/main">
              <a:ext uri="{FF2B5EF4-FFF2-40B4-BE49-F238E27FC236}">
                <a16:creationId xmlns:a16="http://schemas.microsoft.com/office/drawing/2014/main" id="{026587C4-E1BD-49C3-8DA3-A7A5EDAE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86050"/>
            <a:ext cx="1524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10" name="text-接口分离">
            <a:extLst xmlns:a="http://schemas.openxmlformats.org/drawingml/2006/main">
              <a:ext uri="{FF2B5EF4-FFF2-40B4-BE49-F238E27FC236}">
                <a16:creationId xmlns:a16="http://schemas.microsoft.com/office/drawing/2014/main" id="{69B15810-B342-4CC2-BD1D-1961DF6A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62250"/>
            <a:ext cx="133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接口分离</a:t>
            </a:r>
          </a:p>
        </p:txBody>
      </p:sp>
      <p:sp>
        <p:nvSpPr>
          <p:cNvPr id="11" name="diagram-node-沿路线移动">
            <a:extLst xmlns:a="http://schemas.openxmlformats.org/drawingml/2006/main">
              <a:ext uri="{FF2B5EF4-FFF2-40B4-BE49-F238E27FC236}">
                <a16:creationId xmlns:a16="http://schemas.microsoft.com/office/drawing/2014/main" id="{EC968405-23C1-4F3D-8433-13BF1EB1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15906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12" name="text-沿路线移动">
            <a:extLst xmlns:a="http://schemas.openxmlformats.org/drawingml/2006/main">
              <a:ext uri="{FF2B5EF4-FFF2-40B4-BE49-F238E27FC236}">
                <a16:creationId xmlns:a16="http://schemas.microsoft.com/office/drawing/2014/main" id="{73A9E6E0-EDB2-4102-B9A0-4D36890E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1400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沿路线移动</a:t>
            </a:r>
          </a:p>
        </p:txBody>
      </p:sp>
      <p:sp>
        <p:nvSpPr>
          <p:cNvPr id="13" name="diagram-node-重新落位">
            <a:extLst xmlns:a="http://schemas.openxmlformats.org/drawingml/2006/main">
              <a:ext uri="{FF2B5EF4-FFF2-40B4-BE49-F238E27FC236}">
                <a16:creationId xmlns:a16="http://schemas.microsoft.com/office/drawing/2014/main" id="{EDD0A9ED-87E5-4D6B-85A1-C43146E7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86050"/>
            <a:ext cx="1600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14" name="text-重新落位">
            <a:extLst xmlns:a="http://schemas.openxmlformats.org/drawingml/2006/main">
              <a:ext uri="{FF2B5EF4-FFF2-40B4-BE49-F238E27FC236}">
                <a16:creationId xmlns:a16="http://schemas.microsoft.com/office/drawing/2014/main" id="{93168D2B-7CF9-4046-9465-95B8007E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62250"/>
            <a:ext cx="1409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重新落位</a:t>
            </a:r>
          </a:p>
        </p:txBody>
      </p: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762875" y="2986088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2338E"/>
            </a:solidFill>
            <a:tail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629775" y="2986088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2338E"/>
            </a:solidFill>
            <a:tailEnd type="triangle" w="med" len="med"/>
          </a:ln>
        </p:spPr>
      </p:cxnSp>
      <p:sp>
        <p:nvSpPr>
          <p:cNvPr id="17" name="text-落位后的相邻房间">
            <a:extLst xmlns:a="http://schemas.openxmlformats.org/drawingml/2006/main">
              <a:ext uri="{FF2B5EF4-FFF2-40B4-BE49-F238E27FC236}">
                <a16:creationId xmlns:a16="http://schemas.microsoft.com/office/drawing/2014/main" id="{7AE776E6-D742-45AE-8813-F699797E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24275"/>
            <a:ext cx="5267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落位后的相邻房间</a:t>
            </a:r>
          </a:p>
        </p:txBody>
      </p:sp>
      <p:sp>
        <p:nvSpPr>
          <p:cNvPr id="18" name="diagram-node-舱室A">
            <a:extLst xmlns:a="http://schemas.openxmlformats.org/drawingml/2006/main">
              <a:ext uri="{FF2B5EF4-FFF2-40B4-BE49-F238E27FC236}">
                <a16:creationId xmlns:a16="http://schemas.microsoft.com/office/drawing/2014/main" id="{DE886D24-1EE1-4BB4-9B32-EAB0E10F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62450"/>
            <a:ext cx="22098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5A2"/>
          </a:solidFill>
          <a:ln xmlns:a="http://schemas.openxmlformats.org/drawingml/2006/main" w="19050">
            <a:solidFill>
              <a:srgbClr val="5D85A2"/>
            </a:solidFill>
          </a:ln>
        </p:spPr>
      </p:sp>
      <p:sp>
        <p:nvSpPr>
          <p:cNvPr id="19" name="text-舱室A">
            <a:extLst xmlns:a="http://schemas.openxmlformats.org/drawingml/2006/main">
              <a:ext uri="{FF2B5EF4-FFF2-40B4-BE49-F238E27FC236}">
                <a16:creationId xmlns:a16="http://schemas.microsoft.com/office/drawing/2014/main" id="{AEEAFBBA-960A-4306-B24A-738CEF63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38650"/>
            <a:ext cx="2019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舱室A</a:t>
            </a:r>
          </a:p>
        </p:txBody>
      </p:sp>
      <p:sp>
        <p:nvSpPr>
          <p:cNvPr id="20" name="diagram-node-舱室B">
            <a:extLst xmlns:a="http://schemas.openxmlformats.org/drawingml/2006/main">
              <a:ext uri="{FF2B5EF4-FFF2-40B4-BE49-F238E27FC236}">
                <a16:creationId xmlns:a16="http://schemas.microsoft.com/office/drawing/2014/main" id="{5CBD43AB-330A-4DE8-A02F-772CE616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62450"/>
            <a:ext cx="22098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3A4"/>
          </a:solidFill>
          <a:ln xmlns:a="http://schemas.openxmlformats.org/drawingml/2006/main" w="19050">
            <a:solidFill>
              <a:srgbClr val="8A73A4"/>
            </a:solidFill>
          </a:ln>
        </p:spPr>
      </p:sp>
      <p:sp>
        <p:nvSpPr>
          <p:cNvPr id="21" name="text-舱室B">
            <a:extLst xmlns:a="http://schemas.openxmlformats.org/drawingml/2006/main">
              <a:ext uri="{FF2B5EF4-FFF2-40B4-BE49-F238E27FC236}">
                <a16:creationId xmlns:a16="http://schemas.microsoft.com/office/drawing/2014/main" id="{9354A3D6-C969-44D9-B73D-AC43BA9C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38650"/>
            <a:ext cx="2019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舱室B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FC6A0AF7-BB8D-462E-9216-A2B7DC48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2917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72338E"/>
            </a:solidFill>
          </a:ln>
        </p:spPr>
      </p:sp>
      <p:sp>
        <p:nvSpPr>
          <p:cNvPr id="23" name="text-舱口短接">
            <a:extLst xmlns:a="http://schemas.openxmlformats.org/drawingml/2006/main">
              <a:ext uri="{FF2B5EF4-FFF2-40B4-BE49-F238E27FC236}">
                <a16:creationId xmlns:a16="http://schemas.microsoft.com/office/drawing/2014/main" id="{38F16599-5404-4514-BDBB-D80A5072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530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舱口短接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211D5C00-DFEB-44C1-B1BE-E209F846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3EE"/>
            </a:solidFill>
          </a:ln>
        </p:spPr>
      </p:sp>
      <p:sp>
        <p:nvSpPr>
          <p:cNvPr id="25" name="text-空间重组同时处理“房间在哪里">
            <a:extLst xmlns:a="http://schemas.openxmlformats.org/drawingml/2006/main">
              <a:ext uri="{FF2B5EF4-FFF2-40B4-BE49-F238E27FC236}">
                <a16:creationId xmlns:a16="http://schemas.microsoft.com/office/drawing/2014/main" id="{425AB4CC-22F7-4C65-8FC4-60CE304B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空间重组同时处理“房间在哪里”和“哪些房间形成连接”</a:t>
            </a:r>
          </a:p>
        </p:txBody>
      </p:sp>
    </p:spTree>
    <p:extLst>
      <p:ext uri="{BB962C8B-B14F-4D97-AF65-F5344CB8AC3E}">
        <p14:creationId xmlns:p14="http://schemas.microsoft.com/office/powerpoint/2010/main" val="12219331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2ED6389E-350C-4FB6-A8D1-617510E2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43bb6004b4bb4"/>
          <a:stretch xmlns:a="http://schemas.openxmlformats.org/drawingml/2006/main"/>
        </p:blipFill>
        <p:spPr>
          <a:xfrm xmlns:a="http://schemas.openxmlformats.org/drawingml/2006/main">
            <a:off x="10240370" y="219075"/>
            <a:ext cx="146486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ext-同一批舱室，承接不同任务">
            <a:extLst xmlns:a="http://schemas.openxmlformats.org/drawingml/2006/main">
              <a:ext uri="{FF2B5EF4-FFF2-40B4-BE49-F238E27FC236}">
                <a16:creationId xmlns:a16="http://schemas.microsoft.com/office/drawing/2014/main" id="{C069F844-B7D7-4E7D-970D-7CB10454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同一批舱室，承接不同任务</a:t>
            </a:r>
          </a:p>
        </p:txBody>
      </p:sp>
      <p:sp>
        <p:nvSpPr>
          <p:cNvPr id="4" name="text-同一套模块与调度逻辑，响应科">
            <a:extLst xmlns:a="http://schemas.openxmlformats.org/drawingml/2006/main">
              <a:ext uri="{FF2B5EF4-FFF2-40B4-BE49-F238E27FC236}">
                <a16:creationId xmlns:a16="http://schemas.microsoft.com/office/drawing/2014/main" id="{61BB3124-3E35-4ECA-93EA-AD71582B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192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同一套模块与调度逻辑，响应科研组织、检修布置与预留空间启用。</a:t>
            </a:r>
          </a:p>
        </p:txBody>
      </p:sp>
      <p:sp>
        <p:nvSpPr>
          <p:cNvPr id="5" name="text-11">
            <a:extLst xmlns:a="http://schemas.openxmlformats.org/drawingml/2006/main">
              <a:ext uri="{FF2B5EF4-FFF2-40B4-BE49-F238E27FC236}">
                <a16:creationId xmlns:a16="http://schemas.microsoft.com/office/drawing/2014/main" id="{37D41BE3-3F00-4DDA-9A1B-90405754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95300" y="2171700"/>
          <a:ext xmlns:a="http://schemas.openxmlformats.org/drawingml/2006/main" cx="11201400" cy="2981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229100"/>
                <a:gridCol w="4305300"/>
              </a:tblGrid>
              <a:tr h="745331">
                <a:tc>
                  <a:txBody>
                    <a:bodyPr lIns="142875" tIns="114300" rIns="142875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任务变化</a:t>
                      </a:r>
                    </a:p>
                  </a:txBody>
                  <a:tcPr marL="91440" marR="91440" marT="45720" marB="45720" anchor="ctr">
                    <a:solidFill>
                      <a:srgbClr val="72338E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空间如何响应</a:t>
                      </a:r>
                    </a:p>
                  </a:txBody>
                  <a:tcPr marL="91440" marR="91440" marT="45720" marB="45720" anchor="ctr">
                    <a:solidFill>
                      <a:srgbClr val="72338E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可观察的结果</a:t>
                      </a:r>
                    </a:p>
                  </a:txBody>
                  <a:tcPr marL="91440" marR="91440" marT="45720" marB="45720" anchor="ctr">
                    <a:solidFill>
                      <a:srgbClr val="72338E"/>
                    </a:solidFill>
                  </a:tcPr>
                </a:tc>
              </a:tr>
              <a:tr h="745331"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科研任务进入二层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R02、R03、R08迁入L2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指定三舱在二层由0变3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5331"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设置检修位置</a:t>
                      </a:r>
                    </a:p>
                  </a:txBody>
                  <a:tcPr marL="91440" marR="91440" marT="45720" marB="45720" anchor="ctr">
                    <a:solidFill>
                      <a:srgbClr val="F0ECF4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R24调至首层东缘</a:t>
                      </a:r>
                    </a:p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R11补入顶层</a:t>
                      </a:r>
                    </a:p>
                  </a:txBody>
                  <a:tcPr marL="91440" marR="91440" marT="45720" marB="45720" anchor="ctr">
                    <a:solidFill>
                      <a:srgbClr val="F0ECF4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检修舱周边留出2处空位</a:t>
                      </a:r>
                    </a:p>
                  </a:txBody>
                  <a:tcPr marL="91440" marR="91440" marT="45720" marB="45720" anchor="ctr">
                    <a:solidFill>
                      <a:srgbClr val="F0ECF4"/>
                    </a:solidFill>
                  </a:tcPr>
                </a:tc>
              </a:tr>
              <a:tr h="745331"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启用二层预留泊位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在全站24舱内重新调配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二层入驻由6舱变8舱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适用场景">
            <a:extLst xmlns:a="http://schemas.openxmlformats.org/drawingml/2006/main">
              <a:ext uri="{FF2B5EF4-FFF2-40B4-BE49-F238E27FC236}">
                <a16:creationId xmlns:a16="http://schemas.microsoft.com/office/drawing/2014/main" id="{98D8AF50-C93B-4E87-A2F8-CEE78A05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305425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8" name="text-任务持续变化、平台可达、允许">
            <a:extLst xmlns:a="http://schemas.openxmlformats.org/drawingml/2006/main">
              <a:ext uri="{FF2B5EF4-FFF2-40B4-BE49-F238E27FC236}">
                <a16:creationId xmlns:a16="http://schemas.microsoft.com/office/drawing/2014/main" id="{4418A4DF-B028-4B87-A54F-0FA13647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67325"/>
            <a:ext cx="927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任务持续变化、平台可达、允许顺序搬运的模块空间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6212ADEC-5083-4A01-B330-707C7725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3EE"/>
            </a:solidFill>
          </a:ln>
        </p:spPr>
      </p:sp>
      <p:sp>
        <p:nvSpPr>
          <p:cNvPr id="10" name="text-优势在于复用：共享的平台能力">
            <a:extLst xmlns:a="http://schemas.openxmlformats.org/drawingml/2006/main">
              <a:ext uri="{FF2B5EF4-FFF2-40B4-BE49-F238E27FC236}">
                <a16:creationId xmlns:a16="http://schemas.microsoft.com/office/drawing/2014/main" id="{F64352D4-A8F9-42C9-89D9-05F58A10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优势在于复用：共享的平台能力，让既有模块持续响应任务变化</a:t>
            </a:r>
          </a:p>
        </p:txBody>
      </p:sp>
    </p:spTree>
    <p:extLst>
      <p:ext uri="{BB962C8B-B14F-4D97-AF65-F5344CB8AC3E}">
        <p14:creationId xmlns:p14="http://schemas.microsoft.com/office/powerpoint/2010/main" val="2148672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51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月宫华容">
            <a:extLst xmlns:a="http://schemas.openxmlformats.org/drawingml/2006/main">
              <a:ext uri="{FF2B5EF4-FFF2-40B4-BE49-F238E27FC236}">
                <a16:creationId xmlns:a16="http://schemas.microsoft.com/office/drawing/2014/main" id="{DD379C30-302B-4F12-B1F8-3EA32DE0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B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4B2D2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  <p:sp>
        <p:nvSpPr>
          <p:cNvPr id="2" name="text-任务在变，空间跟上">
            <a:extLst xmlns:a="http://schemas.openxmlformats.org/drawingml/2006/main">
              <a:ext uri="{FF2B5EF4-FFF2-40B4-BE49-F238E27FC236}">
                <a16:creationId xmlns:a16="http://schemas.microsoft.com/office/drawing/2014/main" id="{6C07D186-E738-402D-9FE1-072B67D5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任务在变，空间跟上</a:t>
            </a:r>
          </a:p>
        </p:txBody>
      </p:sp>
      <p:sp>
        <p:nvSpPr>
          <p:cNvPr id="3" name="text-月宫华容，让科研站的布局成为">
            <a:extLst xmlns:a="http://schemas.openxmlformats.org/drawingml/2006/main">
              <a:ext uri="{FF2B5EF4-FFF2-40B4-BE49-F238E27FC236}">
                <a16:creationId xmlns:a16="http://schemas.microsoft.com/office/drawing/2014/main" id="{02802E97-960F-4B1A-8B31-A915B9CB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192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C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6CCD9"/>
                </a:solidFill>
                <a:latin typeface="Microsoft YaHei"/>
                <a:ea typeface="Microsoft YaHei"/>
                <a:cs typeface="Microsoft YaHei"/>
              </a:rPr>
              <a:t>月宫华容，让科研站的布局成为可以调度的能力。</a:t>
            </a:r>
          </a:p>
        </p:txBody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7977D4F1-1E09-4AA1-AF29-2744A990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BA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A9C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text-同一批舱室">
            <a:extLst xmlns:a="http://schemas.openxmlformats.org/drawingml/2006/main">
              <a:ext uri="{FF2B5EF4-FFF2-40B4-BE49-F238E27FC236}">
                <a16:creationId xmlns:a16="http://schemas.microsoft.com/office/drawing/2014/main" id="{13E26E1B-5035-4520-81D2-CA70BE15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90750"/>
            <a:ext cx="561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同一批舱室</a:t>
            </a:r>
          </a:p>
        </p:txBody>
      </p:sp>
      <p:sp>
        <p:nvSpPr>
          <p:cNvPr id="6" name="text-重新组织任务空间">
            <a:extLst xmlns:a="http://schemas.openxmlformats.org/drawingml/2006/main">
              <a:ext uri="{FF2B5EF4-FFF2-40B4-BE49-F238E27FC236}">
                <a16:creationId xmlns:a16="http://schemas.microsoft.com/office/drawing/2014/main" id="{8DA07D71-A117-4D9A-90BD-5029922B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057525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D4B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D4B6E4"/>
                </a:solidFill>
                <a:latin typeface="Microsoft YaHei"/>
                <a:ea typeface="Microsoft YaHei"/>
                <a:cs typeface="Microsoft YaHei"/>
              </a:rPr>
              <a:t>重新组织任务空间</a:t>
            </a:r>
          </a:p>
        </p:txBody>
      </p:sp>
      <p:sp>
        <p:nvSpPr>
          <p:cNvPr id="7" name="diagram-node-任务关系">
            <a:extLst xmlns:a="http://schemas.openxmlformats.org/drawingml/2006/main">
              <a:ext uri="{FF2B5EF4-FFF2-40B4-BE49-F238E27FC236}">
                <a16:creationId xmlns:a16="http://schemas.microsoft.com/office/drawing/2014/main" id="{34CCE63A-DA63-4C7F-B59A-A47814ED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8" name="text-任务关系">
            <a:extLst xmlns:a="http://schemas.openxmlformats.org/drawingml/2006/main">
              <a:ext uri="{FF2B5EF4-FFF2-40B4-BE49-F238E27FC236}">
                <a16:creationId xmlns:a16="http://schemas.microsoft.com/office/drawing/2014/main" id="{91203DD4-CAF6-4AF8-BCD7-0FDEA761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任务关系</a:t>
            </a:r>
          </a:p>
        </p:txBody>
      </p:sp>
      <p:sp>
        <p:nvSpPr>
          <p:cNvPr id="9" name="diagram-node-共享搬运与周转">
            <a:extLst xmlns:a="http://schemas.openxmlformats.org/drawingml/2006/main">
              <a:ext uri="{FF2B5EF4-FFF2-40B4-BE49-F238E27FC236}">
                <a16:creationId xmlns:a16="http://schemas.microsoft.com/office/drawing/2014/main" id="{47EB7818-6E25-4CE1-B4B8-1126CE05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05175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10" name="text-共享搬运与周转">
            <a:extLst xmlns:a="http://schemas.openxmlformats.org/drawingml/2006/main">
              <a:ext uri="{FF2B5EF4-FFF2-40B4-BE49-F238E27FC236}">
                <a16:creationId xmlns:a16="http://schemas.microsoft.com/office/drawing/2014/main" id="{30377878-49D3-4117-8682-1BBAA8BB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81375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共享搬运与周转</a:t>
            </a:r>
          </a:p>
        </p:txBody>
      </p:sp>
      <p:sp>
        <p:nvSpPr>
          <p:cNvPr id="11" name="diagram-node-新布局与相邻连接">
            <a:extLst xmlns:a="http://schemas.openxmlformats.org/drawingml/2006/main">
              <a:ext uri="{FF2B5EF4-FFF2-40B4-BE49-F238E27FC236}">
                <a16:creationId xmlns:a16="http://schemas.microsoft.com/office/drawing/2014/main" id="{BB684C2B-B382-47C9-9140-02D56FEB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338E"/>
          </a:solidFill>
          <a:ln xmlns:a="http://schemas.openxmlformats.org/drawingml/2006/main" w="19050">
            <a:solidFill>
              <a:srgbClr val="72338E"/>
            </a:solidFill>
          </a:ln>
        </p:spPr>
      </p:sp>
      <p:sp>
        <p:nvSpPr>
          <p:cNvPr id="12" name="text-新布局与相邻连接">
            <a:extLst xmlns:a="http://schemas.openxmlformats.org/drawingml/2006/main">
              <a:ext uri="{FF2B5EF4-FFF2-40B4-BE49-F238E27FC236}">
                <a16:creationId xmlns:a16="http://schemas.microsoft.com/office/drawing/2014/main" id="{EA4BF09D-9B51-4A2B-9F31-D2956790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新布局与相邻连接</a:t>
            </a:r>
          </a:p>
        </p:txBody>
      </p:sp>
      <p:cxnSp>
        <p:nvCxnSpPr>
          <p:cNvPr id="30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648825" y="287655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5A3D7"/>
            </a:solidFill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648825" y="39719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5A3D7"/>
            </a:solidFill>
            <a:tailEnd type="triangle" w="med" len="med"/>
          </a:ln>
        </p:spPr>
      </p:cxnSp>
      <p:sp>
        <p:nvSpPr>
          <p:cNvPr id="15" name="text-中文目标形成同层组团&#10;已有舱">
            <a:extLst xmlns:a="http://schemas.openxmlformats.org/drawingml/2006/main">
              <a:ext uri="{FF2B5EF4-FFF2-40B4-BE49-F238E27FC236}">
                <a16:creationId xmlns:a16="http://schemas.microsoft.com/office/drawing/2014/main" id="{C16912B4-6BEF-423D-9074-AA30AA5E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676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中文目标形成同层组团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已有舱室迁入指定任务区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24舱内完成二层6舱到8舱的重组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0D9F3498-90B4-4BFF-865C-825B2087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5473"/>
            </a:solidFill>
          </a:ln>
        </p:spPr>
      </p:sp>
      <p:sp>
        <p:nvSpPr>
          <p:cNvPr id="17" name="text-我们提出共享搬运与任务调度的">
            <a:extLst xmlns:a="http://schemas.openxmlformats.org/drawingml/2006/main">
              <a:ext uri="{FF2B5EF4-FFF2-40B4-BE49-F238E27FC236}">
                <a16:creationId xmlns:a16="http://schemas.microsoft.com/office/drawing/2014/main" id="{9FFD3579-17B1-46E2-A056-D8585AF1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我们提出共享搬运与任务调度的组合，并用可操作的软件展示空间重组</a:t>
            </a:r>
          </a:p>
        </p:txBody>
      </p:sp>
    </p:spTree>
    <p:extLst>
      <p:ext uri="{BB962C8B-B14F-4D97-AF65-F5344CB8AC3E}">
        <p14:creationId xmlns:p14="http://schemas.microsoft.com/office/powerpoint/2010/main" val="45666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备答 01">
            <a:extLst xmlns:a="http://schemas.openxmlformats.org/drawingml/2006/main">
              <a:ext uri="{FF2B5EF4-FFF2-40B4-BE49-F238E27FC236}">
                <a16:creationId xmlns:a16="http://schemas.microsoft.com/office/drawing/2014/main" id="{73CB94BD-F4D6-45F1-81AE-3E246B64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备答 01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321a0eb084dd8"/>
          <a:stretch xmlns:a="http://schemas.openxmlformats.org/drawingml/2006/main"/>
        </p:blipFill>
        <p:spPr>
          <a:xfrm xmlns:a="http://schemas.openxmlformats.org/drawingml/2006/main">
            <a:off x="10240370" y="219075"/>
            <a:ext cx="146486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ext-项目优势与适用场景">
            <a:extLst xmlns:a="http://schemas.openxmlformats.org/drawingml/2006/main">
              <a:ext uri="{FF2B5EF4-FFF2-40B4-BE49-F238E27FC236}">
                <a16:creationId xmlns:a16="http://schemas.microsoft.com/office/drawing/2014/main" id="{8B4035C2-7025-4A08-8B49-9EA8EBF0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项目优势与适用场景</a:t>
            </a:r>
          </a:p>
        </p:txBody>
      </p:sp>
      <p:sp>
        <p:nvSpPr>
          <p:cNvPr id="4" name="text-项目把任务表达与空间重组放进">
            <a:extLst xmlns:a="http://schemas.openxmlformats.org/drawingml/2006/main">
              <a:ext uri="{FF2B5EF4-FFF2-40B4-BE49-F238E27FC236}">
                <a16:creationId xmlns:a16="http://schemas.microsoft.com/office/drawing/2014/main" id="{C45614BC-D59E-4797-B673-21297777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192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项目把任务表达与空间重组放进同一套可操作的设计。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661F99D7-1C33-4548-8A3F-134E7DE0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95300" y="2124075"/>
          <a:ext xmlns:a="http://schemas.openxmlformats.org/drawingml/2006/main" cx="11201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286250"/>
                <a:gridCol w="4438650"/>
              </a:tblGrid>
              <a:tr h="833438">
                <a:tc>
                  <a:txBody>
                    <a:bodyPr lIns="142875" tIns="114300" rIns="142875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</a:t>
                      </a:r>
                    </a:p>
                  </a:txBody>
                  <a:tcPr marL="91440" marR="91440" marT="45720" marB="45720" anchor="ctr">
                    <a:solidFill>
                      <a:srgbClr val="72338E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为什么成立</a:t>
                      </a:r>
                    </a:p>
                  </a:txBody>
                  <a:tcPr marL="91440" marR="91440" marT="45720" marB="45720" anchor="ctr">
                    <a:solidFill>
                      <a:srgbClr val="72338E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在哪类场景有价值</a:t>
                      </a:r>
                    </a:p>
                  </a:txBody>
                  <a:tcPr marL="91440" marR="91440" marT="45720" marB="45720" anchor="ctr">
                    <a:solidFill>
                      <a:srgbClr val="72338E"/>
                    </a:solidFill>
                  </a:tcPr>
                </a:tc>
              </a:tr>
              <a:tr h="833438"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按关系表达目标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中文功能组合生成目标泊位</a:t>
                      </a:r>
                    </a:p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并组织具体搬运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需求明确、希望直接指定</a:t>
                      </a:r>
                    </a:p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模块关系的空间任务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公共平台共享搬运</a:t>
                      </a:r>
                    </a:p>
                  </a:txBody>
                  <a:tcPr marL="91440" marR="91440" marT="45720" marB="45720" anchor="ctr">
                    <a:solidFill>
                      <a:srgbClr val="F0ECF4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一套桌面XY机构</a:t>
                      </a:r>
                    </a:p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服务8个被动房间</a:t>
                      </a:r>
                    </a:p>
                  </a:txBody>
                  <a:tcPr marL="91440" marR="91440" marT="45720" marB="45720" anchor="ctr">
                    <a:solidFill>
                      <a:srgbClr val="F0ECF4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允许单次搬运一间房的</a:t>
                      </a:r>
                    </a:p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按需重排场景</a:t>
                      </a:r>
                    </a:p>
                  </a:txBody>
                  <a:tcPr marL="91440" marR="91440" marT="45720" marB="45720" anchor="ctr">
                    <a:solidFill>
                      <a:srgbClr val="F0ECF4"/>
                    </a:solidFill>
                  </a:tcPr>
                </a:tc>
              </a:tr>
              <a:tr h="833438"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同一批模块重新配置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科研归位、检修布置</a:t>
                      </a:r>
                    </a:p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二层预留位启用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任务变化频繁、希望复用</a:t>
                      </a:r>
                    </a:p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既有功能模块的方案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B5550EF-CA87-4658-9619-6D064B25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3EE"/>
            </a:solidFill>
          </a:ln>
        </p:spPr>
      </p:sp>
      <p:sp>
        <p:nvSpPr>
          <p:cNvPr id="8" name="text-最值得关注的是任务重组能力，">
            <a:extLst xmlns:a="http://schemas.openxmlformats.org/drawingml/2006/main">
              <a:ext uri="{FF2B5EF4-FFF2-40B4-BE49-F238E27FC236}">
                <a16:creationId xmlns:a16="http://schemas.microsoft.com/office/drawing/2014/main" id="{1DDFF8C9-534B-434D-80EC-FDCA601D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最值得关注的是任务重组能力，以及支撑这项能力的共享机制</a:t>
            </a:r>
          </a:p>
        </p:txBody>
      </p:sp>
    </p:spTree>
    <p:extLst>
      <p:ext uri="{BB962C8B-B14F-4D97-AF65-F5344CB8AC3E}">
        <p14:creationId xmlns:p14="http://schemas.microsoft.com/office/powerpoint/2010/main" val="13719579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备答 02">
            <a:extLst xmlns:a="http://schemas.openxmlformats.org/drawingml/2006/main">
              <a:ext uri="{FF2B5EF4-FFF2-40B4-BE49-F238E27FC236}">
                <a16:creationId xmlns:a16="http://schemas.microsoft.com/office/drawing/2014/main" id="{A3346F65-0618-47B9-B771-38339844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备答 02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b4894e2c44635"/>
          <a:stretch xmlns:a="http://schemas.openxmlformats.org/drawingml/2006/main"/>
        </p:blipFill>
        <p:spPr>
          <a:xfrm xmlns:a="http://schemas.openxmlformats.org/drawingml/2006/main">
            <a:off x="10240370" y="219075"/>
            <a:ext cx="146486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ext-中文调度支持范围">
            <a:extLst xmlns:a="http://schemas.openxmlformats.org/drawingml/2006/main">
              <a:ext uri="{FF2B5EF4-FFF2-40B4-BE49-F238E27FC236}">
                <a16:creationId xmlns:a16="http://schemas.microsoft.com/office/drawing/2014/main" id="{149E69A9-4374-4A84-B265-EC38534A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中文调度支持范围</a:t>
            </a:r>
          </a:p>
        </p:txBody>
      </p:sp>
      <p:sp>
        <p:nvSpPr>
          <p:cNvPr id="4" name="text-离线中文规则解析与约束规划，">
            <a:extLst xmlns:a="http://schemas.openxmlformats.org/drawingml/2006/main">
              <a:ext uri="{FF2B5EF4-FFF2-40B4-BE49-F238E27FC236}">
                <a16:creationId xmlns:a16="http://schemas.microsoft.com/office/drawing/2014/main" id="{47DDF470-8E34-4DA9-A0B4-4DB4F95E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192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离线中文规则解析与约束规划，直接读取当前已停靠布局。</a:t>
            </a:r>
          </a:p>
        </p:txBody>
      </p:sp>
      <p:sp>
        <p:nvSpPr>
          <p:cNvPr id="5" name="text-14">
            <a:extLst xmlns:a="http://schemas.openxmlformats.org/drawingml/2006/main">
              <a:ext uri="{FF2B5EF4-FFF2-40B4-BE49-F238E27FC236}">
                <a16:creationId xmlns:a16="http://schemas.microsoft.com/office/drawing/2014/main" id="{D12612CC-B2F2-4F12-909F-53E28774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text-6类功能模块">
            <a:extLst xmlns:a="http://schemas.openxmlformats.org/drawingml/2006/main">
              <a:ext uri="{FF2B5EF4-FFF2-40B4-BE49-F238E27FC236}">
                <a16:creationId xmlns:a16="http://schemas.microsoft.com/office/drawing/2014/main" id="{05E23846-1455-488F-ABFD-94473F60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6类功能模块</a:t>
            </a:r>
          </a:p>
        </p:txBody>
      </p:sp>
      <p:sp>
        <p:nvSpPr>
          <p:cNvPr id="7" name="diagram-node-材料">
            <a:extLst xmlns:a="http://schemas.openxmlformats.org/drawingml/2006/main">
              <a:ext uri="{FF2B5EF4-FFF2-40B4-BE49-F238E27FC236}">
                <a16:creationId xmlns:a16="http://schemas.microsoft.com/office/drawing/2014/main" id="{A72DD865-19A5-417A-A468-3AB57BCC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276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DCC"/>
          </a:solidFill>
          <a:ln xmlns:a="http://schemas.openxmlformats.org/drawingml/2006/main" w="19050">
            <a:solidFill>
              <a:srgbClr val="3E9DCC"/>
            </a:solidFill>
          </a:ln>
        </p:spPr>
      </p:sp>
      <p:sp>
        <p:nvSpPr>
          <p:cNvPr id="8" name="text-材料">
            <a:extLst xmlns:a="http://schemas.openxmlformats.org/drawingml/2006/main">
              <a:ext uri="{FF2B5EF4-FFF2-40B4-BE49-F238E27FC236}">
                <a16:creationId xmlns:a16="http://schemas.microsoft.com/office/drawing/2014/main" id="{437D8875-DDB7-4A62-9E0D-0528968A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9" name="diagram-node-生命">
            <a:extLst xmlns:a="http://schemas.openxmlformats.org/drawingml/2006/main">
              <a:ext uri="{FF2B5EF4-FFF2-40B4-BE49-F238E27FC236}">
                <a16:creationId xmlns:a16="http://schemas.microsoft.com/office/drawing/2014/main" id="{24F63BF5-C4DF-40A8-B59D-656B56A9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781300"/>
            <a:ext cx="1276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E85"/>
          </a:solidFill>
          <a:ln xmlns:a="http://schemas.openxmlformats.org/drawingml/2006/main" w="19050">
            <a:solidFill>
              <a:srgbClr val="62AE85"/>
            </a:solidFill>
          </a:ln>
        </p:spPr>
      </p:sp>
      <p:sp>
        <p:nvSpPr>
          <p:cNvPr id="10" name="text-生命">
            <a:extLst xmlns:a="http://schemas.openxmlformats.org/drawingml/2006/main">
              <a:ext uri="{FF2B5EF4-FFF2-40B4-BE49-F238E27FC236}">
                <a16:creationId xmlns:a16="http://schemas.microsoft.com/office/drawing/2014/main" id="{CD6AA86E-2EE8-46C2-AC79-4EA61ABF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5750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生命</a:t>
            </a:r>
          </a:p>
        </p:txBody>
      </p:sp>
      <p:sp>
        <p:nvSpPr>
          <p:cNvPr id="11" name="diagram-node-居住">
            <a:extLst xmlns:a="http://schemas.openxmlformats.org/drawingml/2006/main">
              <a:ext uri="{FF2B5EF4-FFF2-40B4-BE49-F238E27FC236}">
                <a16:creationId xmlns:a16="http://schemas.microsoft.com/office/drawing/2014/main" id="{438C6EAB-66AA-4C49-BB56-6E7316BF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1276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F75"/>
          </a:solidFill>
          <a:ln xmlns:a="http://schemas.openxmlformats.org/drawingml/2006/main" w="19050">
            <a:solidFill>
              <a:srgbClr val="D5AF75"/>
            </a:solidFill>
          </a:ln>
        </p:spPr>
      </p:sp>
      <p:sp>
        <p:nvSpPr>
          <p:cNvPr id="12" name="text-居住">
            <a:extLst xmlns:a="http://schemas.openxmlformats.org/drawingml/2006/main">
              <a:ext uri="{FF2B5EF4-FFF2-40B4-BE49-F238E27FC236}">
                <a16:creationId xmlns:a16="http://schemas.microsoft.com/office/drawing/2014/main" id="{53599313-AA7B-4EF1-A2B6-AC8C64B9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居住</a:t>
            </a:r>
          </a:p>
        </p:txBody>
      </p:sp>
      <p:sp>
        <p:nvSpPr>
          <p:cNvPr id="13" name="diagram-node-能源">
            <a:extLst xmlns:a="http://schemas.openxmlformats.org/drawingml/2006/main">
              <a:ext uri="{FF2B5EF4-FFF2-40B4-BE49-F238E27FC236}">
                <a16:creationId xmlns:a16="http://schemas.microsoft.com/office/drawing/2014/main" id="{9896AAC5-4057-4E96-B447-AE090F3F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1276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48"/>
          </a:solidFill>
          <a:ln xmlns:a="http://schemas.openxmlformats.org/drawingml/2006/main" w="19050">
            <a:solidFill>
              <a:srgbClr val="D28A48"/>
            </a:solidFill>
          </a:ln>
        </p:spPr>
      </p:sp>
      <p:sp>
        <p:nvSpPr>
          <p:cNvPr id="14" name="text-能源">
            <a:extLst xmlns:a="http://schemas.openxmlformats.org/drawingml/2006/main">
              <a:ext uri="{FF2B5EF4-FFF2-40B4-BE49-F238E27FC236}">
                <a16:creationId xmlns:a16="http://schemas.microsoft.com/office/drawing/2014/main" id="{B9A43EF4-D03B-461F-8DF0-635DE98C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能源</a:t>
            </a:r>
          </a:p>
        </p:txBody>
      </p:sp>
      <p:sp>
        <p:nvSpPr>
          <p:cNvPr id="15" name="diagram-node-物资">
            <a:extLst xmlns:a="http://schemas.openxmlformats.org/drawingml/2006/main">
              <a:ext uri="{FF2B5EF4-FFF2-40B4-BE49-F238E27FC236}">
                <a16:creationId xmlns:a16="http://schemas.microsoft.com/office/drawing/2014/main" id="{BE85E571-B577-4CD5-91A4-C71C4CDF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619500"/>
            <a:ext cx="1276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16F"/>
          </a:solidFill>
          <a:ln xmlns:a="http://schemas.openxmlformats.org/drawingml/2006/main" w="19050">
            <a:solidFill>
              <a:srgbClr val="BE716F"/>
            </a:solidFill>
          </a:ln>
        </p:spPr>
      </p:sp>
      <p:sp>
        <p:nvSpPr>
          <p:cNvPr id="16" name="text-物资">
            <a:extLst xmlns:a="http://schemas.openxmlformats.org/drawingml/2006/main">
              <a:ext uri="{FF2B5EF4-FFF2-40B4-BE49-F238E27FC236}">
                <a16:creationId xmlns:a16="http://schemas.microsoft.com/office/drawing/2014/main" id="{E8C6001A-74BB-4D49-954A-0C5CA6A3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69570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物资</a:t>
            </a:r>
          </a:p>
        </p:txBody>
      </p:sp>
      <p:sp>
        <p:nvSpPr>
          <p:cNvPr id="17" name="diagram-node-通信">
            <a:extLst xmlns:a="http://schemas.openxmlformats.org/drawingml/2006/main">
              <a:ext uri="{FF2B5EF4-FFF2-40B4-BE49-F238E27FC236}">
                <a16:creationId xmlns:a16="http://schemas.microsoft.com/office/drawing/2014/main" id="{3EF8033A-B995-4F09-AB57-8B13309F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19500"/>
            <a:ext cx="1276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CC7"/>
          </a:solidFill>
          <a:ln xmlns:a="http://schemas.openxmlformats.org/drawingml/2006/main" w="19050">
            <a:solidFill>
              <a:srgbClr val="978CC7"/>
            </a:solidFill>
          </a:ln>
        </p:spPr>
      </p:sp>
      <p:sp>
        <p:nvSpPr>
          <p:cNvPr id="18" name="text-通信">
            <a:extLst xmlns:a="http://schemas.openxmlformats.org/drawingml/2006/main">
              <a:ext uri="{FF2B5EF4-FFF2-40B4-BE49-F238E27FC236}">
                <a16:creationId xmlns:a16="http://schemas.microsoft.com/office/drawing/2014/main" id="{3BECBC4C-B57A-41FB-913B-9C06AF29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9570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通信</a:t>
            </a:r>
          </a:p>
        </p:txBody>
      </p:sp>
      <p:sp>
        <p:nvSpPr>
          <p:cNvPr id="19" name="text-2–5个模块，同层连续直线">
            <a:extLst xmlns:a="http://schemas.openxmlformats.org/drawingml/2006/main">
              <a:ext uri="{FF2B5EF4-FFF2-40B4-BE49-F238E27FC236}">
                <a16:creationId xmlns:a16="http://schemas.microsoft.com/office/drawing/2014/main" id="{174C19A8-DED9-49CD-AA31-85DCB299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2–5个模块，同层连续直线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5495925" y="2143125"/>
          <a:ext xmlns:a="http://schemas.openxmlformats.org/drawingml/2006/main" cx="6210300" cy="3152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400550"/>
              </a:tblGrid>
              <a:tr h="630555">
                <a:tc>
                  <a:txBody>
                    <a:bodyPr lIns="142875" tIns="114300" rIns="142875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可指定</a:t>
                      </a:r>
                    </a:p>
                  </a:txBody>
                  <a:tcPr marL="91440" marR="91440" marT="45720" marB="45720" anchor="ctr">
                    <a:solidFill>
                      <a:srgbClr val="72338E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表达示例</a:t>
                      </a:r>
                    </a:p>
                  </a:txBody>
                  <a:tcPr marL="91440" marR="91440" marT="45720" marB="45720" anchor="ctr">
                    <a:solidFill>
                      <a:srgbClr val="72338E"/>
                    </a:solidFill>
                  </a:tcPr>
                </a:tc>
              </a:tr>
              <a:tr h="630555"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楼层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L1–L5或中文楼层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91440" marR="91440" marT="45720" marB="45720" anchor="ctr">
                    <a:solidFill>
                      <a:srgbClr val="F0ECF4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X方向或Z方向</a:t>
                      </a:r>
                    </a:p>
                  </a:txBody>
                  <a:tcPr marL="91440" marR="91440" marT="45720" marB="45720" anchor="ctr">
                    <a:solidFill>
                      <a:srgbClr val="F0ECF4"/>
                    </a:solidFill>
                  </a:tcPr>
                </a:tc>
              </a:tr>
              <a:tr h="630555"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排列顺序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按输入顺序选择与排列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重复类型</a:t>
                      </a:r>
                    </a:p>
                  </a:txBody>
                  <a:tcPr marL="91440" marR="91440" marT="45720" marB="45720" anchor="ctr">
                    <a:solidFill>
                      <a:srgbClr val="F0ECF4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居住、居住、通信</a:t>
                      </a:r>
                    </a:p>
                  </a:txBody>
                  <a:tcPr marL="91440" marR="91440" marT="45720" marB="45720" anchor="ctr">
                    <a:solidFill>
                      <a:srgbClr val="F0ECF4"/>
                    </a:solidFill>
                  </a:tcPr>
                </a:tc>
              </a:tr>
            </a:tbl>
          </a:graphicData>
        </a:graphic>
      </p:graphicFrame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582927A9-22E0-44B5-81F8-0E9E1261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3EE"/>
            </a:solidFill>
          </a:ln>
        </p:spPr>
      </p:sp>
      <p:sp>
        <p:nvSpPr>
          <p:cNvPr id="22" name="text-运行前检查目标与可达性，执行">
            <a:extLst xmlns:a="http://schemas.openxmlformats.org/drawingml/2006/main">
              <a:ext uri="{FF2B5EF4-FFF2-40B4-BE49-F238E27FC236}">
                <a16:creationId xmlns:a16="http://schemas.microsoft.com/office/drawing/2014/main" id="{98957FD7-C1FB-434A-8A6F-6DC950C2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运行前检查目标与可达性，执行后保留目标组团高亮</a:t>
            </a:r>
          </a:p>
        </p:txBody>
      </p:sp>
    </p:spTree>
    <p:extLst>
      <p:ext uri="{BB962C8B-B14F-4D97-AF65-F5344CB8AC3E}">
        <p14:creationId xmlns:p14="http://schemas.microsoft.com/office/powerpoint/2010/main" val="7766627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备答 03">
            <a:extLst xmlns:a="http://schemas.openxmlformats.org/drawingml/2006/main">
              <a:ext uri="{FF2B5EF4-FFF2-40B4-BE49-F238E27FC236}">
                <a16:creationId xmlns:a16="http://schemas.microsoft.com/office/drawing/2014/main" id="{283ED51B-FB54-4014-BD88-DB9D6584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备答 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5553b4d4a4056"/>
          <a:stretch xmlns:a="http://schemas.openxmlformats.org/drawingml/2006/main"/>
        </p:blipFill>
        <p:spPr>
          <a:xfrm xmlns:a="http://schemas.openxmlformats.org/drawingml/2006/main">
            <a:off x="10240370" y="219075"/>
            <a:ext cx="146486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ext-机构与软件各自展示的对象">
            <a:extLst xmlns:a="http://schemas.openxmlformats.org/drawingml/2006/main">
              <a:ext uri="{FF2B5EF4-FFF2-40B4-BE49-F238E27FC236}">
                <a16:creationId xmlns:a16="http://schemas.microsoft.com/office/drawing/2014/main" id="{E66A52B3-76F8-44AF-A083-32B563BF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机构与软件各自展示的对象</a:t>
            </a:r>
          </a:p>
        </p:txBody>
      </p:sp>
      <p:sp>
        <p:nvSpPr>
          <p:cNvPr id="4" name="text-两种演示分别回答搬运机制与任">
            <a:extLst xmlns:a="http://schemas.openxmlformats.org/drawingml/2006/main">
              <a:ext uri="{FF2B5EF4-FFF2-40B4-BE49-F238E27FC236}">
                <a16:creationId xmlns:a16="http://schemas.microsoft.com/office/drawing/2014/main" id="{29628B51-B63C-4025-AEF8-99CDBAB7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192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两种演示分别回答搬运机制与任务配置问题。</a:t>
            </a:r>
          </a:p>
        </p:txBody>
      </p:sp>
      <p:sp>
        <p:nvSpPr>
          <p:cNvPr id="5" name="text-15">
            <a:extLst xmlns:a="http://schemas.openxmlformats.org/drawingml/2006/main">
              <a:ext uri="{FF2B5EF4-FFF2-40B4-BE49-F238E27FC236}">
                <a16:creationId xmlns:a16="http://schemas.microsoft.com/office/drawing/2014/main" id="{02D65A23-EC7C-4769-9B37-1791DF87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61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95300" y="2143125"/>
          <a:ext xmlns:a="http://schemas.openxmlformats.org/drawingml/2006/main" cx="11201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4286250"/>
                <a:gridCol w="4295775"/>
              </a:tblGrid>
              <a:tr h="857250">
                <a:tc>
                  <a:txBody>
                    <a:bodyPr lIns="142875" tIns="114300" rIns="142875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展示对象</a:t>
                      </a:r>
                    </a:p>
                  </a:txBody>
                  <a:tcPr marL="91440" marR="91440" marT="45720" marB="45720" anchor="ctr">
                    <a:solidFill>
                      <a:srgbClr val="72338E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核心机制</a:t>
                      </a:r>
                    </a:p>
                  </a:txBody>
                  <a:tcPr marL="91440" marR="91440" marT="45720" marB="45720" anchor="ctr">
                    <a:solidFill>
                      <a:srgbClr val="72338E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观众可以看到什么</a:t>
                      </a:r>
                    </a:p>
                  </a:txBody>
                  <a:tcPr marL="91440" marR="91440" marT="45720" marB="45720" anchor="ctr">
                    <a:solidFill>
                      <a:srgbClr val="72338E"/>
                    </a:solidFill>
                  </a:tcPr>
                </a:tc>
              </a:tr>
              <a:tr h="857250"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桌面机构方案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面板承重，板下XY磁头牵引</a:t>
                      </a:r>
                    </a:p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8个被动房间共享驱动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定位、吸合、拖动、释放</a:t>
                      </a:r>
                    </a:p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与等待位周转逻辑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五层24舱软件</a:t>
                      </a:r>
                    </a:p>
                  </a:txBody>
                  <a:tcPr marL="91440" marR="91440" marT="45720" marB="45720" anchor="ctr">
                    <a:solidFill>
                      <a:srgbClr val="F0ECF4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节点占位、路径规划</a:t>
                      </a:r>
                    </a:p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连续包络检查与连接更新</a:t>
                      </a:r>
                    </a:p>
                  </a:txBody>
                  <a:tcPr marL="91440" marR="91440" marT="45720" marB="45720" anchor="ctr">
                    <a:solidFill>
                      <a:srgbClr val="F0ECF4"/>
                    </a:solidFill>
                  </a:tcPr>
                </a:tc>
                <a:tc>
                  <a:txBody>
                    <a:bodyPr lIns="142875" tIns="114300" rIns="142875" bIns="114300"/>
                    <a:lstStyle/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中文目标执行、科研归位</a:t>
                      </a:r>
                    </a:p>
                    <a:p>
                      <a:r>
                        <a:rPr sz="1650" b="0">
                          <a:solidFill>
                            <a:srgbClr val="25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检修布置、预留位启用</a:t>
                      </a:r>
                    </a:p>
                  </a:txBody>
                  <a:tcPr marL="91440" marR="91440" marT="45720" marB="45720" anchor="ctr">
                    <a:solidFill>
                      <a:srgbClr val="F0ECF4"/>
                    </a:solidFill>
                  </a:tcPr>
                </a:tc>
              </a:tr>
            </a:tbl>
          </a:graphicData>
        </a:graphic>
      </p:graphicFrame>
      <p:sp>
        <p:nvSpPr>
          <p:cNvPr id="7" name="text-近期应用：">
            <a:extLst xmlns:a="http://schemas.openxmlformats.org/drawingml/2006/main">
              <a:ext uri="{FF2B5EF4-FFF2-40B4-BE49-F238E27FC236}">
                <a16:creationId xmlns:a16="http://schemas.microsoft.com/office/drawing/2014/main" id="{8D80BB54-0F48-45EA-9928-DFE5910C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14925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近期应用：</a:t>
            </a:r>
          </a:p>
        </p:txBody>
      </p:sp>
      <p:sp>
        <p:nvSpPr>
          <p:cNvPr id="8" name="text-工程创新教学、模块空间方案推">
            <a:extLst xmlns:a="http://schemas.openxmlformats.org/drawingml/2006/main">
              <a:ext uri="{FF2B5EF4-FFF2-40B4-BE49-F238E27FC236}">
                <a16:creationId xmlns:a16="http://schemas.microsoft.com/office/drawing/2014/main" id="{6C3025F8-C5D6-44A3-95D5-3F958923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67300"/>
            <a:ext cx="8753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1D30"/>
                </a:solidFill>
                <a:latin typeface="Microsoft YaHei"/>
                <a:ea typeface="Microsoft YaHei"/>
                <a:cs typeface="Microsoft YaHei"/>
              </a:rPr>
              <a:t>工程创新教学、模块空间方案推演与调度研究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AE32E629-FA1A-4D23-ACAC-DD4EC838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3EE"/>
            </a:solidFill>
          </a:ln>
        </p:spPr>
      </p:sp>
      <p:sp>
        <p:nvSpPr>
          <p:cNvPr id="10" name="text-共同价值：让“空间可以随任务">
            <a:extLst xmlns:a="http://schemas.openxmlformats.org/drawingml/2006/main">
              <a:ext uri="{FF2B5EF4-FFF2-40B4-BE49-F238E27FC236}">
                <a16:creationId xmlns:a16="http://schemas.microsoft.com/office/drawing/2014/main" id="{00A1B289-E864-4D5A-8C50-EB241033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338E"/>
                </a:solidFill>
                <a:latin typeface="Microsoft YaHei"/>
                <a:ea typeface="Microsoft YaHei"/>
                <a:cs typeface="Microsoft YaHei"/>
              </a:rPr>
              <a:t>共同价值：让“空间可以随任务改变”成为可以理解和操作的设计</a:t>
            </a:r>
          </a:p>
        </p:txBody>
      </p:sp>
    </p:spTree>
    <p:extLst>
      <p:ext uri="{BB962C8B-B14F-4D97-AF65-F5344CB8AC3E}">
        <p14:creationId xmlns:p14="http://schemas.microsoft.com/office/powerpoint/2010/main" val="2133375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2026-09-08T09:15:35.7710000Z</dcterms:created>
  <dcterms:modified xsi:type="dcterms:W3CDTF">2026-09-08T09:15:35.7710000Z</dcterms:modified>
</coreProperties>
</file>