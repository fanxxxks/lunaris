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fa3c6c6304cbc" /><Relationship Type="http://schemas.openxmlformats.org/officeDocument/2006/relationships/extended-properties" Target="/docProps/app.xml" Id="R71a19ab5bb7b4a63" /><Relationship Type="http://schemas.openxmlformats.org/officeDocument/2006/relationships/officeDocument" Target="/ppt/presentation.xml" Id="Rec65afaacbc6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aeaec00664daa"/>
  </p:sldMasterIdLst>
  <p:notesMasterIdLst>
    <p:notesMasterId xmlns:r="http://schemas.openxmlformats.org/officeDocument/2006/relationships" r:id="R39f85c39e0df4d13"/>
  </p:notesMasterIdLst>
  <p:sldIdLst>
    <p:sldId xmlns:r="http://schemas.openxmlformats.org/officeDocument/2006/relationships" id="256" r:id="R32a8083dce004484"/>
    <p:sldId xmlns:r="http://schemas.openxmlformats.org/officeDocument/2006/relationships" id="257" r:id="R478a71516dd74179"/>
    <p:sldId xmlns:r="http://schemas.openxmlformats.org/officeDocument/2006/relationships" id="258" r:id="Re82c8dd9f9be45db"/>
    <p:sldId xmlns:r="http://schemas.openxmlformats.org/officeDocument/2006/relationships" id="259" r:id="R5be3eaa8af844b16"/>
    <p:sldId xmlns:r="http://schemas.openxmlformats.org/officeDocument/2006/relationships" id="260" r:id="Ree08f2af2adf455a"/>
    <p:sldId xmlns:r="http://schemas.openxmlformats.org/officeDocument/2006/relationships" id="261" r:id="Ra64f4934017543b1"/>
    <p:sldId xmlns:r="http://schemas.openxmlformats.org/officeDocument/2006/relationships" id="262" r:id="Rac90160be72442ba"/>
    <p:sldId xmlns:r="http://schemas.openxmlformats.org/officeDocument/2006/relationships" id="263" r:id="R9de18dfd59814913"/>
    <p:sldId xmlns:r="http://schemas.openxmlformats.org/officeDocument/2006/relationships" id="264" r:id="R8d96f29fb65c4e49"/>
    <p:sldId xmlns:r="http://schemas.openxmlformats.org/officeDocument/2006/relationships" id="265" r:id="R20532ce9bebb4add"/>
    <p:sldId xmlns:r="http://schemas.openxmlformats.org/officeDocument/2006/relationships" id="266" r:id="R42662b1b60a248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70831876f64da1" /><Relationship Type="http://schemas.openxmlformats.org/officeDocument/2006/relationships/slideMaster" Target="/ppt/slideMasters/slideMaster1.xml" Id="Rb61aeaec00664daa" /><Relationship Type="http://schemas.openxmlformats.org/officeDocument/2006/relationships/notesMaster" Target="/ppt/notesMasters/notesMaster1.xml" Id="R39f85c39e0df4d13" /><Relationship Type="http://schemas.openxmlformats.org/officeDocument/2006/relationships/presProps" Target="/ppt/presProps.xml" Id="Rcfbeb93d3a5a47a2" /><Relationship Type="http://schemas.openxmlformats.org/officeDocument/2006/relationships/tableStyles" Target="/ppt/tableStyles.xml" Id="Rd391fa462ed94efc" /><Relationship Type="http://schemas.openxmlformats.org/officeDocument/2006/relationships/slide" Target="/ppt/slides/slide1.xml" Id="R32a8083dce004484" /><Relationship Type="http://schemas.openxmlformats.org/officeDocument/2006/relationships/slide" Target="/ppt/slides/slide2.xml" Id="R478a71516dd74179" /><Relationship Type="http://schemas.openxmlformats.org/officeDocument/2006/relationships/slide" Target="/ppt/slides/slide3.xml" Id="Re82c8dd9f9be45db" /><Relationship Type="http://schemas.openxmlformats.org/officeDocument/2006/relationships/slide" Target="/ppt/slides/slide4.xml" Id="R5be3eaa8af844b16" /><Relationship Type="http://schemas.openxmlformats.org/officeDocument/2006/relationships/slide" Target="/ppt/slides/slide5.xml" Id="Ree08f2af2adf455a" /><Relationship Type="http://schemas.openxmlformats.org/officeDocument/2006/relationships/slide" Target="/ppt/slides/slide6.xml" Id="Ra64f4934017543b1" /><Relationship Type="http://schemas.openxmlformats.org/officeDocument/2006/relationships/slide" Target="/ppt/slides/slide7.xml" Id="Rac90160be72442ba" /><Relationship Type="http://schemas.openxmlformats.org/officeDocument/2006/relationships/slide" Target="/ppt/slides/slide8.xml" Id="R9de18dfd59814913" /><Relationship Type="http://schemas.openxmlformats.org/officeDocument/2006/relationships/slide" Target="/ppt/slides/slide9.xml" Id="R8d96f29fb65c4e49" /><Relationship Type="http://schemas.openxmlformats.org/officeDocument/2006/relationships/slide" Target="/ppt/slides/slide10.xml" Id="R20532ce9bebb4add" /><Relationship Type="http://schemas.openxmlformats.org/officeDocument/2006/relationships/slide" Target="/ppt/slides/slide11.xml" Id="R42662b1b60a2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03435ef672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6a18ae6b442d3" /><Relationship Type="http://schemas.openxmlformats.org/officeDocument/2006/relationships/notesMaster" Target="/ppt/notesMasters/notesMaster1.xml" Id="R4c8e2b298d0f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f85d1f68514761" /><Relationship Type="http://schemas.openxmlformats.org/officeDocument/2006/relationships/notesMaster" Target="/ppt/notesMasters/notesMaster1.xml" Id="Rc4f7757356a54e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b1910511cb4df1" /><Relationship Type="http://schemas.openxmlformats.org/officeDocument/2006/relationships/notesMaster" Target="/ppt/notesMasters/notesMaster1.xml" Id="Rd115c42b7cfc4e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298c3ef65847a2" /><Relationship Type="http://schemas.openxmlformats.org/officeDocument/2006/relationships/notesMaster" Target="/ppt/notesMasters/notesMaster1.xml" Id="Rd69940427bd744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f570fe50854ccf" /><Relationship Type="http://schemas.openxmlformats.org/officeDocument/2006/relationships/notesMaster" Target="/ppt/notesMasters/notesMaster1.xml" Id="R466cb01f025a49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afef770be14216" /><Relationship Type="http://schemas.openxmlformats.org/officeDocument/2006/relationships/notesMaster" Target="/ppt/notesMasters/notesMaster1.xml" Id="R1f31e45527ab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094e9f3ee848df" /><Relationship Type="http://schemas.openxmlformats.org/officeDocument/2006/relationships/notesMaster" Target="/ppt/notesMasters/notesMaster1.xml" Id="Rd5c5acfcea4745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ce763dd9f8491a" /><Relationship Type="http://schemas.openxmlformats.org/officeDocument/2006/relationships/notesMaster" Target="/ppt/notesMasters/notesMaster1.xml" Id="Rdbd9cf7161d241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828d04243947de" /><Relationship Type="http://schemas.openxmlformats.org/officeDocument/2006/relationships/notesMaster" Target="/ppt/notesMasters/notesMaster1.xml" Id="R0ddfe83e8e7a44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bb4344acd942a0" /><Relationship Type="http://schemas.openxmlformats.org/officeDocument/2006/relationships/notesMaster" Target="/ppt/notesMasters/notesMaster1.xml" Id="Rf7d3bee0a95f46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d10fada9e04f2f" /><Relationship Type="http://schemas.openxmlformats.org/officeDocument/2006/relationships/notesMaster" Target="/ppt/notesMasters/notesMaster1.xml" Id="R2b1a91a4576a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站接到新任务，已经建好的房间，能不能重新安排？月宫华容给出一种办法：让房间的位置可以调整，让已有模块继续服务新的任务。这里的房间，就是承担居住、科研等用途的功能舱。在软件演示中，全站始终是同一批二十四间房，二层却能从六间调到八间。今天，我们一起看这座科研站怎样为下一项任务安排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先从一项具体的科研需求说起。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资料来源：功能舱概念图来自原版《月宫华容_发布会.pptx》。24间及二层6至8来自当前simulation-core.js的district任务。结果为软件演示。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设你负责这座科研站。现在，一项新研究需要把材料实验、生命科学和物资保障三间房安排到二层。房间已经具备，但它们还在一层。任务清单更新以后，空间还需要跟着调整。月宫华容把这种需求直接变成搬运任务：确定要用哪几间房，再由软件安排让位和路线，把它们调到指定位置。这样，基地已有的功能就能换个位置，继续服务新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这次任务有没有完成，看三间房最后在哪里就知道。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资料来源：情境对应simulation-core.js的vertical任务。指定房间为材料R02、生命R03、物资R08，初始均在一层，目标均在二层。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三个房间。任务开始前，它们都在一层。软件安排必要的让位和中转，再逐个把它们搬到二层的指定位置。最后，三间指定房间全部到位。这个结果说明，空间可以按照任务要求重新配置。需要哪些房间、放到哪一层，都能对应到明确的起点和终点，任务需要的空间安排也就落实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同样的重组能力，还能把一层中预留的位置用起来。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资料来源：simulation-core.js：initial与preset('vertical').target。R02/R03/R08从一层进入二层，计划6次完整搬运，含让位动作。三间到位表示指定房间满足目标位置，不表示三间彼此相邻。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看另一项任务。它从同一个起始布局单独演示：二层原来有六间房，还有两个预留位置。软件重新调配已有房间，让二层变成八间。全站房间总数始终是二十四间。这里最值得记住的，是已有房间和预留位置可以一起重新安排。面对新的空间需求，基地手里的这批房间，有了继续调整配置的办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如果想直接说出哪些功能要组合在一起，使用者怎样告诉系统？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资料来源：simulation-core.js的district任务。二层普通泊位入驻6至8，两个原预留位置启用，全站24间守恒。与科研任务分别从统一初态演示，非连续两步任务。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，我们用一句中文给科研站安排一个新组合：构建一条直线相连的居住模块、材料模块、通信模块。软件读取当前布局，选出对应房间，安排让位和搬运。执行后，居住、材料、通信在三层按输入顺序连成一排。这种用法让任务表达更直接：使用者说清楚想要的组合，软件再把它展开成具体的房间、位置和移动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一句目标背后，软件具体要安排哪些事情？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资料来源：lunar-scheduler.js当前初态计算：R15居住、R19材料、R18通信在三层前排连续相连，含让位共9次搬运。使用离线中文规则解析和约束规划。截图为本轮运行软件生成的终态。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先处理落点。如果目标位置已经有房间，就要安排谁先让开、暂时停在哪里。随后处理路线，同层沿导轨移动，换楼层就经过升降通道，并检查搬运途中需要的空间。每次移动一间，其他房间保持停靠。房间停好以后，软件更新它与相邻房间的连接。把顺序和路线一起安排，前面看到的目标组合才有了完整的搬运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其中，让位最容易遇到的问题是：先搬走的房间，暂时放在哪里？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资料来源：simulation-core.js的route、edgeClear、segmentClear、connections，以及lunar-scheduler.js。当前软件场景5层24间42节点，逐间搬运，落位后按相邻关系更新连接。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房间要交换位置，可以先借用一个临时空位。请从左往右看：A先进入临时位，把自己的位置让出来。B再搬过去，最后A进入B原来的位置。交换完成，临时位也重新空了出来。华容道给我们的启发就在这里：在位置可达、通路可通过的条件下，留出周转空间，就能为下一次换位保留余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有地方周转以后，还需要一套带着房间移动的设备。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资料来源：项目策划方案及原版讲稿中的等待位换位逻辑。这里展示可达位置之间的交换顺序，不表示任意拥挤布局都可由一个空位完成，也不是三格线性滑块的邻接移动图。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套桌面机构设计。上面的面板托住房间，下面的磁头可以前后、左右移动，吸住房间后牵引它到新位置，再松开，接着去搬下一间。在这个设计中，八个房间模型轮流使用一套设备，房间由公共平台带着移动。共享搬运的价值很清楚：把驱动集中在平台上，同一套设备就能先后服务不同房间。它适合需要时调整、一次搬动一间的空间重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软件安排任务，机构设计解释共享搬运。它们共同指向同一个价值。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资料来源：原版PPT桌面机构概念图及项目策划方案。配置为1套板下XY机构、8个被动模型，面板承重、磁耦合平面牵引。本页为机构设计展示。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宫华容，让房间按任务重新组合。软件已经展示，指定房间可以调入新的任务区，同一批二十四间房也能完成二层从六间到八间的重新配置。中文指令让组合目标更容易表达，共享搬运设计让多个房间轮流调用平台上的设备。我们希望，未来科研站接到下一项任务时，已经拥有的房间还能重新安排，继续发挥作用。月宫华容，同一批房间，回应下一项任务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资料来源：结论依据simulation-core.js科研与预留位置启用任务、lunar-scheduler.js中文组合，以及桌面共享机构设计。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中文指令可以从六类现有功能中选择二至五个模块，按给定顺序组成同层连续直线，也可以指定楼层和方向。系统使用离线规则解析和约束规划，先读懂支持范围内的目标，再根据当前布局选房间、安排让位与路线。这样，使用者能够知道自己的指令会形成怎样的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资料来源：《仿真软件使用说明.md》自然语言指令章节及lunar-scheduler.js。支持同层直线、X/Z方向，基于当前布局规划。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桌面机构设计解释单个平台怎样牵引房间，八个模型怎样共享设备。交互软件则展示五层、二十四间房怎样按任务重新安排，包括选房间、让位、搬运和落位后的相邻连接。两种展示分别让观众理解搬运机制和完整任务。近期可以用于工程教学与模块空间方案推演。建筑尺度应用将进一步围绕承载、锁定和服务接口开展工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资料来源：现有桌面机构设计、《仿真软件使用说明.md》及当前软件源码。机构概念与软件演示分别呈现，建筑尺度应用为设计方向。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6ff275e3a4f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80bdd5211441c8" /><Relationship Type="http://schemas.openxmlformats.org/officeDocument/2006/relationships/slideLayout" Target="/ppt/slideLayouts/slideLayout1.xml" Id="R09f63b82e1aa44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63b82e1aa44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5d7c75b47400e" /><Relationship Type="http://schemas.openxmlformats.org/officeDocument/2006/relationships/image" Target="/ppt/media/image.png" Id="Ra4d00aa46e9a40fe" /><Relationship Type="http://schemas.openxmlformats.org/officeDocument/2006/relationships/image" Target="/ppt/media/image2.png" Id="Rb8fb0a01b26d4e6e" /><Relationship Type="http://schemas.openxmlformats.org/officeDocument/2006/relationships/notesSlide" Target="/ppt/notesSlides/notesSlide1.xml" Id="Rfe7cf93cc2ab4a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bfeaf928949ca" /><Relationship Type="http://schemas.openxmlformats.org/officeDocument/2006/relationships/image" Target="/ppt/media/image3.png" Id="R82f814e7aea24c7f" /><Relationship Type="http://schemas.openxmlformats.org/officeDocument/2006/relationships/image" Target="/ppt/media/image4.png" Id="R459666d2e6dc42f2" /><Relationship Type="http://schemas.openxmlformats.org/officeDocument/2006/relationships/notesSlide" Target="/ppt/notesSlides/notesSlide2.xml" Id="R3eb3d445530a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305b30fd480f" /><Relationship Type="http://schemas.openxmlformats.org/officeDocument/2006/relationships/image" Target="/ppt/media/image5.png" Id="R683227e063824660" /><Relationship Type="http://schemas.openxmlformats.org/officeDocument/2006/relationships/notesSlide" Target="/ppt/notesSlides/notesSlide3.xml" Id="R8a1587478bb24e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14077a5614e60" /><Relationship Type="http://schemas.openxmlformats.org/officeDocument/2006/relationships/image" Target="/ppt/media/image6.png" Id="R7a2499ca7455488c" /><Relationship Type="http://schemas.openxmlformats.org/officeDocument/2006/relationships/image" Target="/ppt/media/image7.png" Id="Raf0f0cd747824544" /><Relationship Type="http://schemas.openxmlformats.org/officeDocument/2006/relationships/notesSlide" Target="/ppt/notesSlides/notesSlide4.xml" Id="Rb1c3012795fa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2857059864c26" /><Relationship Type="http://schemas.openxmlformats.org/officeDocument/2006/relationships/image" Target="/ppt/media/image8.png" Id="R2f0865fc7a7b4db5" /><Relationship Type="http://schemas.openxmlformats.org/officeDocument/2006/relationships/image" Target="/ppt/media/image9.png" Id="R2f117b6e20c04dd3" /><Relationship Type="http://schemas.openxmlformats.org/officeDocument/2006/relationships/notesSlide" Target="/ppt/notesSlides/notesSlide5.xml" Id="R773d292bbe3e40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4edb7620f48e7" /><Relationship Type="http://schemas.openxmlformats.org/officeDocument/2006/relationships/image" Target="/ppt/media/image10.png" Id="R8d527cca39ca4df0" /><Relationship Type="http://schemas.openxmlformats.org/officeDocument/2006/relationships/image" Target="/ppt/media/image11.png" Id="R2a2252a8619f4845" /><Relationship Type="http://schemas.openxmlformats.org/officeDocument/2006/relationships/notesSlide" Target="/ppt/notesSlides/notesSlide6.xml" Id="Rd594ed9ba481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5fae4ff234e4f" /><Relationship Type="http://schemas.openxmlformats.org/officeDocument/2006/relationships/image" Target="/ppt/media/image12.png" Id="Rb5b3e8658aaf428f" /><Relationship Type="http://schemas.openxmlformats.org/officeDocument/2006/relationships/notesSlide" Target="/ppt/notesSlides/notesSlide7.xml" Id="R9d3ff5619e0e42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2bbb533654cd4" /><Relationship Type="http://schemas.openxmlformats.org/officeDocument/2006/relationships/image" Target="/ppt/media/image13.png" Id="Ra6faee065b364b6a" /><Relationship Type="http://schemas.openxmlformats.org/officeDocument/2006/relationships/image" Target="/ppt/media/image14.png" Id="Rcbcf999057994308" /><Relationship Type="http://schemas.openxmlformats.org/officeDocument/2006/relationships/notesSlide" Target="/ppt/notesSlides/notesSlide8.xml" Id="Rc7db877c112244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ac2953a1a4eee" /><Relationship Type="http://schemas.openxmlformats.org/officeDocument/2006/relationships/notesSlide" Target="/ppt/notesSlides/notesSlide9.xml" Id="R52e4aa69d8fc4f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a1a5bd9104295" /><Relationship Type="http://schemas.openxmlformats.org/officeDocument/2006/relationships/image" Target="/ppt/media/image15.png" Id="R036573b85db240ba" /><Relationship Type="http://schemas.openxmlformats.org/officeDocument/2006/relationships/notesSlide" Target="/ppt/notesSlides/notesSlide10.xml" Id="R7c839130cf154a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fc0699f2f4eae" /><Relationship Type="http://schemas.openxmlformats.org/officeDocument/2006/relationships/image" Target="/ppt/media/image16.png" Id="Rb1f1968bb41744e1" /><Relationship Type="http://schemas.openxmlformats.org/officeDocument/2006/relationships/notesSlide" Target="/ppt/notesSlides/notesSlide11.xml" Id="Rd2321df3304c4e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00aa46e9a40fe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2" name="text-01">
            <a:extLst xmlns:a="http://schemas.openxmlformats.org/drawingml/2006/main">
              <a:ext uri="{FF2B5EF4-FFF2-40B4-BE49-F238E27FC236}">
                <a16:creationId xmlns:a16="http://schemas.microsoft.com/office/drawing/2014/main" id="{3FC5FBE5-C78A-4F63-BB71-A4D43CF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可重构月球科研站设计">
            <a:extLst xmlns:a="http://schemas.openxmlformats.org/drawingml/2006/main">
              <a:ext uri="{FF2B5EF4-FFF2-40B4-BE49-F238E27FC236}">
                <a16:creationId xmlns:a16="http://schemas.microsoft.com/office/drawing/2014/main" id="{281832DE-8B71-4AFA-A8DC-B1AC8501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可重构月球科研站设计</a:t>
            </a:r>
          </a:p>
        </p:txBody>
      </p:sp>
      <p:sp>
        <p:nvSpPr>
          <p:cNvPr id="4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8E9848F8-1F35-4087-9FA3-7C07E3E4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sp>
        <p:nvSpPr>
          <p:cNvPr id="5" name="text-同一批房间">
            <a:extLst xmlns:a="http://schemas.openxmlformats.org/drawingml/2006/main">
              <a:ext uri="{FF2B5EF4-FFF2-40B4-BE49-F238E27FC236}">
                <a16:creationId xmlns:a16="http://schemas.microsoft.com/office/drawing/2014/main" id="{6A864D34-E2E3-4389-8DFE-D6EA72A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同一批房间</a:t>
            </a:r>
          </a:p>
        </p:txBody>
      </p:sp>
      <p:sp>
        <p:nvSpPr>
          <p:cNvPr id="6" name="text-回应下一项任务">
            <a:extLst xmlns:a="http://schemas.openxmlformats.org/drawingml/2006/main">
              <a:ext uri="{FF2B5EF4-FFF2-40B4-BE49-F238E27FC236}">
                <a16:creationId xmlns:a16="http://schemas.microsoft.com/office/drawing/2014/main" id="{E8D15F44-04FA-4EEA-BEB8-5C840586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5619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回应下一项任务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b0a01b26d4e6e"/>
          <a:stretch xmlns:a="http://schemas.openxmlformats.org/drawingml/2006/main"/>
        </p:blipFill>
        <p:spPr>
          <a:xfrm xmlns:a="http://schemas.openxmlformats.org/drawingml/2006/main">
            <a:off x="6289675" y="1581150"/>
            <a:ext cx="5384800" cy="4038600"/>
          </a:xfrm>
          <a:prstGeom xmlns:a="http://schemas.openxmlformats.org/drawingml/2006/main" prst="rect">
            <a:avLst/>
          </a:prstGeom>
        </p:spPr>
      </p:pic>
      <p:sp>
        <p:nvSpPr>
          <p:cNvPr id="8" name="text-功能舱概念效果图">
            <a:extLst xmlns:a="http://schemas.openxmlformats.org/drawingml/2006/main">
              <a:ext uri="{FF2B5EF4-FFF2-40B4-BE49-F238E27FC236}">
                <a16:creationId xmlns:a16="http://schemas.microsoft.com/office/drawing/2014/main" id="{C0416034-92ED-4388-B56E-D370CB8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15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功能舱概念效果图</a:t>
            </a:r>
          </a:p>
        </p:txBody>
      </p:sp>
      <p:sp>
        <p:nvSpPr>
          <p:cNvPr id="9" name="text-软件演示">
            <a:extLst xmlns:a="http://schemas.openxmlformats.org/drawingml/2006/main">
              <a:ext uri="{FF2B5EF4-FFF2-40B4-BE49-F238E27FC236}">
                <a16:creationId xmlns:a16="http://schemas.microsoft.com/office/drawing/2014/main" id="{C56ADEEF-ABD4-461C-BEC6-36D2F621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软件演示</a:t>
            </a:r>
          </a:p>
        </p:txBody>
      </p:sp>
      <p:sp>
        <p:nvSpPr>
          <p:cNvPr id="10" name="text-全站24间不变，二层6间变8间">
            <a:extLst xmlns:a="http://schemas.openxmlformats.org/drawingml/2006/main">
              <a:ext uri="{FF2B5EF4-FFF2-40B4-BE49-F238E27FC236}">
                <a16:creationId xmlns:a16="http://schemas.microsoft.com/office/drawing/2014/main" id="{83589903-EC48-4DA0-9A1B-62BAFFA4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5657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全站24间不变，二层6间变8间</a:t>
            </a:r>
          </a:p>
        </p:txBody>
      </p:sp>
    </p:spTree>
    <p:extLst>
      <p:ext uri="{BB962C8B-B14F-4D97-AF65-F5344CB8AC3E}">
        <p14:creationId xmlns:p14="http://schemas.microsoft.com/office/powerpoint/2010/main" val="1570120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新任务来了，房间也要能换位置">
            <a:extLst xmlns:a="http://schemas.openxmlformats.org/drawingml/2006/main">
              <a:ext uri="{FF2B5EF4-FFF2-40B4-BE49-F238E27FC236}">
                <a16:creationId xmlns:a16="http://schemas.microsoft.com/office/drawing/2014/main" id="{1A8D2C2A-D140-4568-86F1-ABEF2A62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新任务来了，房间也要能换位置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053C6CE3-62D9-4707-A1F3-BDF7E753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814e7aea24c7f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2">
            <a:extLst xmlns:a="http://schemas.openxmlformats.org/drawingml/2006/main">
              <a:ext uri="{FF2B5EF4-FFF2-40B4-BE49-F238E27FC236}">
                <a16:creationId xmlns:a16="http://schemas.microsoft.com/office/drawing/2014/main" id="{D4E4AD20-6006-4479-A929-364332DA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-新研究要用的三间房">
            <a:extLst xmlns:a="http://schemas.openxmlformats.org/drawingml/2006/main">
              <a:ext uri="{FF2B5EF4-FFF2-40B4-BE49-F238E27FC236}">
                <a16:creationId xmlns:a16="http://schemas.microsoft.com/office/drawing/2014/main" id="{A6AC5F23-EE01-4C88-BED7-2E08A10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新研究要用的三间房</a:t>
            </a:r>
          </a:p>
        </p:txBody>
      </p:sp>
      <p:sp>
        <p:nvSpPr>
          <p:cNvPr id="6" name="text-材料实验、生命科学、物资保障&#10;">
            <a:extLst xmlns:a="http://schemas.openxmlformats.org/drawingml/2006/main">
              <a:ext uri="{FF2B5EF4-FFF2-40B4-BE49-F238E27FC236}">
                <a16:creationId xmlns:a16="http://schemas.microsoft.com/office/drawing/2014/main" id="{39391897-E187-4E9A-BA9C-3EE14BB9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7056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材料实验、生命科学、物资保障</a:t>
            </a:r>
          </a:p>
          <a:p xmlns:a="http://schemas.openxmlformats.org/drawingml/2006/main">
            <a:pPr algn="l">
              <a:def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需要一起进入二层任务区</a:t>
            </a:r>
          </a:p>
        </p:txBody>
      </p:sp>
      <p:sp>
        <p:nvSpPr>
          <p:cNvPr id="7" name="text-房间已经具备，位置还在一层">
            <a:extLst xmlns:a="http://schemas.openxmlformats.org/drawingml/2006/main">
              <a:ext uri="{FF2B5EF4-FFF2-40B4-BE49-F238E27FC236}">
                <a16:creationId xmlns:a16="http://schemas.microsoft.com/office/drawing/2014/main" id="{9985A7C4-D3BA-4E97-89DB-5EECA85D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6505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房间已经具备，位置还在一层</a:t>
            </a:r>
          </a:p>
        </p:txBody>
      </p:sp>
      <p:sp>
        <p:nvSpPr>
          <p:cNvPr id="8" name="text-月宫华容让软件安排搬运&#10;把已有">
            <a:extLst xmlns:a="http://schemas.openxmlformats.org/drawingml/2006/main">
              <a:ext uri="{FF2B5EF4-FFF2-40B4-BE49-F238E27FC236}">
                <a16:creationId xmlns:a16="http://schemas.microsoft.com/office/drawing/2014/main" id="{B4EF4728-9C3A-4803-B058-273E707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月宫华容让软件安排搬运</a:t>
            </a:r>
          </a:p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把已有房间调到任务需要的位置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666d2e6dc42f2"/>
          <a:stretch xmlns:a="http://schemas.openxmlformats.org/drawingml/2006/main"/>
        </p:blipFill>
        <p:spPr>
          <a:xfrm xmlns:a="http://schemas.openxmlformats.org/drawingml/2006/main">
            <a:off x="7658100" y="2369551"/>
            <a:ext cx="4019550" cy="2585622"/>
          </a:xfrm>
          <a:prstGeom xmlns:a="http://schemas.openxmlformats.org/drawingml/2006/main" prst="rect">
            <a:avLst/>
          </a:prstGeom>
        </p:spPr>
      </p:pic>
      <p:sp>
        <p:nvSpPr>
          <p:cNvPr id="10" name="text-科研站空间示意">
            <a:extLst xmlns:a="http://schemas.openxmlformats.org/drawingml/2006/main">
              <a:ext uri="{FF2B5EF4-FFF2-40B4-BE49-F238E27FC236}">
                <a16:creationId xmlns:a16="http://schemas.microsoft.com/office/drawing/2014/main" id="{A5A3F48F-7C2D-4DD3-B754-FD70446B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482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科研站空间示意</a:t>
            </a:r>
          </a:p>
        </p:txBody>
      </p:sp>
    </p:spTree>
    <p:extLst>
      <p:ext uri="{BB962C8B-B14F-4D97-AF65-F5344CB8AC3E}">
        <p14:creationId xmlns:p14="http://schemas.microsoft.com/office/powerpoint/2010/main" val="1070544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三间指定房间，按任务全部到位">
            <a:extLst xmlns:a="http://schemas.openxmlformats.org/drawingml/2006/main">
              <a:ext uri="{FF2B5EF4-FFF2-40B4-BE49-F238E27FC236}">
                <a16:creationId xmlns:a16="http://schemas.microsoft.com/office/drawing/2014/main" id="{D4248FAD-1477-40AC-A38F-BD13446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三间指定房间，按任务全部到位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F4CF4294-DD4F-41A9-A0AF-15D8A66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227e063824660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3">
            <a:extLst xmlns:a="http://schemas.openxmlformats.org/drawingml/2006/main">
              <a:ext uri="{FF2B5EF4-FFF2-40B4-BE49-F238E27FC236}">
                <a16:creationId xmlns:a16="http://schemas.microsoft.com/office/drawing/2014/main" id="{0034D889-AEDE-4AF7-B641-87EE5C04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-3 / 3">
            <a:extLst xmlns:a="http://schemas.openxmlformats.org/drawingml/2006/main">
              <a:ext uri="{FF2B5EF4-FFF2-40B4-BE49-F238E27FC236}">
                <a16:creationId xmlns:a16="http://schemas.microsoft.com/office/drawing/2014/main" id="{7AC539A0-DF38-40E1-8C87-E320D97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9528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6" name="text-间指定房间&#10;进入二层任务区">
            <a:extLst xmlns:a="http://schemas.openxmlformats.org/drawingml/2006/main">
              <a:ext uri="{FF2B5EF4-FFF2-40B4-BE49-F238E27FC236}">
                <a16:creationId xmlns:a16="http://schemas.microsoft.com/office/drawing/2014/main" id="{7363E471-4C19-42BE-82C1-15AF2326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3857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间指定房间</a:t>
            </a:r>
          </a:p>
          <a:p xmlns:a="http://schemas.openxmlformats.org/drawingml/2006/main">
            <a:pPr algn="l">
              <a:def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进入二层任务区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219700" y="2124075"/>
          <a:ext xmlns:a="http://schemas.openxmlformats.org/drawingml/2006/main" cx="645795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8450"/>
                <a:gridCol w="1809750"/>
                <a:gridCol w="1809750"/>
              </a:tblGrid>
              <a:tr h="764381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指定房间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任务前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任务后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</a:tr>
              <a:tr h="764381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2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材料实验 R02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2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25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2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生命科学 R03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2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25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2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物资保障 R08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2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25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任务确定需要哪些房间，软件把它">
            <a:extLst xmlns:a="http://schemas.openxmlformats.org/drawingml/2006/main">
              <a:ext uri="{FF2B5EF4-FFF2-40B4-BE49-F238E27FC236}">
                <a16:creationId xmlns:a16="http://schemas.microsoft.com/office/drawing/2014/main" id="{AFA53250-6A68-4E8B-B59B-18710AE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11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任务确定需要哪些房间，软件把它们安排到位</a:t>
            </a:r>
          </a:p>
        </p:txBody>
      </p:sp>
      <p:sp>
        <p:nvSpPr>
          <p:cNvPr id="9" name="text-软件科研任务结果">
            <a:extLst xmlns:a="http://schemas.openxmlformats.org/drawingml/2006/main">
              <a:ext uri="{FF2B5EF4-FFF2-40B4-BE49-F238E27FC236}">
                <a16:creationId xmlns:a16="http://schemas.microsoft.com/office/drawing/2014/main" id="{1F188177-61F3-43AF-8C37-755B671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软件科研任务结果</a:t>
            </a:r>
          </a:p>
        </p:txBody>
      </p:sp>
    </p:spTree>
    <p:extLst>
      <p:ext uri="{BB962C8B-B14F-4D97-AF65-F5344CB8AC3E}">
        <p14:creationId xmlns:p14="http://schemas.microsoft.com/office/powerpoint/2010/main" val="706369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全站24间不变，二层6间变8间">
            <a:extLst xmlns:a="http://schemas.openxmlformats.org/drawingml/2006/main">
              <a:ext uri="{FF2B5EF4-FFF2-40B4-BE49-F238E27FC236}">
                <a16:creationId xmlns:a16="http://schemas.microsoft.com/office/drawing/2014/main" id="{CA3196EB-D9CE-4737-9E30-A739388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全站24间不变，二层6间变8间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5CD91C72-475F-4A74-89BB-F374919F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499ca7455488c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4">
            <a:extLst xmlns:a="http://schemas.openxmlformats.org/drawingml/2006/main">
              <a:ext uri="{FF2B5EF4-FFF2-40B4-BE49-F238E27FC236}">
                <a16:creationId xmlns:a16="http://schemas.microsoft.com/office/drawing/2014/main" id="{CA535A6A-5058-4BBA-93E3-BC51711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-二层入驻">
            <a:extLst xmlns:a="http://schemas.openxmlformats.org/drawingml/2006/main">
              <a:ext uri="{FF2B5EF4-FFF2-40B4-BE49-F238E27FC236}">
                <a16:creationId xmlns:a16="http://schemas.microsoft.com/office/drawing/2014/main" id="{252F956C-EBB6-46A7-9ABF-DF8C35B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95475"/>
            <a:ext cx="569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二层入驻</a:t>
            </a:r>
          </a:p>
        </p:txBody>
      </p:sp>
      <p:sp>
        <p:nvSpPr>
          <p:cNvPr id="6" name="text-6间">
            <a:extLst xmlns:a="http://schemas.openxmlformats.org/drawingml/2006/main">
              <a:ext uri="{FF2B5EF4-FFF2-40B4-BE49-F238E27FC236}">
                <a16:creationId xmlns:a16="http://schemas.microsoft.com/office/drawing/2014/main" id="{B65FD67B-C034-4C40-8B48-5DB02A3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23526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6间</a:t>
            </a:r>
          </a:p>
        </p:txBody>
      </p:sp>
      <p:sp>
        <p:nvSpPr>
          <p:cNvPr id="7" name="text-8间">
            <a:extLst xmlns:a="http://schemas.openxmlformats.org/drawingml/2006/main">
              <a:ext uri="{FF2B5EF4-FFF2-40B4-BE49-F238E27FC236}">
                <a16:creationId xmlns:a16="http://schemas.microsoft.com/office/drawing/2014/main" id="{E6261B8E-952B-43E2-818F-48F52463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381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8间</a:t>
            </a:r>
          </a:p>
        </p:txBody>
      </p:sp>
      <p:sp>
        <p:nvSpPr>
          <p:cNvPr id="8" name="text-任务前">
            <a:extLst xmlns:a="http://schemas.openxmlformats.org/drawingml/2006/main">
              <a:ext uri="{FF2B5EF4-FFF2-40B4-BE49-F238E27FC236}">
                <a16:creationId xmlns:a16="http://schemas.microsoft.com/office/drawing/2014/main" id="{C2B61D9A-A4CE-460E-B329-C1CC0FFA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任务前</a:t>
            </a:r>
          </a:p>
        </p:txBody>
      </p:sp>
      <p:sp>
        <p:nvSpPr>
          <p:cNvPr id="9" name="text-任务后">
            <a:extLst xmlns:a="http://schemas.openxmlformats.org/drawingml/2006/main">
              <a:ext uri="{FF2B5EF4-FFF2-40B4-BE49-F238E27FC236}">
                <a16:creationId xmlns:a16="http://schemas.microsoft.com/office/drawing/2014/main" id="{2D2F5DDA-599C-400B-90FB-E8F05CA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7187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任务后</a:t>
            </a:r>
          </a:p>
        </p:txBody>
      </p:sp>
      <p:sp>
        <p:nvSpPr>
          <p:cNvPr id="10" name="text-全站总量  24间，保持不变">
            <a:extLst xmlns:a="http://schemas.openxmlformats.org/drawingml/2006/main">
              <a:ext uri="{FF2B5EF4-FFF2-40B4-BE49-F238E27FC236}">
                <a16:creationId xmlns:a16="http://schemas.microsoft.com/office/drawing/2014/main" id="{0D096ECA-0E4E-4F94-BA3C-D53CE4AB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77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全站总量  24间，保持不变</a:t>
            </a:r>
          </a:p>
        </p:txBody>
      </p:sp>
      <p:sp>
        <p:nvSpPr>
          <p:cNvPr id="11" name="text-启用二层两个预留位置&#10;重新配置">
            <a:extLst xmlns:a="http://schemas.openxmlformats.org/drawingml/2006/main">
              <a:ext uri="{FF2B5EF4-FFF2-40B4-BE49-F238E27FC236}">
                <a16:creationId xmlns:a16="http://schemas.microsoft.com/office/drawing/2014/main" id="{C657D171-251D-4B21-88FF-A56F406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601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启用二层两个预留位置</a:t>
            </a:r>
          </a:p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重新配置已有房间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f0cd747824544"/>
          <a:stretch xmlns:a="http://schemas.openxmlformats.org/drawingml/2006/main"/>
        </p:blipFill>
        <p:spPr>
          <a:xfrm xmlns:a="http://schemas.openxmlformats.org/drawingml/2006/main">
            <a:off x="6667500" y="2320528"/>
            <a:ext cx="5010150" cy="3131344"/>
          </a:xfrm>
          <a:prstGeom xmlns:a="http://schemas.openxmlformats.org/drawingml/2006/main" prst="rect">
            <a:avLst/>
          </a:prstGeom>
        </p:spPr>
      </p:pic>
      <p:sp>
        <p:nvSpPr>
          <p:cNvPr id="13" name="text-软件终态">
            <a:extLst xmlns:a="http://schemas.openxmlformats.org/drawingml/2006/main">
              <a:ext uri="{FF2B5EF4-FFF2-40B4-BE49-F238E27FC236}">
                <a16:creationId xmlns:a16="http://schemas.microsoft.com/office/drawing/2014/main" id="{5D92787F-F823-4E21-A3FE-7F710D25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53125"/>
            <a:ext cx="2219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软件终态</a:t>
            </a:r>
          </a:p>
        </p:txBody>
      </p:sp>
      <p:sp>
        <p:nvSpPr>
          <p:cNvPr id="14" name="text-独立软件任务，使用统一起始布局">
            <a:extLst xmlns:a="http://schemas.openxmlformats.org/drawingml/2006/main">
              <a:ext uri="{FF2B5EF4-FFF2-40B4-BE49-F238E27FC236}">
                <a16:creationId xmlns:a16="http://schemas.microsoft.com/office/drawing/2014/main" id="{535B56A1-9DAA-45FB-A3CF-CE6AC1C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958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独立软件任务，使用统一起始布局</a:t>
            </a:r>
          </a:p>
        </p:txBody>
      </p:sp>
    </p:spTree>
    <p:extLst>
      <p:ext uri="{BB962C8B-B14F-4D97-AF65-F5344CB8AC3E}">
        <p14:creationId xmlns:p14="http://schemas.microsoft.com/office/powerpoint/2010/main" val="1531092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说出想要的组合，软件安排换位">
            <a:extLst xmlns:a="http://schemas.openxmlformats.org/drawingml/2006/main">
              <a:ext uri="{FF2B5EF4-FFF2-40B4-BE49-F238E27FC236}">
                <a16:creationId xmlns:a16="http://schemas.microsoft.com/office/drawing/2014/main" id="{A13D8284-F4A5-4303-B78C-F6C18F38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说出想要的组合，软件安排换位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E8E83686-6148-4BC4-9695-2A2AC4FF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865fc7a7b4db5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5">
            <a:extLst xmlns:a="http://schemas.openxmlformats.org/drawingml/2006/main">
              <a:ext uri="{FF2B5EF4-FFF2-40B4-BE49-F238E27FC236}">
                <a16:creationId xmlns:a16="http://schemas.microsoft.com/office/drawing/2014/main" id="{C00EABC5-04BF-4D6A-8884-3765384B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-“构建一条直线相连的居住模块、">
            <a:extLst xmlns:a="http://schemas.openxmlformats.org/drawingml/2006/main">
              <a:ext uri="{FF2B5EF4-FFF2-40B4-BE49-F238E27FC236}">
                <a16:creationId xmlns:a16="http://schemas.microsoft.com/office/drawing/2014/main" id="{4685E1E0-D50B-41D4-B21A-006542CB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“构建一条直线相连的居住模块、材料模块、通信模块”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17b6e20c04dd3"/>
          <a:stretch xmlns:a="http://schemas.openxmlformats.org/drawingml/2006/main"/>
        </p:blipFill>
        <p:spPr>
          <a:xfrm xmlns:a="http://schemas.openxmlformats.org/drawingml/2006/main">
            <a:off x="1580197" y="2581275"/>
            <a:ext cx="5440680" cy="3400425"/>
          </a:xfrm>
          <a:prstGeom xmlns:a="http://schemas.openxmlformats.org/drawingml/2006/main" prst="rect">
            <a:avLst/>
          </a:prstGeom>
        </p:spPr>
      </p:pic>
      <p:sp>
        <p:nvSpPr>
          <p:cNvPr id="7" name="text-执行结果">
            <a:extLst xmlns:a="http://schemas.openxmlformats.org/drawingml/2006/main">
              <a:ext uri="{FF2B5EF4-FFF2-40B4-BE49-F238E27FC236}">
                <a16:creationId xmlns:a16="http://schemas.microsoft.com/office/drawing/2014/main" id="{766D7604-E799-41F5-8829-9A0659CC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4320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8" name="text-三层">
            <a:extLst xmlns:a="http://schemas.openxmlformats.org/drawingml/2006/main">
              <a:ext uri="{FF2B5EF4-FFF2-40B4-BE49-F238E27FC236}">
                <a16:creationId xmlns:a16="http://schemas.microsoft.com/office/drawing/2014/main" id="{94599A74-A66E-4080-825D-2340A6C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0517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三层</a:t>
            </a:r>
          </a:p>
        </p:txBody>
      </p:sp>
      <p:sp>
        <p:nvSpPr>
          <p:cNvPr id="9" name="text-居住、材料、通信&#10;按顺序相连">
            <a:extLst xmlns:a="http://schemas.openxmlformats.org/drawingml/2006/main">
              <a:ext uri="{FF2B5EF4-FFF2-40B4-BE49-F238E27FC236}">
                <a16:creationId xmlns:a16="http://schemas.microsoft.com/office/drawing/2014/main" id="{79F484CE-0C91-4614-8BFD-83A3D7A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24325"/>
            <a:ext cx="3000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居住、材料、通信</a:t>
            </a:r>
          </a:p>
          <a:p xmlns:a="http://schemas.openxmlformats.org/drawingml/2006/main">
            <a:pPr algn="l">
              <a:defRPr sz="21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按顺序相连</a:t>
            </a:r>
          </a:p>
        </p:txBody>
      </p:sp>
      <p:sp>
        <p:nvSpPr>
          <p:cNvPr id="10" name="text-软件选择房间&#10;安排让位与路线">
            <a:extLst xmlns:a="http://schemas.openxmlformats.org/drawingml/2006/main">
              <a:ext uri="{FF2B5EF4-FFF2-40B4-BE49-F238E27FC236}">
                <a16:creationId xmlns:a16="http://schemas.microsoft.com/office/drawing/2014/main" id="{A94DC2B7-835A-48EB-9D31-3AD1573B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76850"/>
            <a:ext cx="29813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软件选择房间</a:t>
            </a:r>
          </a:p>
          <a:p xmlns:a="http://schemas.openxmlformats.org/drawingml/2006/main">
            <a:pPr algn="l">
              <a:defRPr sz="18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安排让位与路线</a:t>
            </a:r>
          </a:p>
        </p:txBody>
      </p:sp>
      <p:sp>
        <p:nvSpPr>
          <p:cNvPr id="11" name="text-软件初始布局示例，支持同层连续">
            <a:extLst xmlns:a="http://schemas.openxmlformats.org/drawingml/2006/main">
              <a:ext uri="{FF2B5EF4-FFF2-40B4-BE49-F238E27FC236}">
                <a16:creationId xmlns:a16="http://schemas.microsoft.com/office/drawing/2014/main" id="{CD67AE79-2383-437D-9F97-CBDF1226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软件初始布局示例，支持同层连续直线组合</a:t>
            </a:r>
          </a:p>
        </p:txBody>
      </p:sp>
    </p:spTree>
    <p:extLst>
      <p:ext uri="{BB962C8B-B14F-4D97-AF65-F5344CB8AC3E}">
        <p14:creationId xmlns:p14="http://schemas.microsoft.com/office/powerpoint/2010/main" val="1094887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房间先后怎么搬，软件一起安排">
            <a:extLst xmlns:a="http://schemas.openxmlformats.org/drawingml/2006/main">
              <a:ext uri="{FF2B5EF4-FFF2-40B4-BE49-F238E27FC236}">
                <a16:creationId xmlns:a16="http://schemas.microsoft.com/office/drawing/2014/main" id="{25BC7322-1B2E-4175-8D80-292D6F5B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房间先后怎么搬，软件一起安排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D083E71B-09B8-43F9-81E0-2A28F142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27cca39ca4df0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6">
            <a:extLst xmlns:a="http://schemas.openxmlformats.org/drawingml/2006/main">
              <a:ext uri="{FF2B5EF4-FFF2-40B4-BE49-F238E27FC236}">
                <a16:creationId xmlns:a16="http://schemas.microsoft.com/office/drawing/2014/main" id="{DA3D856E-13CA-40EE-AD21-71EB7E2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252a8619f4845"/>
          <a:stretch xmlns:a="http://schemas.openxmlformats.org/drawingml/2006/main"/>
        </p:blipFill>
        <p:spPr>
          <a:xfrm xmlns:a="http://schemas.openxmlformats.org/drawingml/2006/main">
            <a:off x="542925" y="2584847"/>
            <a:ext cx="4514850" cy="2821781"/>
          </a:xfrm>
          <a:prstGeom xmlns:a="http://schemas.openxmlformats.org/drawingml/2006/main" prst="rect">
            <a:avLst/>
          </a:prstGeom>
        </p:spPr>
      </p:pic>
      <p:sp>
        <p:nvSpPr>
          <p:cNvPr id="6" name="text-软件场景：5层，24间房">
            <a:extLst xmlns:a="http://schemas.openxmlformats.org/drawingml/2006/main">
              <a:ext uri="{FF2B5EF4-FFF2-40B4-BE49-F238E27FC236}">
                <a16:creationId xmlns:a16="http://schemas.microsoft.com/office/drawing/2014/main" id="{0D949A70-2498-4B87-B0A3-D9B21BC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29275"/>
            <a:ext cx="4514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软件场景：5层，24间房</a:t>
            </a:r>
          </a:p>
        </p:txBody>
      </p:sp>
      <p:sp>
        <p:nvSpPr>
          <p:cNvPr id="7" name="text-落点">
            <a:extLst xmlns:a="http://schemas.openxmlformats.org/drawingml/2006/main">
              <a:ext uri="{FF2B5EF4-FFF2-40B4-BE49-F238E27FC236}">
                <a16:creationId xmlns:a16="http://schemas.microsoft.com/office/drawing/2014/main" id="{0734CC31-1C39-48B7-9949-5D8BABB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</p:txBody>
      </p:sp>
      <p:sp>
        <p:nvSpPr>
          <p:cNvPr id="8" name="text-目标位置被占用，就先安排让位">
            <a:extLst xmlns:a="http://schemas.openxmlformats.org/drawingml/2006/main">
              <a:ext uri="{FF2B5EF4-FFF2-40B4-BE49-F238E27FC236}">
                <a16:creationId xmlns:a16="http://schemas.microsoft.com/office/drawing/2014/main" id="{71E84642-2386-4BDF-84F7-91CC2589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7000"/>
            <a:ext cx="6315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目标位置被占用，就先安排让位</a:t>
            </a:r>
          </a:p>
        </p:txBody>
      </p:sp>
      <p:sp>
        <p:nvSpPr>
          <p:cNvPr id="9" name="text-路线">
            <a:extLst xmlns:a="http://schemas.openxmlformats.org/drawingml/2006/main">
              <a:ext uri="{FF2B5EF4-FFF2-40B4-BE49-F238E27FC236}">
                <a16:creationId xmlns:a16="http://schemas.microsoft.com/office/drawing/2014/main" id="{B9B83946-5010-4812-BDCF-D2AD693A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147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10" name="text-同层沿导轨，跨层经过升降通道">
            <a:extLst xmlns:a="http://schemas.openxmlformats.org/drawingml/2006/main">
              <a:ext uri="{FF2B5EF4-FFF2-40B4-BE49-F238E27FC236}">
                <a16:creationId xmlns:a16="http://schemas.microsoft.com/office/drawing/2014/main" id="{B5A0DEF5-8891-4CD2-BE5C-B3969C51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29075"/>
            <a:ext cx="631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同层沿导轨，跨层经过升降通道</a:t>
            </a:r>
          </a:p>
        </p:txBody>
      </p:sp>
      <p:sp>
        <p:nvSpPr>
          <p:cNvPr id="11" name="text-落位">
            <a:extLst xmlns:a="http://schemas.openxmlformats.org/drawingml/2006/main">
              <a:ext uri="{FF2B5EF4-FFF2-40B4-BE49-F238E27FC236}">
                <a16:creationId xmlns:a16="http://schemas.microsoft.com/office/drawing/2014/main" id="{FE217FE1-E139-4B87-A172-23397E3C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958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落位</a:t>
            </a:r>
          </a:p>
        </p:txBody>
      </p:sp>
      <p:sp>
        <p:nvSpPr>
          <p:cNvPr id="12" name="text-停好以后，更新相邻房间的连接">
            <a:extLst xmlns:a="http://schemas.openxmlformats.org/drawingml/2006/main">
              <a:ext uri="{FF2B5EF4-FFF2-40B4-BE49-F238E27FC236}">
                <a16:creationId xmlns:a16="http://schemas.microsoft.com/office/drawing/2014/main" id="{4C346FBB-6C4E-43F0-942B-31D6F87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91150"/>
            <a:ext cx="631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停好以后，更新相邻房间的连接</a:t>
            </a:r>
          </a:p>
        </p:txBody>
      </p:sp>
      <p:sp>
        <p:nvSpPr>
          <p:cNvPr id="13" name="text-每次搬动一间，其他房间保持停靠">
            <a:extLst xmlns:a="http://schemas.openxmlformats.org/drawingml/2006/main">
              <a:ext uri="{FF2B5EF4-FFF2-40B4-BE49-F238E27FC236}">
                <a16:creationId xmlns:a16="http://schemas.microsoft.com/office/drawing/2014/main" id="{136F996E-FBB7-4F8E-91D5-B423B41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05525"/>
            <a:ext cx="613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每次搬动一间，其他房间保持停靠</a:t>
            </a:r>
          </a:p>
        </p:txBody>
      </p:sp>
    </p:spTree>
    <p:extLst>
      <p:ext uri="{BB962C8B-B14F-4D97-AF65-F5344CB8AC3E}">
        <p14:creationId xmlns:p14="http://schemas.microsoft.com/office/powerpoint/2010/main" val="124287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一个临时空位，为换位留出余地">
            <a:extLst xmlns:a="http://schemas.openxmlformats.org/drawingml/2006/main">
              <a:ext uri="{FF2B5EF4-FFF2-40B4-BE49-F238E27FC236}">
                <a16:creationId xmlns:a16="http://schemas.microsoft.com/office/drawing/2014/main" id="{695D03EF-2E24-446E-A135-B206B505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一个临时空位，为换位留出余地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CE3476F0-E9E5-4A66-A00F-CA65492D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3e8658aaf428f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7">
            <a:extLst xmlns:a="http://schemas.openxmlformats.org/drawingml/2006/main">
              <a:ext uri="{FF2B5EF4-FFF2-40B4-BE49-F238E27FC236}">
                <a16:creationId xmlns:a16="http://schemas.microsoft.com/office/drawing/2014/main" id="{C6841B7D-3DE1-4DF1-B9FB-4D373FD5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-A先暂存，B再换位，A最后就位">
            <a:extLst xmlns:a="http://schemas.openxmlformats.org/drawingml/2006/main">
              <a:ext uri="{FF2B5EF4-FFF2-40B4-BE49-F238E27FC236}">
                <a16:creationId xmlns:a16="http://schemas.microsoft.com/office/drawing/2014/main" id="{70E818C9-EA22-4098-8274-CB354A8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2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A先暂存，B再换位，A最后就位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2571750"/>
          <a:ext xmlns:a="http://schemas.openxmlformats.org/drawingml/2006/main" cx="11125200" cy="294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228850"/>
                <a:gridCol w="2228850"/>
                <a:gridCol w="2228850"/>
                <a:gridCol w="2228850"/>
              </a:tblGrid>
              <a:tr h="735806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房间位置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原来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第一步</a:t>
                      </a:r>
                    </a:p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A暂存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第二步</a:t>
                      </a:r>
                    </a:p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B换位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第三步</a:t>
                      </a:r>
                    </a:p>
                    <a:p>
                      <a:pPr algn="ctr"/>
                      <a:r>
                        <a:rPr sz="1725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A就位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</a:tr>
              <a:tr h="735806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70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0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347F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347F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806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70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347F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347F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0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806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70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0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1">
                          <a:solidFill>
                            <a:srgbClr val="7233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700" b="0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交换完成，临时位重新空闲，下次">
            <a:extLst xmlns:a="http://schemas.openxmlformats.org/drawingml/2006/main">
              <a:ext uri="{FF2B5EF4-FFF2-40B4-BE49-F238E27FC236}">
                <a16:creationId xmlns:a16="http://schemas.microsoft.com/office/drawing/2014/main" id="{41322C11-6CBA-4206-AFD2-1EEF9510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交换完成，临时位重新空闲，下次还能用</a:t>
            </a:r>
          </a:p>
        </p:txBody>
      </p:sp>
      <p:sp>
        <p:nvSpPr>
          <p:cNvPr id="8" name="text-换位示意：各位置可达，通路可通">
            <a:extLst xmlns:a="http://schemas.openxmlformats.org/drawingml/2006/main">
              <a:ext uri="{FF2B5EF4-FFF2-40B4-BE49-F238E27FC236}">
                <a16:creationId xmlns:a16="http://schemas.microsoft.com/office/drawing/2014/main" id="{D62B2780-B5BF-45A4-BC49-E0CFC88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换位示意：各位置可达，通路可通过</a:t>
            </a:r>
          </a:p>
        </p:txBody>
      </p:sp>
    </p:spTree>
    <p:extLst>
      <p:ext uri="{BB962C8B-B14F-4D97-AF65-F5344CB8AC3E}">
        <p14:creationId xmlns:p14="http://schemas.microsoft.com/office/powerpoint/2010/main" val="450639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一套设备，轮流搬动八个房间">
            <a:extLst xmlns:a="http://schemas.openxmlformats.org/drawingml/2006/main">
              <a:ext uri="{FF2B5EF4-FFF2-40B4-BE49-F238E27FC236}">
                <a16:creationId xmlns:a16="http://schemas.microsoft.com/office/drawing/2014/main" id="{F64D0170-AC55-4B59-9909-F551C6A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一套设备，轮流搬动八个房间</a:t>
            </a:r>
          </a:p>
        </p:txBody>
      </p:sp>
      <p:sp>
        <p:nvSpPr>
          <p:cNvPr id="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0BD8993C-16A5-4161-8649-F20509A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aee065b364b6a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08">
            <a:extLst xmlns:a="http://schemas.openxmlformats.org/drawingml/2006/main">
              <a:ext uri="{FF2B5EF4-FFF2-40B4-BE49-F238E27FC236}">
                <a16:creationId xmlns:a16="http://schemas.microsoft.com/office/drawing/2014/main" id="{79FB5547-DC9F-4B89-AAA0-6AFC828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-桌面机构设计">
            <a:extLst xmlns:a="http://schemas.openxmlformats.org/drawingml/2006/main">
              <a:ext uri="{FF2B5EF4-FFF2-40B4-BE49-F238E27FC236}">
                <a16:creationId xmlns:a16="http://schemas.microsoft.com/office/drawing/2014/main" id="{226DA6FE-DBA7-4FCC-B51C-665F8DAB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954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桌面机构设计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f999057994308"/>
          <a:stretch xmlns:a="http://schemas.openxmlformats.org/drawingml/2006/main"/>
        </p:blipFill>
        <p:spPr>
          <a:xfrm xmlns:a="http://schemas.openxmlformats.org/drawingml/2006/main">
            <a:off x="1062038" y="2343150"/>
            <a:ext cx="5743575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text-面板托住房间，板下磁头牵引房间">
            <a:extLst xmlns:a="http://schemas.openxmlformats.org/drawingml/2006/main">
              <a:ext uri="{FF2B5EF4-FFF2-40B4-BE49-F238E27FC236}">
                <a16:creationId xmlns:a16="http://schemas.microsoft.com/office/drawing/2014/main" id="{3BFE270E-1346-4E2C-9D5D-10C64127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238875"/>
            <a:ext cx="694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面板托住房间，板下磁头牵引房间</a:t>
            </a:r>
          </a:p>
        </p:txBody>
      </p:sp>
      <p:sp>
        <p:nvSpPr>
          <p:cNvPr id="8" name="text-1套设备">
            <a:extLst xmlns:a="http://schemas.openxmlformats.org/drawingml/2006/main">
              <a:ext uri="{FF2B5EF4-FFF2-40B4-BE49-F238E27FC236}">
                <a16:creationId xmlns:a16="http://schemas.microsoft.com/office/drawing/2014/main" id="{D931B220-CCD5-4601-9ED6-C833B30F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33625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1套设备</a:t>
            </a:r>
          </a:p>
        </p:txBody>
      </p:sp>
      <p:sp>
        <p:nvSpPr>
          <p:cNvPr id="9" name="text-8个房间模型">
            <a:extLst xmlns:a="http://schemas.openxmlformats.org/drawingml/2006/main">
              <a:ext uri="{FF2B5EF4-FFF2-40B4-BE49-F238E27FC236}">
                <a16:creationId xmlns:a16="http://schemas.microsoft.com/office/drawing/2014/main" id="{2E2C7804-E7B6-4D3A-A971-F46AD92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8个房间模型</a:t>
            </a:r>
          </a:p>
        </p:txBody>
      </p:sp>
      <p:sp>
        <p:nvSpPr>
          <p:cNvPr id="10" name="text-一次搬一间&#10;搬完再服务下一间">
            <a:extLst xmlns:a="http://schemas.openxmlformats.org/drawingml/2006/main">
              <a:ext uri="{FF2B5EF4-FFF2-40B4-BE49-F238E27FC236}">
                <a16:creationId xmlns:a16="http://schemas.microsoft.com/office/drawing/2014/main" id="{8EFE0768-8728-4A86-8FB3-18346A8C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57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一次搬一间</a:t>
            </a:r>
          </a:p>
          <a:p xmlns:a="http://schemas.openxmlformats.org/drawingml/2006/main">
            <a:pPr algn="l">
              <a:def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搬完再服务下一间</a:t>
            </a:r>
          </a:p>
        </p:txBody>
      </p:sp>
      <p:sp>
        <p:nvSpPr>
          <p:cNvPr id="11" name="text-驱动集中在平台&#10;多个房间共享搬">
            <a:extLst xmlns:a="http://schemas.openxmlformats.org/drawingml/2006/main">
              <a:ext uri="{FF2B5EF4-FFF2-40B4-BE49-F238E27FC236}">
                <a16:creationId xmlns:a16="http://schemas.microsoft.com/office/drawing/2014/main" id="{582D5415-0648-462D-BD4C-27672AEE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57825"/>
            <a:ext cx="3619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驱动集中在平台</a:t>
            </a:r>
          </a:p>
          <a:p xmlns:a="http://schemas.openxmlformats.org/drawingml/2006/main">
            <a:pPr algn="l">
              <a:defRPr sz="19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多个房间共享搬运能力</a:t>
            </a:r>
          </a:p>
        </p:txBody>
      </p:sp>
    </p:spTree>
    <p:extLst>
      <p:ext uri="{BB962C8B-B14F-4D97-AF65-F5344CB8AC3E}">
        <p14:creationId xmlns:p14="http://schemas.microsoft.com/office/powerpoint/2010/main" val="482087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5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9FB4B0C4-4603-42D0-98F3-E03B1AAF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C6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C6E3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sp>
        <p:nvSpPr>
          <p:cNvPr id="2" name="text-09">
            <a:extLst xmlns:a="http://schemas.openxmlformats.org/drawingml/2006/main">
              <a:ext uri="{FF2B5EF4-FFF2-40B4-BE49-F238E27FC236}">
                <a16:creationId xmlns:a16="http://schemas.microsoft.com/office/drawing/2014/main" id="{F96065A0-8B3E-4859-ABD9-80E467F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CA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A8C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下一项任务">
            <a:extLst xmlns:a="http://schemas.openxmlformats.org/drawingml/2006/main">
              <a:ext uri="{FF2B5EF4-FFF2-40B4-BE49-F238E27FC236}">
                <a16:creationId xmlns:a16="http://schemas.microsoft.com/office/drawing/2014/main" id="{F39B7162-BA0D-4100-8060-785C630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85900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下一项任务</a:t>
            </a:r>
          </a:p>
        </p:txBody>
      </p:sp>
      <p:sp>
        <p:nvSpPr>
          <p:cNvPr id="4" name="text-继续用好这批房间">
            <a:extLst xmlns:a="http://schemas.openxmlformats.org/drawingml/2006/main">
              <a:ext uri="{FF2B5EF4-FFF2-40B4-BE49-F238E27FC236}">
                <a16:creationId xmlns:a16="http://schemas.microsoft.com/office/drawing/2014/main" id="{F366321E-4ED4-4791-8187-158E70E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00300"/>
            <a:ext cx="11020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DDBF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DDBFEA"/>
                </a:solidFill>
                <a:latin typeface="Microsoft YaHei"/>
                <a:ea typeface="Microsoft YaHei"/>
                <a:cs typeface="Microsoft YaHei"/>
              </a:rPr>
              <a:t>继续用好这批房间</a:t>
            </a:r>
          </a:p>
        </p:txBody>
      </p:sp>
      <p:sp>
        <p:nvSpPr>
          <p:cNvPr id="5" name="text-软件让已有房间进入指定任务区&#10;">
            <a:extLst xmlns:a="http://schemas.openxmlformats.org/drawingml/2006/main">
              <a:ext uri="{FF2B5EF4-FFF2-40B4-BE49-F238E27FC236}">
                <a16:creationId xmlns:a16="http://schemas.microsoft.com/office/drawing/2014/main" id="{26652340-3B0A-4CD1-9F84-B270F820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软件让已有房间进入指定任务区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也让二层6间变8间，全站24间保持不变</a:t>
            </a:r>
          </a:p>
        </p:txBody>
      </p:sp>
      <p:sp>
        <p:nvSpPr>
          <p:cNvPr id="6" name="text-共享搬运设计，让多个房间轮流调">
            <a:extLst xmlns:a="http://schemas.openxmlformats.org/drawingml/2006/main">
              <a:ext uri="{FF2B5EF4-FFF2-40B4-BE49-F238E27FC236}">
                <a16:creationId xmlns:a16="http://schemas.microsoft.com/office/drawing/2014/main" id="{FB313F5F-4E5B-4F68-B567-DC328A9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0B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0B9DD"/>
                </a:solidFill>
                <a:latin typeface="Microsoft YaHei"/>
                <a:ea typeface="Microsoft YaHei"/>
                <a:cs typeface="Microsoft YaHei"/>
              </a:rPr>
              <a:t>共享搬运设计，让多个房间轮流调用一套设备</a:t>
            </a:r>
          </a:p>
        </p:txBody>
      </p:sp>
      <p:sp>
        <p:nvSpPr>
          <p:cNvPr id="7" name="text-月宫华容，同一批房间，回应下一">
            <a:extLst xmlns:a="http://schemas.openxmlformats.org/drawingml/2006/main">
              <a:ext uri="{FF2B5EF4-FFF2-40B4-BE49-F238E27FC236}">
                <a16:creationId xmlns:a16="http://schemas.microsoft.com/office/drawing/2014/main" id="{28653438-393C-430B-B5E1-04F8B523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10696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月宫华容，同一批房间，回应下一项任务</a:t>
            </a:r>
          </a:p>
        </p:txBody>
      </p:sp>
    </p:spTree>
    <p:extLst>
      <p:ext uri="{BB962C8B-B14F-4D97-AF65-F5344CB8AC3E}">
        <p14:creationId xmlns:p14="http://schemas.microsoft.com/office/powerpoint/2010/main" val="1297358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中文指令可以安排哪些组合">
            <a:extLst xmlns:a="http://schemas.openxmlformats.org/drawingml/2006/main">
              <a:ext uri="{FF2B5EF4-FFF2-40B4-BE49-F238E27FC236}">
                <a16:creationId xmlns:a16="http://schemas.microsoft.com/office/drawing/2014/main" id="{74C1DCEE-6D59-405C-A9E0-D1878BCA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中文指令可以安排哪些组合</a:t>
            </a:r>
          </a:p>
        </p:txBody>
      </p:sp>
      <p:sp>
        <p:nvSpPr>
          <p:cNvPr id="2" name="text-备答 01">
            <a:extLst xmlns:a="http://schemas.openxmlformats.org/drawingml/2006/main">
              <a:ext uri="{FF2B5EF4-FFF2-40B4-BE49-F238E27FC236}">
                <a16:creationId xmlns:a16="http://schemas.microsoft.com/office/drawing/2014/main" id="{58709FA8-7D2D-47E3-8C8C-D5E97E56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备答 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573b85db240ba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8E783038-A133-4BF8-B1CC-965B31A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-从6类功能中，选择2至5个模块">
            <a:extLst xmlns:a="http://schemas.openxmlformats.org/drawingml/2006/main">
              <a:ext uri="{FF2B5EF4-FFF2-40B4-BE49-F238E27FC236}">
                <a16:creationId xmlns:a16="http://schemas.microsoft.com/office/drawing/2014/main" id="{9A2C030B-51E5-4E27-BDE5-C9D40687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43075"/>
            <a:ext cx="1109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从6类功能中，选择2至5个模块组成同层连续直线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2562225"/>
          <a:ext xmlns:a="http://schemas.openxmlformats.org/drawingml/2006/main" cx="111252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62300"/>
                <a:gridCol w="7962900"/>
              </a:tblGrid>
              <a:tr h="62674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可安排的内容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支持范围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</a:tr>
              <a:tr h="62674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功能类型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居住、材料、生命、能源、物资、通信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楼层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一层至五层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方向与顺序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X或Z方向，按输入顺序排列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02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离线中文规则解析，结合当前布局安排搬运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软件先解析目标，再检查当前布局">
            <a:extLst xmlns:a="http://schemas.openxmlformats.org/drawingml/2006/main">
              <a:ext uri="{FF2B5EF4-FFF2-40B4-BE49-F238E27FC236}">
                <a16:creationId xmlns:a16="http://schemas.microsoft.com/office/drawing/2014/main" id="{2D08649E-1806-4929-AFED-47E77512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91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软件先解析目标，再检查当前布局能否执行</a:t>
            </a:r>
          </a:p>
        </p:txBody>
      </p:sp>
    </p:spTree>
    <p:extLst>
      <p:ext uri="{BB962C8B-B14F-4D97-AF65-F5344CB8AC3E}">
        <p14:creationId xmlns:p14="http://schemas.microsoft.com/office/powerpoint/2010/main" val="1966462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桌面机构与软件，各展示什么">
            <a:extLst xmlns:a="http://schemas.openxmlformats.org/drawingml/2006/main">
              <a:ext uri="{FF2B5EF4-FFF2-40B4-BE49-F238E27FC236}">
                <a16:creationId xmlns:a16="http://schemas.microsoft.com/office/drawing/2014/main" id="{3A1798BC-A7CE-4F61-8699-8ED180D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桌面机构与软件，各展示什么</a:t>
            </a:r>
          </a:p>
        </p:txBody>
      </p:sp>
      <p:sp>
        <p:nvSpPr>
          <p:cNvPr id="2" name="text-备答 02">
            <a:extLst xmlns:a="http://schemas.openxmlformats.org/drawingml/2006/main">
              <a:ext uri="{FF2B5EF4-FFF2-40B4-BE49-F238E27FC236}">
                <a16:creationId xmlns:a16="http://schemas.microsoft.com/office/drawing/2014/main" id="{2FC4EB3A-A5A2-4F0A-AC4D-C8BB0EDC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备答 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1968bb41744e1"/>
          <a:stretch xmlns:a="http://schemas.openxmlformats.org/drawingml/2006/main"/>
        </p:blipFill>
        <p:spPr>
          <a:xfrm xmlns:a="http://schemas.openxmlformats.org/drawingml/2006/main">
            <a:off x="10083279" y="228600"/>
            <a:ext cx="1569493" cy="571500"/>
          </a:xfrm>
          <a:prstGeom xmlns:a="http://schemas.openxmlformats.org/drawingml/2006/main" prst="rect">
            <a:avLst/>
          </a:prstGeom>
        </p:spPr>
      </p:pic>
      <p:sp>
        <p:nvSpPr>
          <p:cNvPr id="4" name="text-11">
            <a:extLst xmlns:a="http://schemas.openxmlformats.org/drawingml/2006/main">
              <a:ext uri="{FF2B5EF4-FFF2-40B4-BE49-F238E27FC236}">
                <a16:creationId xmlns:a16="http://schemas.microsoft.com/office/drawing/2014/main" id="{177C2154-6911-4B99-A89A-EA45A483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637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2143125"/>
          <a:ext xmlns:a="http://schemas.openxmlformats.org/drawingml/2006/main" cx="11125200" cy="2752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048000"/>
                <a:gridCol w="4838700"/>
              </a:tblGrid>
              <a:tr h="91757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展示对象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1800" b="1">
                          <a:solidFill>
                            <a:srgbClr val="6A637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可以看到什么</a:t>
                      </a:r>
                    </a:p>
                  </a:txBody>
                  <a:tcPr marL="91440" marR="91440" marT="45720" marB="45720" anchor="ctr">
                    <a:solidFill>
                      <a:srgbClr val="F0EAF4"/>
                    </a:solidFill>
                  </a:tcPr>
                </a:tc>
              </a:tr>
              <a:tr h="91757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桌面机构设计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1套设备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8个房间模型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共享牵引与临时位置周转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7575">
                <a:tc>
                  <a:txBody>
                    <a:bodyPr lIns="209550" tIns="114300" rIns="152400" bIns="114300"/>
                    <a:lstStyle/>
                    <a:p>
                      <a:pPr algn="l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交互软件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5层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24间房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14300" rIns="152400" bIns="114300"/>
                    <a:lstStyle/>
                    <a:p>
                      <a:pPr algn="ctr"/>
                      <a:r>
                        <a:rPr sz="2175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任务规划、搬运过程与新布局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适用条件">
            <a:extLst xmlns:a="http://schemas.openxmlformats.org/drawingml/2006/main">
              <a:ext uri="{FF2B5EF4-FFF2-40B4-BE49-F238E27FC236}">
                <a16:creationId xmlns:a16="http://schemas.microsoft.com/office/drawing/2014/main" id="{9D9CB20B-4F5A-45F9-B179-033F2634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228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适用条件</a:t>
            </a:r>
          </a:p>
        </p:txBody>
      </p:sp>
      <p:sp>
        <p:nvSpPr>
          <p:cNvPr id="7" name="text-预设可达平台，按需顺序搬运">
            <a:extLst xmlns:a="http://schemas.openxmlformats.org/drawingml/2006/main">
              <a:ext uri="{FF2B5EF4-FFF2-40B4-BE49-F238E27FC236}">
                <a16:creationId xmlns:a16="http://schemas.microsoft.com/office/drawing/2014/main" id="{207E976D-4511-4367-BB51-9FEF5F5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48275"/>
            <a:ext cx="871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预设可达平台，按需顺序搬运</a:t>
            </a:r>
          </a:p>
        </p:txBody>
      </p:sp>
      <p:sp>
        <p:nvSpPr>
          <p:cNvPr id="8" name="text-近期用途">
            <a:extLst xmlns:a="http://schemas.openxmlformats.org/drawingml/2006/main">
              <a:ext uri="{FF2B5EF4-FFF2-40B4-BE49-F238E27FC236}">
                <a16:creationId xmlns:a16="http://schemas.microsoft.com/office/drawing/2014/main" id="{6C9176A8-DB2B-470A-A1C1-7BE1A12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228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近期用途</a:t>
            </a:r>
          </a:p>
        </p:txBody>
      </p:sp>
      <p:sp>
        <p:nvSpPr>
          <p:cNvPr id="9" name="text-工程教学与模块空间方案推演">
            <a:extLst xmlns:a="http://schemas.openxmlformats.org/drawingml/2006/main">
              <a:ext uri="{FF2B5EF4-FFF2-40B4-BE49-F238E27FC236}">
                <a16:creationId xmlns:a16="http://schemas.microsoft.com/office/drawing/2014/main" id="{73A6D269-A1FB-452E-ACDA-709EC81E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34075"/>
            <a:ext cx="871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工程教学与模块空间方案推演</a:t>
            </a:r>
          </a:p>
        </p:txBody>
      </p:sp>
    </p:spTree>
    <p:extLst>
      <p:ext uri="{BB962C8B-B14F-4D97-AF65-F5344CB8AC3E}">
        <p14:creationId xmlns:p14="http://schemas.microsoft.com/office/powerpoint/2010/main" val="1262860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2026-09-08T12:00:33.8960000Z</dcterms:created>
  <dcterms:modified xsi:type="dcterms:W3CDTF">2026-09-08T12:00:33.8960000Z</dcterms:modified>
</coreProperties>
</file>