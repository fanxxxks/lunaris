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495dc1c6fb4201" /><Relationship Type="http://schemas.openxmlformats.org/officeDocument/2006/relationships/extended-properties" Target="/docProps/app.xml" Id="R18920d586c17467e" /><Relationship Type="http://schemas.openxmlformats.org/officeDocument/2006/relationships/officeDocument" Target="/ppt/presentation.xml" Id="Re9ccfe5df2634f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9182d4954f4709"/>
  </p:sldMasterIdLst>
  <p:notesMasterIdLst>
    <p:notesMasterId xmlns:r="http://schemas.openxmlformats.org/officeDocument/2006/relationships" r:id="R47805a4a15d24f47"/>
  </p:notesMasterIdLst>
  <p:sldIdLst>
    <p:sldId xmlns:r="http://schemas.openxmlformats.org/officeDocument/2006/relationships" id="256" r:id="R5ec0b94438c2418c"/>
    <p:sldId xmlns:r="http://schemas.openxmlformats.org/officeDocument/2006/relationships" id="257" r:id="R2da91b5137924175"/>
    <p:sldId xmlns:r="http://schemas.openxmlformats.org/officeDocument/2006/relationships" id="258" r:id="Rd2256c44ccca4796"/>
    <p:sldId xmlns:r="http://schemas.openxmlformats.org/officeDocument/2006/relationships" id="259" r:id="R51900296e22f4d7a"/>
    <p:sldId xmlns:r="http://schemas.openxmlformats.org/officeDocument/2006/relationships" id="260" r:id="Rf5996e61abe74072"/>
    <p:sldId xmlns:r="http://schemas.openxmlformats.org/officeDocument/2006/relationships" id="261" r:id="Rce0bf73f803a4320"/>
    <p:sldId xmlns:r="http://schemas.openxmlformats.org/officeDocument/2006/relationships" id="262" r:id="R7f38e83c147b4435"/>
    <p:sldId xmlns:r="http://schemas.openxmlformats.org/officeDocument/2006/relationships" id="263" r:id="Rfb649a3a39ee49d3"/>
    <p:sldId xmlns:r="http://schemas.openxmlformats.org/officeDocument/2006/relationships" id="264" r:id="R4e32e05aaca74ba5"/>
    <p:sldId xmlns:r="http://schemas.openxmlformats.org/officeDocument/2006/relationships" id="265" r:id="R14793f84c2524cc6"/>
    <p:sldId xmlns:r="http://schemas.openxmlformats.org/officeDocument/2006/relationships" id="266" r:id="R6e593ec6d5494a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1028c376884c9a" /><Relationship Type="http://schemas.openxmlformats.org/officeDocument/2006/relationships/slideMaster" Target="/ppt/slideMasters/slideMaster1.xml" Id="R619182d4954f4709" /><Relationship Type="http://schemas.openxmlformats.org/officeDocument/2006/relationships/notesMaster" Target="/ppt/notesMasters/notesMaster1.xml" Id="R47805a4a15d24f47" /><Relationship Type="http://schemas.openxmlformats.org/officeDocument/2006/relationships/presProps" Target="/ppt/presProps.xml" Id="R4a365466439d429c" /><Relationship Type="http://schemas.openxmlformats.org/officeDocument/2006/relationships/viewProps" Target="/ppt/viewProps.xml" Id="Rb597c782cbd4438f" /><Relationship Type="http://schemas.openxmlformats.org/officeDocument/2006/relationships/tableStyles" Target="/ppt/tableStyles.xml" Id="Rfb3454dea17c4f50" /><Relationship Type="http://schemas.openxmlformats.org/officeDocument/2006/relationships/slide" Target="/ppt/slides/slide1.xml" Id="R5ec0b94438c2418c" /><Relationship Type="http://schemas.openxmlformats.org/officeDocument/2006/relationships/slide" Target="/ppt/slides/slide2.xml" Id="R2da91b5137924175" /><Relationship Type="http://schemas.openxmlformats.org/officeDocument/2006/relationships/slide" Target="/ppt/slides/slide3.xml" Id="Rd2256c44ccca4796" /><Relationship Type="http://schemas.openxmlformats.org/officeDocument/2006/relationships/slide" Target="/ppt/slides/slide4.xml" Id="R51900296e22f4d7a" /><Relationship Type="http://schemas.openxmlformats.org/officeDocument/2006/relationships/slide" Target="/ppt/slides/slide5.xml" Id="Rf5996e61abe74072" /><Relationship Type="http://schemas.openxmlformats.org/officeDocument/2006/relationships/slide" Target="/ppt/slides/slide6.xml" Id="Rce0bf73f803a4320" /><Relationship Type="http://schemas.openxmlformats.org/officeDocument/2006/relationships/slide" Target="/ppt/slides/slide7.xml" Id="R7f38e83c147b4435" /><Relationship Type="http://schemas.openxmlformats.org/officeDocument/2006/relationships/slide" Target="/ppt/slides/slide8.xml" Id="Rfb649a3a39ee49d3" /><Relationship Type="http://schemas.openxmlformats.org/officeDocument/2006/relationships/slide" Target="/ppt/slides/slide9.xml" Id="R4e32e05aaca74ba5" /><Relationship Type="http://schemas.openxmlformats.org/officeDocument/2006/relationships/slide" Target="/ppt/slides/slide10.xml" Id="R14793f84c2524cc6" /><Relationship Type="http://schemas.openxmlformats.org/officeDocument/2006/relationships/slide" Target="/ppt/slides/slide11.xml" Id="R6e593ec6d5494a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5acec2291342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ef93b916684721" /><Relationship Type="http://schemas.openxmlformats.org/officeDocument/2006/relationships/notesMaster" Target="/ppt/notesMasters/notesMaster1.xml" Id="R86a46e55ccf543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b765cb4d554afe" /><Relationship Type="http://schemas.openxmlformats.org/officeDocument/2006/relationships/notesMaster" Target="/ppt/notesMasters/notesMaster1.xml" Id="R2fb29d7b71be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68d54bccba4f48" /><Relationship Type="http://schemas.openxmlformats.org/officeDocument/2006/relationships/notesMaster" Target="/ppt/notesMasters/notesMaster1.xml" Id="R38839c5be2444f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de383da82646bc" /><Relationship Type="http://schemas.openxmlformats.org/officeDocument/2006/relationships/notesMaster" Target="/ppt/notesMasters/notesMaster1.xml" Id="R5785ed4e6c9d4f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8edabb9184b3c" /><Relationship Type="http://schemas.openxmlformats.org/officeDocument/2006/relationships/notesMaster" Target="/ppt/notesMasters/notesMaster1.xml" Id="R0e16912cabe440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e5cd05a4884b6d" /><Relationship Type="http://schemas.openxmlformats.org/officeDocument/2006/relationships/notesMaster" Target="/ppt/notesMasters/notesMaster1.xml" Id="R4657d86e8c9b45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473c8e868b4ea8" /><Relationship Type="http://schemas.openxmlformats.org/officeDocument/2006/relationships/notesMaster" Target="/ppt/notesMasters/notesMaster1.xml" Id="R258a5b8dfb8143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3c783982dd42a7" /><Relationship Type="http://schemas.openxmlformats.org/officeDocument/2006/relationships/notesMaster" Target="/ppt/notesMasters/notesMaster1.xml" Id="Rf1e350c8375042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58c446911a4503" /><Relationship Type="http://schemas.openxmlformats.org/officeDocument/2006/relationships/notesMaster" Target="/ppt/notesMasters/notesMaster1.xml" Id="R5028286b05ff46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d6efcb2db04919" /><Relationship Type="http://schemas.openxmlformats.org/officeDocument/2006/relationships/notesMaster" Target="/ppt/notesMasters/notesMaster1.xml" Id="R1df670d6d76149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f8c261c28e48e6" /><Relationship Type="http://schemas.openxmlformats.org/officeDocument/2006/relationships/notesMaster" Target="/ppt/notesMasters/notesMaster1.xml" Id="Ra41067eaee374e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00:00—00:20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基地的任务会变，房间的位置却常常被一次布局锁住。月宫华容，让空间跟着任务走。今天，我们用共享搬运方案和可操作的软件，展示同一批二十四个舱，怎样重新组成科研区。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</a:t>
            </a:r>
          </a:p>
          <a:p xmlns:a="http://schemas.openxmlformats.org/drawingml/2006/main">
            <a:r>
              <a:t>PPT 第 1 页。面向观众，读出项目名后停顿半秒；说到二十四个舱时，手势指向模型。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设计方案.docx；simulation-core.js 中 config.roomCount=24；房间模型图第 1 张为概念效果图。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00:20—00:40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想象一位月球科研站的负责人：今天要让材料实验和通信协作，明天要把检修区腾出来。如果每次都让人适应原来的房间关系，空间就成了任务的约束。我们的办法是，把布局也放进任务调度里。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</a:t>
            </a:r>
          </a:p>
          <a:p xmlns:a="http://schemas.openxmlformats.org/drawingml/2006/main">
            <a:r>
              <a:t>PPT 第 2 页。用日常聊天的语气讲情境，不朗读背景资料。最后一句指向布局重构这一主张。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情境化叙述；软件提供科研协作、维修隔离和基地扩建任务。长期可扩展设施背景参见 CNSA 2025-04-25 公开材料。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00:40—01:15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，我给科研站安排一个新组合：把居住、材料、通信，直线相连。软件会选择房间、安排让位，再逐段执行搬运。我们只说想要什么关系，系统来组织怎么移动。请看，三个模块按顺序连成了一组。给房间调个工位，也可以说人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</a:t>
            </a:r>
          </a:p>
          <a:p xmlns:a="http://schemas.openxmlformats.org/drawingml/2006/main">
            <a:r>
              <a:t>显示第 3 页约 4 秒后切到软件。使用初始布局，提前设为 16 倍播放。打开自然语言调度，提交预填指令，播放期间继续讲述；完成时指向高亮组团，再切回第 4 页。当前初始布局的代码计算示例为 R15、R19、R18 在 L3 同层直线相连；具体选择以现场计划为准。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当前 HTML 内嵌核心与 lunar-scheduler.js 已逐字核对（统一换行后）；中文规则解析和约束规划；初始布局示例 9 次搬运，模型时序约 397.6 秒，16 倍展示约 24.9 秒，不是实体搬运耗时。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01:15—01:40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房间怎么动？请看这套桌面机构。八个房间，共享一个板下磁头。面板托住房间，磁头负责牵引，定位、吸合、拖动、释放。驱动集中在平台上，房间保持被动结构。像给整排房间配了一位搬家师傅。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</a:t>
            </a:r>
          </a:p>
          <a:p xmlns:a="http://schemas.openxmlformats.org/drawingml/2006/main">
            <a:r>
              <a:t>PPT 第 4 页。指向桌面机构；若展示屏幕原理图，依次指向面板、紫色磁头和被动房间。实体操作以已调试好的装置为准；使用《实物参考.html》时称为机构演示。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实物参考.html 的可见文字与结构：800×600×100 mm，4 mm 面板，8 个 60×40×25 mm 模型房间，单套 XY、唯一磁头。配图是按参考关系生成的机构原理示意，非实机照片。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01:40—02:02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搬家师傅再能干，也得先有地方放。两个房间想交换，先让一个进入等待位，第二个移过去，第一个再归位。等待位又空出来，下一次还能继续用。这就是华容道给我们的启发：留出周转空间，让布局持续可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</a:t>
            </a:r>
          </a:p>
          <a:p xmlns:a="http://schemas.openxmlformats.org/drawingml/2006/main">
            <a:r>
              <a:t>PPT 第 5 页。按中间三步逐项指示。实物已就位时同步指两个房间和等待位；使用纸面或 PPT 示意同样按这三步讲。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设计方案的等待位重排思路。此处为两舱换位逻辑示例；真实路径由平台通道及占位决定。与软件的 42 个节点和 18 个初始空位不是同一个计数口径。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02:02—02:25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回到科研站。软件里的科研协作任务，把三个指定协作舱集中到二层，形成新的同层组团。我们关心的结果很具体：需要一起工作的房间，能按任务重新组织。布局不再停留在图纸上，而是成为可以执行的方案。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</a:t>
            </a:r>
          </a:p>
          <a:p xmlns:a="http://schemas.openxmlformats.org/drawingml/2006/main">
            <a:r>
              <a:t>PPT 第 6 页。指 R02、R03、R08，再指二层组团结果。此处使用结果页直接讲述，三分钟版不再次等待整段软件动画。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simulation-core.js 的 vertical 预设：初始布局下指定协作舱在 L2 为 0 个，终态为 3 个；6 次搬运，全站保持 24 个房间，升降节点清空。此结果是空间配置结果，不换算为科研效率百分比。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02:25—02:45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同一套逻辑还可以服务下一项任务。软件演示中，二层启用两个预留泊位，入住从六个舱变成八个，全站仍是同一批二十四个舱。需要调整的，是它们的组合关系。既有模块因此多了一种继续服务新任务的方式。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</a:t>
            </a:r>
          </a:p>
          <a:p xmlns:a="http://schemas.openxmlformats.org/drawingml/2006/main">
            <a:r>
              <a:t>PPT 第 7 页。先读二层 6 舱与 8 舱，再强调全站 24 舱保持不变。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simulation-core.js 的 district 预设：二层入住 6 至 8，两个预留普通泊位启用，9 次搬运，全站 24 个舱保持不变。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02:45—03:00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月宫华容，把布局变成一项可以调度的能力。共享机构解释怎样换位，软件让任务重组看得见、做得出。我们希望，未来科研站每接到一个新任务，都能重新组织好自己的空间。谢谢。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</a:t>
            </a:r>
          </a:p>
          <a:p xmlns:a="http://schemas.openxmlformats.org/drawingml/2006/main">
            <a:r>
              <a:t>PPT 第 8 页。放慢最后一句，停留结束页。第 9 至 11 页供提问时按需调用。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总结限定于桌面机构设计与软件中的可执行几何调度；月面科研站为应用愿景。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问答备用页</a:t>
            </a:r>
          </a:p>
          <a:p xmlns:a="http://schemas.openxmlformats.org/drawingml/2006/main">
            <a:r>
              <a:t>三个任务均从各自的初始布局独立计算，不串接执行。科研协作 6 次搬运，检修调位 6 次，预留空间启用 9 次。科研结果衡量同层配置，空间缓冲衡量邻位留空，扩建衡量既有舱重组。</a:t>
            </a:r>
          </a:p>
          <a:p xmlns:a="http://schemas.openxmlformats.org/drawingml/2006/main">
            <a:r>
              <a:t>来源：simulation-core.js 的 missions、preset 与 missionMetric。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问答备用页</a:t>
            </a:r>
          </a:p>
          <a:p xmlns:a="http://schemas.openxmlformats.org/drawingml/2006/main">
            <a:r>
              <a:t>在一次移动一个房间的桌面设计里，一套 XY 机构即可轮流牵引八个被动模型，驱动集中到公共平台。它适合按需、顺序重排的场景。我们强调驱动配置的共享价值；完整费用要结合平台、安装和维护一起核算。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资料依据：实物参考.html；设计方案.docx。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问答备用页</a:t>
            </a:r>
          </a:p>
          <a:p xmlns:a="http://schemas.openxmlformats.org/drawingml/2006/main">
            <a:r>
              <a:t>软件展示五层、24 个房间的路径、占位和连接关系重组；实物参考表达单平台上的 XY 牵引机制。它们共同解释任务重构的逻辑。建筑尺度的承载和载人运行属于后续工程验证对象。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应用背景</a:t>
            </a:r>
          </a:p>
          <a:p xmlns:a="http://schemas.openxmlformats.org/drawingml/2006/main">
            <a:r>
              <a:t>国家航天局 国际月球科研站新动态 2025年4月25日</a:t>
            </a:r>
          </a:p>
          <a:p xmlns:a="http://schemas.openxmlformats.org/drawingml/2006/main">
            <a:r>
              <a:t>https://www.cnsa.gov.cn/n6758823/n6758844/n10663475/n10663516/c10668780/content.html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NASA Assessing the Relocation of Artemis Foundational Lunar Surface Concepts 2024</a:t>
            </a:r>
          </a:p>
          <a:p xmlns:a="http://schemas.openxmlformats.org/drawingml/2006/main">
            <a:r>
              <a:t>https://ntrs.nasa.gov/citations/20240002265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图像来源：用户房间模型图与已有软件截图；机构剖视图使用内置图像生成工具，按实物参考的单磁头和板下面板关系生成。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5a7bdc45c43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3cc40828734423" /><Relationship Type="http://schemas.openxmlformats.org/officeDocument/2006/relationships/slideLayout" Target="/ppt/slideLayouts/slideLayout1.xml" Id="R0408fe74bb80495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08fe74bb8049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625066e8b4b42" /><Relationship Type="http://schemas.openxmlformats.org/officeDocument/2006/relationships/image" Target="/ppt/media/image.png" Id="Rde5313cea8824d61" /><Relationship Type="http://schemas.openxmlformats.org/officeDocument/2006/relationships/image" Target="/ppt/media/image2.png" Id="R354f1bee50644dbd" /><Relationship Type="http://schemas.openxmlformats.org/officeDocument/2006/relationships/notesSlide" Target="/ppt/notesSlides/notesSlide1.xml" Id="Rfa8d1d3cb49949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62f85f4844f40" /><Relationship Type="http://schemas.openxmlformats.org/officeDocument/2006/relationships/image" Target="/ppt/media/image.png" Id="Rf804fe8ea9204b59" /><Relationship Type="http://schemas.openxmlformats.org/officeDocument/2006/relationships/image" Target="/ppt/media/image3.png" Id="Rda32ff1891b84248" /><Relationship Type="http://schemas.openxmlformats.org/officeDocument/2006/relationships/notesSlide" Target="/ppt/notesSlides/notesSlide2.xml" Id="R6f9398ec5dff4b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5a13e1ad04f6c" /><Relationship Type="http://schemas.openxmlformats.org/officeDocument/2006/relationships/image" Target="/ppt/media/image.png" Id="Ra8645ec83c3b4d58" /><Relationship Type="http://schemas.openxmlformats.org/officeDocument/2006/relationships/notesSlide" Target="/ppt/notesSlides/notesSlide3.xml" Id="R2882e7e8eaa343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1ca20d1da4884" /><Relationship Type="http://schemas.openxmlformats.org/officeDocument/2006/relationships/image" Target="/ppt/media/image.png" Id="Re6df9fef66e14f39" /><Relationship Type="http://schemas.openxmlformats.org/officeDocument/2006/relationships/image" Target="/ppt/media/image4.png" Id="Rf843b131b459424c" /><Relationship Type="http://schemas.openxmlformats.org/officeDocument/2006/relationships/notesSlide" Target="/ppt/notesSlides/notesSlide4.xml" Id="R3537ff4eaf6349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5f0acf6834c1f" /><Relationship Type="http://schemas.openxmlformats.org/officeDocument/2006/relationships/image" Target="/ppt/media/image.png" Id="Re1c5896df54644af" /><Relationship Type="http://schemas.openxmlformats.org/officeDocument/2006/relationships/notesSlide" Target="/ppt/notesSlides/notesSlide5.xml" Id="Rac1f6c1079c840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80ee326fe4073" /><Relationship Type="http://schemas.openxmlformats.org/officeDocument/2006/relationships/image" Target="/ppt/media/image.png" Id="Rba15945692b14748" /><Relationship Type="http://schemas.openxmlformats.org/officeDocument/2006/relationships/image" Target="/ppt/media/image5.png" Id="R310e07538b8f46f0" /><Relationship Type="http://schemas.openxmlformats.org/officeDocument/2006/relationships/notesSlide" Target="/ppt/notesSlides/notesSlide6.xml" Id="Rf935b5bd191947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e19e9d6b24c4f" /><Relationship Type="http://schemas.openxmlformats.org/officeDocument/2006/relationships/image" Target="/ppt/media/image.png" Id="R68f8dbe53cac44f7" /><Relationship Type="http://schemas.openxmlformats.org/officeDocument/2006/relationships/notesSlide" Target="/ppt/notesSlides/notesSlide7.xml" Id="Rcfcddb72264746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78714473646d5" /><Relationship Type="http://schemas.openxmlformats.org/officeDocument/2006/relationships/image" Target="/ppt/media/image.png" Id="R5ee53f908f194d2b" /><Relationship Type="http://schemas.openxmlformats.org/officeDocument/2006/relationships/notesSlide" Target="/ppt/notesSlides/notesSlide8.xml" Id="Rcffc0b6b7edd40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d86bbbf0645cd" /><Relationship Type="http://schemas.openxmlformats.org/officeDocument/2006/relationships/image" Target="/ppt/media/image.png" Id="R9d2ca575534e4fa7" /><Relationship Type="http://schemas.openxmlformats.org/officeDocument/2006/relationships/notesSlide" Target="/ppt/notesSlides/notesSlide9.xml" Id="R9133e4f702154d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f670d1cfe4d0d" /><Relationship Type="http://schemas.openxmlformats.org/officeDocument/2006/relationships/image" Target="/ppt/media/image.png" Id="R2b22b0f4becf4e83" /><Relationship Type="http://schemas.openxmlformats.org/officeDocument/2006/relationships/notesSlide" Target="/ppt/notesSlides/notesSlide10.xml" Id="R194a827e0a3545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0ccde9d1543fd" /><Relationship Type="http://schemas.openxmlformats.org/officeDocument/2006/relationships/image" Target="/ppt/media/image.png" Id="R7ac69a1bf5a440fe" /><Relationship Type="http://schemas.openxmlformats.org/officeDocument/2006/relationships/notesSlide" Target="/ppt/notesSlides/notesSlide11.xml" Id="R81b8816d8e444b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313cea8824d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123825"/>
            <a:ext cx="175260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4BE282-EB3F-4CF3-8F28-DB37D190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4770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</a:t>
            </a:r>
            <a:endParaRPr sz="1350" b="0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B676E4F-7C2F-478C-93C2-DB44ADA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  <a:endParaRPr sz="4350" b="1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A4ABB100-3D49-4C48-B40D-8788ADA0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051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让科研站的布局</a:t>
            </a:r>
            <a:endParaRPr sz="2700" b="0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28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随任务改变</a:t>
            </a:r>
            <a:endParaRPr sz="2700" b="0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128336-779D-4FC7-93C9-08A6E7F8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可重构月球科研站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f1bee50644dbd"/>
          <a:stretch xmlns:a="http://schemas.openxmlformats.org/drawingml/2006/main"/>
        </p:blipFill>
        <p:spPr>
          <a:xfrm xmlns:a="http://schemas.openxmlformats.org/drawingml/2006/main">
            <a:off x="5838825" y="1609725"/>
            <a:ext cx="5715000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2B1B6EA-B49C-4A31-A52A-9F69B80C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任务驱动的空间重构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4F0B44-D16C-441B-9667-866AFA65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81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功能舱概念效果图</a:t>
            </a:r>
          </a:p>
        </p:txBody>
      </p:sp>
    </p:spTree>
    <p:extLst>
      <p:ext uri="{BB962C8B-B14F-4D97-AF65-F5344CB8AC3E}">
        <p14:creationId xmlns:p14="http://schemas.microsoft.com/office/powerpoint/2010/main" val="200500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4fe8ea9204b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123825"/>
            <a:ext cx="175260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diagram-712">
            <a:extLst xmlns:a="http://schemas.openxmlformats.org/drawingml/2006/main">
              <a:ext uri="{FF2B5EF4-FFF2-40B4-BE49-F238E27FC236}">
                <a16:creationId xmlns:a16="http://schemas.microsoft.com/office/drawing/2014/main" id="{F31F8B76-B181-4EFF-81D1-A3464D0E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4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3" name="line-713">
            <a:extLst xmlns:a="http://schemas.openxmlformats.org/drawingml/2006/main">
              <a:ext uri="{FF2B5EF4-FFF2-40B4-BE49-F238E27FC236}">
                <a16:creationId xmlns:a16="http://schemas.microsoft.com/office/drawing/2014/main" id="{91F2B6F8-E766-49CC-BE3C-69A3AB6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5825"/>
            <a:ext cx="1219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3B3818-1264-4DCA-AAF0-91A91588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"/>
            <a:ext cx="9305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新任务来了 房间也能换个位置</a:t>
            </a:r>
            <a:endParaRPr sz="2700" b="1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38A55D-5959-461E-9AD1-BECF550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4770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2</a:t>
            </a:r>
            <a:endParaRPr sz="1350" b="0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BAF151-DB4E-4266-8569-BE77736E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今天，组成协作区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212D366-2EFE-42B0-B940-0DFF46D8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明天，腾出检修区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CAF7D5-2CBF-4CC5-ABCF-CEBEF816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5334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任务改变时，</a:t>
            </a:r>
          </a:p>
          <a:p xmlns:a="http://schemas.openxmlformats.org/drawingml/2006/main">
            <a:pPr algn="l">
              <a:defRPr sz="23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房间之间的关系也要重排。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ADBC53-C74A-4395-A776-16830DBB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244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把布局纳入任务调度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2ff1891b84248"/>
          <a:stretch xmlns:a="http://schemas.openxmlformats.org/drawingml/2006/main"/>
        </p:blipFill>
        <p:spPr>
          <a:xfrm xmlns:a="http://schemas.openxmlformats.org/drawingml/2006/main">
            <a:off x="7067110" y="1304925"/>
            <a:ext cx="4439530" cy="459105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CE49969-D5E2-4C2B-82DB-B63E3F2D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48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软件场景示意取自已有截图。月面科研站为应用场景。</a:t>
            </a:r>
          </a:p>
        </p:txBody>
      </p:sp>
    </p:spTree>
    <p:extLst>
      <p:ext uri="{BB962C8B-B14F-4D97-AF65-F5344CB8AC3E}">
        <p14:creationId xmlns:p14="http://schemas.microsoft.com/office/powerpoint/2010/main" val="1518750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45ec83c3b4d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123825"/>
            <a:ext cx="175260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diagram-712">
            <a:extLst xmlns:a="http://schemas.openxmlformats.org/drawingml/2006/main">
              <a:ext uri="{FF2B5EF4-FFF2-40B4-BE49-F238E27FC236}">
                <a16:creationId xmlns:a16="http://schemas.microsoft.com/office/drawing/2014/main" id="{F31F8B76-B181-4EFF-81D1-A3464D0E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4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3" name="line-713">
            <a:extLst xmlns:a="http://schemas.openxmlformats.org/drawingml/2006/main">
              <a:ext uri="{FF2B5EF4-FFF2-40B4-BE49-F238E27FC236}">
                <a16:creationId xmlns:a16="http://schemas.microsoft.com/office/drawing/2014/main" id="{91F2B6F8-E766-49CC-BE3C-69A3AB6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5825"/>
            <a:ext cx="1219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3B3818-1264-4DCA-AAF0-91A91588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"/>
            <a:ext cx="9305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一句话 组织一个功能组团</a:t>
            </a:r>
            <a:endParaRPr sz="2700" b="1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38A55D-5959-461E-9AD1-BECF550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4770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3</a:t>
            </a:r>
            <a:endParaRPr sz="1350" b="0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96D3419-32D3-4C1A-922E-938A65DF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85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“构建一条直线相连的</a:t>
            </a:r>
          </a:p>
          <a:p xmlns:a="http://schemas.openxmlformats.org/drawingml/2006/main">
            <a:pPr algn="l">
              <a:defRPr sz="31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居住模块、材料模块、通信模块”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2B9E7C4-6C1A-4139-A4DF-C42B97A7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说出连接目标，系统安排房间与搬运顺序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19125" y="3686175"/>
          <a:ext xmlns:a="http://schemas.openxmlformats.org/drawingml/2006/main" cx="10934700" cy="1724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8550"/>
                <a:gridCol w="3648075"/>
                <a:gridCol w="3648075"/>
              </a:tblGrid>
              <a:tr h="574675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居住模块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材料模块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通信模块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R15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R19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R18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L3 前02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L3 前03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L3 前04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86546F6-0226-4488-BD0A-2A496670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102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初始布局示例：同层、连续、按输入顺序相连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B09113-3E3F-4EC7-90A8-5AAF96CF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48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离线中文规则解析与约束规划；房间选择随当前布局与规划结果确定。</a:t>
            </a:r>
          </a:p>
        </p:txBody>
      </p:sp>
    </p:spTree>
    <p:extLst>
      <p:ext uri="{BB962C8B-B14F-4D97-AF65-F5344CB8AC3E}">
        <p14:creationId xmlns:p14="http://schemas.microsoft.com/office/powerpoint/2010/main" val="1518750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f9fef66e14f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123825"/>
            <a:ext cx="175260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diagram-712">
            <a:extLst xmlns:a="http://schemas.openxmlformats.org/drawingml/2006/main">
              <a:ext uri="{FF2B5EF4-FFF2-40B4-BE49-F238E27FC236}">
                <a16:creationId xmlns:a16="http://schemas.microsoft.com/office/drawing/2014/main" id="{F31F8B76-B181-4EFF-81D1-A3464D0E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4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3" name="line-713">
            <a:extLst xmlns:a="http://schemas.openxmlformats.org/drawingml/2006/main">
              <a:ext uri="{FF2B5EF4-FFF2-40B4-BE49-F238E27FC236}">
                <a16:creationId xmlns:a16="http://schemas.microsoft.com/office/drawing/2014/main" id="{91F2B6F8-E766-49CC-BE3C-69A3AB6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5825"/>
            <a:ext cx="1219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3B3818-1264-4DCA-AAF0-91A91588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"/>
            <a:ext cx="9305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八个房间 共享一套驱动</a:t>
            </a:r>
            <a:endParaRPr sz="2700" b="1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38A55D-5959-461E-9AD1-BECF550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4770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4</a:t>
            </a:r>
            <a:endParaRPr sz="1350" b="0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3b131b459424c"/>
          <a:stretch xmlns:a="http://schemas.openxmlformats.org/drawingml/2006/main"/>
        </p:blipFill>
        <p:spPr>
          <a:xfrm xmlns:a="http://schemas.openxmlformats.org/drawingml/2006/main">
            <a:off x="1159669" y="1333500"/>
            <a:ext cx="7015163" cy="4676775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E92AA7-DB7C-4D93-AD75-6BC406A0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14475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8750EC-CA69-425F-AF26-AFFF6B11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289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套 XY 机构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92F2321-9E9B-440E-8F03-5D38B063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E1B8C9D-5B1D-436E-8316-45A91556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481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个被动房间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DAFDB6A-EDD4-43F4-BDD4-4C1F8E85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面板承重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AD1FA0B-5B41-439C-B45E-D8296287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150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磁耦合牵引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7F11C37-B4A5-41EA-BA45-AAC0EE4E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48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桌面方案尺寸 800 × 600 × 100 mm。配图为机构原理生成示意。</a:t>
            </a:r>
          </a:p>
        </p:txBody>
      </p:sp>
    </p:spTree>
    <p:extLst>
      <p:ext uri="{BB962C8B-B14F-4D97-AF65-F5344CB8AC3E}">
        <p14:creationId xmlns:p14="http://schemas.microsoft.com/office/powerpoint/2010/main" val="15187508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5896df54644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123825"/>
            <a:ext cx="175260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diagram-712">
            <a:extLst xmlns:a="http://schemas.openxmlformats.org/drawingml/2006/main">
              <a:ext uri="{FF2B5EF4-FFF2-40B4-BE49-F238E27FC236}">
                <a16:creationId xmlns:a16="http://schemas.microsoft.com/office/drawing/2014/main" id="{F31F8B76-B181-4EFF-81D1-A3464D0E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4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3" name="line-713">
            <a:extLst xmlns:a="http://schemas.openxmlformats.org/drawingml/2006/main">
              <a:ext uri="{FF2B5EF4-FFF2-40B4-BE49-F238E27FC236}">
                <a16:creationId xmlns:a16="http://schemas.microsoft.com/office/drawing/2014/main" id="{91F2B6F8-E766-49CC-BE3C-69A3AB6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5825"/>
            <a:ext cx="1219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3B3818-1264-4DCA-AAF0-91A91588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"/>
            <a:ext cx="9305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一个等待位 让换位成立</a:t>
            </a:r>
            <a:endParaRPr sz="2700" b="1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38A55D-5959-461E-9AD1-BECF550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4770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5</a:t>
            </a:r>
            <a:endParaRPr sz="1350" b="0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diagram-714">
            <a:extLst xmlns:a="http://schemas.openxmlformats.org/drawingml/2006/main">
              <a:ext uri="{FF2B5EF4-FFF2-40B4-BE49-F238E27FC236}">
                <a16:creationId xmlns:a16="http://schemas.microsoft.com/office/drawing/2014/main" id="{2BA16F14-84EE-462B-AE34-10B0ABF8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381125"/>
            <a:ext cx="2543175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7" name="text-715">
            <a:extLst xmlns:a="http://schemas.openxmlformats.org/drawingml/2006/main">
              <a:ext uri="{FF2B5EF4-FFF2-40B4-BE49-F238E27FC236}">
                <a16:creationId xmlns:a16="http://schemas.microsoft.com/office/drawing/2014/main" id="{710B381B-0906-4ED0-AB72-78464995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2409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两个房间交换位置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diagram-716">
            <a:extLst xmlns:a="http://schemas.openxmlformats.org/drawingml/2006/main">
              <a:ext uri="{FF2B5EF4-FFF2-40B4-BE49-F238E27FC236}">
                <a16:creationId xmlns:a16="http://schemas.microsoft.com/office/drawing/2014/main" id="{7E29BC8D-37BB-4030-9293-9D7286AD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81125"/>
            <a:ext cx="3876675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9" name="text-717">
            <a:extLst xmlns:a="http://schemas.openxmlformats.org/drawingml/2006/main">
              <a:ext uri="{FF2B5EF4-FFF2-40B4-BE49-F238E27FC236}">
                <a16:creationId xmlns:a16="http://schemas.microsoft.com/office/drawing/2014/main" id="{DD9F939F-45EE-4F3B-BBC1-25C11CDB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381125"/>
            <a:ext cx="3743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共享机构逐个搬运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diagram-718">
            <a:extLst xmlns:a="http://schemas.openxmlformats.org/drawingml/2006/main">
              <a:ext uri="{FF2B5EF4-FFF2-40B4-BE49-F238E27FC236}">
                <a16:creationId xmlns:a16="http://schemas.microsoft.com/office/drawing/2014/main" id="{1D433B82-4365-471F-9E44-E94E4F64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381125"/>
            <a:ext cx="2543175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11" name="text-719">
            <a:extLst xmlns:a="http://schemas.openxmlformats.org/drawingml/2006/main">
              <a:ext uri="{FF2B5EF4-FFF2-40B4-BE49-F238E27FC236}">
                <a16:creationId xmlns:a16="http://schemas.microsoft.com/office/drawing/2014/main" id="{17882DF3-4F92-46AD-B015-5553CDC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381125"/>
            <a:ext cx="2409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交换后的布局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diagram-720">
            <a:extLst xmlns:a="http://schemas.openxmlformats.org/drawingml/2006/main">
              <a:ext uri="{FF2B5EF4-FFF2-40B4-BE49-F238E27FC236}">
                <a16:creationId xmlns:a16="http://schemas.microsoft.com/office/drawing/2014/main" id="{0B47F61E-6BDB-4A21-B5E2-2BA53257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428875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3080"/>
            </a:solidFill>
          </a:ln>
        </p:spPr>
      </p:sp>
      <p:sp>
        <p:nvSpPr>
          <p:cNvPr id="13" name="text-721">
            <a:extLst xmlns:a="http://schemas.openxmlformats.org/drawingml/2006/main">
              <a:ext uri="{FF2B5EF4-FFF2-40B4-BE49-F238E27FC236}">
                <a16:creationId xmlns:a16="http://schemas.microsoft.com/office/drawing/2014/main" id="{4AEEE3C9-09A1-4317-8C1B-5FC9F7F9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76450"/>
            <a:ext cx="2371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R1 在 P1</a:t>
            </a:r>
            <a:endParaRPr sz="1800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diagram-722">
            <a:extLst xmlns:a="http://schemas.openxmlformats.org/drawingml/2006/main">
              <a:ext uri="{FF2B5EF4-FFF2-40B4-BE49-F238E27FC236}">
                <a16:creationId xmlns:a16="http://schemas.microsoft.com/office/drawing/2014/main" id="{DE70513F-8F2B-4FDE-BF26-1361D654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2428875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3080"/>
            </a:solidFill>
          </a:ln>
        </p:spPr>
      </p:sp>
      <p:sp>
        <p:nvSpPr>
          <p:cNvPr id="15" name="text-723">
            <a:extLst xmlns:a="http://schemas.openxmlformats.org/drawingml/2006/main">
              <a:ext uri="{FF2B5EF4-FFF2-40B4-BE49-F238E27FC236}">
                <a16:creationId xmlns:a16="http://schemas.microsoft.com/office/drawing/2014/main" id="{7A9285FE-3DE1-4EB4-A054-F0473AEA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05100"/>
            <a:ext cx="2371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R2 在 P2</a:t>
            </a:r>
            <a:endParaRPr sz="1800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diagram-724">
            <a:extLst xmlns:a="http://schemas.openxmlformats.org/drawingml/2006/main">
              <a:ext uri="{FF2B5EF4-FFF2-40B4-BE49-F238E27FC236}">
                <a16:creationId xmlns:a16="http://schemas.microsoft.com/office/drawing/2014/main" id="{180C8677-9FCC-4A01-8D9D-913E2C65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428875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3080"/>
            </a:solidFill>
          </a:ln>
        </p:spPr>
      </p:sp>
      <p:sp>
        <p:nvSpPr>
          <p:cNvPr id="17" name="text-725">
            <a:extLst xmlns:a="http://schemas.openxmlformats.org/drawingml/2006/main">
              <a:ext uri="{FF2B5EF4-FFF2-40B4-BE49-F238E27FC236}">
                <a16:creationId xmlns:a16="http://schemas.microsoft.com/office/drawing/2014/main" id="{1451C0CE-A037-4C30-B165-5693E2A0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33750"/>
            <a:ext cx="2371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目标位置互换</a:t>
            </a:r>
            <a:endParaRPr sz="1800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diagram-726">
            <a:extLst xmlns:a="http://schemas.openxmlformats.org/drawingml/2006/main">
              <a:ext uri="{FF2B5EF4-FFF2-40B4-BE49-F238E27FC236}">
                <a16:creationId xmlns:a16="http://schemas.microsoft.com/office/drawing/2014/main" id="{DBC7EF87-4746-4927-B66F-5C748730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2428875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3080"/>
            </a:solidFill>
          </a:ln>
        </p:spPr>
      </p:sp>
      <p:sp>
        <p:nvSpPr>
          <p:cNvPr id="19" name="text-727">
            <a:extLst xmlns:a="http://schemas.openxmlformats.org/drawingml/2006/main">
              <a:ext uri="{FF2B5EF4-FFF2-40B4-BE49-F238E27FC236}">
                <a16:creationId xmlns:a16="http://schemas.microsoft.com/office/drawing/2014/main" id="{F3B9F43A-2958-4BE1-9D09-E6D6E3EA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62400"/>
            <a:ext cx="2371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W 用于周转</a:t>
            </a:r>
            <a:endParaRPr sz="1800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diagram-728">
            <a:extLst xmlns:a="http://schemas.openxmlformats.org/drawingml/2006/main">
              <a:ext uri="{FF2B5EF4-FFF2-40B4-BE49-F238E27FC236}">
                <a16:creationId xmlns:a16="http://schemas.microsoft.com/office/drawing/2014/main" id="{5788DFCA-EBBB-4171-8DCC-D1783276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019425"/>
            <a:ext cx="647700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noFill/>
          </a:ln>
        </p:spPr>
      </p:sp>
      <p:sp>
        <p:nvSpPr>
          <p:cNvPr id="21" name="diagram-729">
            <a:extLst xmlns:a="http://schemas.openxmlformats.org/drawingml/2006/main">
              <a:ext uri="{FF2B5EF4-FFF2-40B4-BE49-F238E27FC236}">
                <a16:creationId xmlns:a16="http://schemas.microsoft.com/office/drawing/2014/main" id="{577E69D1-C7DF-4A64-A128-3F71E30D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52625"/>
            <a:ext cx="3905250" cy="2914650"/>
          </a:xfrm>
          <a:prstGeom xmlns:a="http://schemas.openxmlformats.org/drawingml/2006/main" prst="roundRect">
            <a:avLst>
              <a:gd name="adj" fmla="val 3268"/>
            </a:avLst>
          </a:prstGeom>
          <a:solidFill xmlns:a="http://schemas.openxmlformats.org/drawingml/2006/main">
            <a:srgbClr val="F5EFF8"/>
          </a:solidFill>
          <a:ln xmlns:a="http://schemas.openxmlformats.org/drawingml/2006/main" w="14288">
            <a:solidFill>
              <a:srgbClr val="703080"/>
            </a:solidFill>
          </a:ln>
        </p:spPr>
      </p:sp>
      <p:sp>
        <p:nvSpPr>
          <p:cNvPr id="22" name="text-730">
            <a:extLst xmlns:a="http://schemas.openxmlformats.org/drawingml/2006/main">
              <a:ext uri="{FF2B5EF4-FFF2-40B4-BE49-F238E27FC236}">
                <a16:creationId xmlns:a16="http://schemas.microsoft.com/office/drawing/2014/main" id="{FBF33EDA-7415-4E70-96A9-560DC23C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3360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① R1 暂存 W</a:t>
            </a:r>
            <a:endParaRPr sz="1950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-731">
            <a:extLst xmlns:a="http://schemas.openxmlformats.org/drawingml/2006/main">
              <a:ext uri="{FF2B5EF4-FFF2-40B4-BE49-F238E27FC236}">
                <a16:creationId xmlns:a16="http://schemas.microsoft.com/office/drawing/2014/main" id="{3BEE3E42-AF61-4DC4-B702-C43D5660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4320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② R2 进入 P1</a:t>
            </a:r>
            <a:endParaRPr sz="1950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-732">
            <a:extLst xmlns:a="http://schemas.openxmlformats.org/drawingml/2006/main">
              <a:ext uri="{FF2B5EF4-FFF2-40B4-BE49-F238E27FC236}">
                <a16:creationId xmlns:a16="http://schemas.microsoft.com/office/drawing/2014/main" id="{FC8425BD-E09E-4AB5-B9D1-49CEEFEB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35280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③ R1 进入 P2</a:t>
            </a:r>
            <a:endParaRPr sz="1950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733">
            <a:extLst xmlns:a="http://schemas.openxmlformats.org/drawingml/2006/main">
              <a:ext uri="{FF2B5EF4-FFF2-40B4-BE49-F238E27FC236}">
                <a16:creationId xmlns:a16="http://schemas.microsoft.com/office/drawing/2014/main" id="{84874123-D3EC-4FF0-B83A-2919CD51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6240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等待位 W 重新空闲</a:t>
            </a:r>
            <a:endParaRPr sz="1950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diagram-734">
            <a:extLst xmlns:a="http://schemas.openxmlformats.org/drawingml/2006/main">
              <a:ext uri="{FF2B5EF4-FFF2-40B4-BE49-F238E27FC236}">
                <a16:creationId xmlns:a16="http://schemas.microsoft.com/office/drawing/2014/main" id="{913FA450-404C-4411-A5D9-AA556CAD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19425"/>
            <a:ext cx="638175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noFill/>
          </a:ln>
        </p:spPr>
      </p:sp>
      <p:sp>
        <p:nvSpPr>
          <p:cNvPr id="27" name="line-735">
            <a:extLst xmlns:a="http://schemas.openxmlformats.org/drawingml/2006/main">
              <a:ext uri="{FF2B5EF4-FFF2-40B4-BE49-F238E27FC236}">
                <a16:creationId xmlns:a16="http://schemas.microsoft.com/office/drawing/2014/main" id="{89018277-0491-4F5D-8E95-DF6C2FED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33600"/>
            <a:ext cx="95" cy="1819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7DD"/>
            </a:solidFill>
          </a:ln>
        </p:spPr>
      </p:sp>
      <p:sp>
        <p:nvSpPr>
          <p:cNvPr id="28" name="line-736">
            <a:extLst xmlns:a="http://schemas.openxmlformats.org/drawingml/2006/main">
              <a:ext uri="{FF2B5EF4-FFF2-40B4-BE49-F238E27FC236}">
                <a16:creationId xmlns:a16="http://schemas.microsoft.com/office/drawing/2014/main" id="{3127E12D-D690-4827-B66C-09A4746C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95" cy="1819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7DD"/>
            </a:solidFill>
          </a:ln>
        </p:spPr>
      </p:sp>
      <p:sp>
        <p:nvSpPr>
          <p:cNvPr id="29" name="line-737">
            <a:extLst xmlns:a="http://schemas.openxmlformats.org/drawingml/2006/main">
              <a:ext uri="{FF2B5EF4-FFF2-40B4-BE49-F238E27FC236}">
                <a16:creationId xmlns:a16="http://schemas.microsoft.com/office/drawing/2014/main" id="{B7994F94-6695-4EAE-BB9A-F66321B3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2133600"/>
            <a:ext cx="95" cy="1819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7DD"/>
            </a:solidFill>
          </a:ln>
        </p:spPr>
      </p:sp>
      <p:sp>
        <p:nvSpPr>
          <p:cNvPr id="30" name="line-738">
            <a:extLst xmlns:a="http://schemas.openxmlformats.org/drawingml/2006/main">
              <a:ext uri="{FF2B5EF4-FFF2-40B4-BE49-F238E27FC236}">
                <a16:creationId xmlns:a16="http://schemas.microsoft.com/office/drawing/2014/main" id="{8480711E-C48E-4897-BA19-38101962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688" y="2133600"/>
            <a:ext cx="95" cy="1819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7DD"/>
            </a:solidFill>
          </a:ln>
        </p:spPr>
      </p:sp>
      <p:sp>
        <p:nvSpPr>
          <p:cNvPr id="31" name="line-739">
            <a:extLst xmlns:a="http://schemas.openxmlformats.org/drawingml/2006/main">
              <a:ext uri="{FF2B5EF4-FFF2-40B4-BE49-F238E27FC236}">
                <a16:creationId xmlns:a16="http://schemas.microsoft.com/office/drawing/2014/main" id="{1ECF4132-4796-4E3A-8C0F-7C78B666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133600"/>
            <a:ext cx="95" cy="1819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7DD"/>
            </a:solidFill>
          </a:ln>
        </p:spPr>
      </p:sp>
      <p:sp>
        <p:nvSpPr>
          <p:cNvPr id="32" name="line-740">
            <a:extLst xmlns:a="http://schemas.openxmlformats.org/drawingml/2006/main">
              <a:ext uri="{FF2B5EF4-FFF2-40B4-BE49-F238E27FC236}">
                <a16:creationId xmlns:a16="http://schemas.microsoft.com/office/drawing/2014/main" id="{6173C645-1EFD-4C4F-A0CC-6C3361D8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133600"/>
            <a:ext cx="95" cy="1819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7DD"/>
            </a:solidFill>
          </a:ln>
        </p:spPr>
      </p:sp>
      <p:sp>
        <p:nvSpPr>
          <p:cNvPr id="33" name="line-741">
            <a:extLst xmlns:a="http://schemas.openxmlformats.org/drawingml/2006/main">
              <a:ext uri="{FF2B5EF4-FFF2-40B4-BE49-F238E27FC236}">
                <a16:creationId xmlns:a16="http://schemas.microsoft.com/office/drawing/2014/main" id="{EB828BB2-64EC-49B1-88E9-935D7580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33600"/>
            <a:ext cx="212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7DD"/>
            </a:solidFill>
          </a:ln>
        </p:spPr>
      </p:sp>
      <p:sp>
        <p:nvSpPr>
          <p:cNvPr id="34" name="line-742">
            <a:extLst xmlns:a="http://schemas.openxmlformats.org/drawingml/2006/main">
              <a:ext uri="{FF2B5EF4-FFF2-40B4-BE49-F238E27FC236}">
                <a16:creationId xmlns:a16="http://schemas.microsoft.com/office/drawing/2014/main" id="{FE5ACE2D-AF09-4ABF-A637-4119C899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212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7DD"/>
            </a:solidFill>
          </a:ln>
        </p:spPr>
      </p:sp>
      <p:sp>
        <p:nvSpPr>
          <p:cNvPr id="35" name="line-743">
            <a:extLst xmlns:a="http://schemas.openxmlformats.org/drawingml/2006/main">
              <a:ext uri="{FF2B5EF4-FFF2-40B4-BE49-F238E27FC236}">
                <a16:creationId xmlns:a16="http://schemas.microsoft.com/office/drawing/2014/main" id="{97DF3209-6C5E-4DD0-A7D1-CC1220EB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3238"/>
            <a:ext cx="212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7DD"/>
            </a:solidFill>
          </a:ln>
        </p:spPr>
      </p:sp>
      <p:sp>
        <p:nvSpPr>
          <p:cNvPr id="36" name="line-744">
            <a:extLst xmlns:a="http://schemas.openxmlformats.org/drawingml/2006/main">
              <a:ext uri="{FF2B5EF4-FFF2-40B4-BE49-F238E27FC236}">
                <a16:creationId xmlns:a16="http://schemas.microsoft.com/office/drawing/2014/main" id="{76E429CD-F735-491B-953B-C6AACE1E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0388"/>
            <a:ext cx="212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7DD"/>
            </a:solidFill>
          </a:ln>
        </p:spPr>
      </p:sp>
      <p:sp>
        <p:nvSpPr>
          <p:cNvPr id="37" name="line-745">
            <a:extLst xmlns:a="http://schemas.openxmlformats.org/drawingml/2006/main">
              <a:ext uri="{FF2B5EF4-FFF2-40B4-BE49-F238E27FC236}">
                <a16:creationId xmlns:a16="http://schemas.microsoft.com/office/drawing/2014/main" id="{D22ABB40-28DA-4681-B39B-AC383A52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52875"/>
            <a:ext cx="212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7DD"/>
            </a:solidFill>
          </a:ln>
        </p:spPr>
      </p:sp>
      <p:sp>
        <p:nvSpPr>
          <p:cNvPr id="38" name="line-746">
            <a:extLst xmlns:a="http://schemas.openxmlformats.org/drawingml/2006/main">
              <a:ext uri="{FF2B5EF4-FFF2-40B4-BE49-F238E27FC236}">
                <a16:creationId xmlns:a16="http://schemas.microsoft.com/office/drawing/2014/main" id="{B38A955E-9F43-48D5-8116-B9946A72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0025"/>
            <a:ext cx="212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7DD"/>
            </a:solidFill>
          </a:ln>
        </p:spPr>
      </p:sp>
      <p:sp>
        <p:nvSpPr>
          <p:cNvPr id="39" name="diagram-747">
            <a:extLst xmlns:a="http://schemas.openxmlformats.org/drawingml/2006/main">
              <a:ext uri="{FF2B5EF4-FFF2-40B4-BE49-F238E27FC236}">
                <a16:creationId xmlns:a16="http://schemas.microsoft.com/office/drawing/2014/main" id="{9B2BA42A-7441-4AFB-932D-7C80A936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8"/>
          </a:solidFill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0" name="diagram-748">
            <a:extLst xmlns:a="http://schemas.openxmlformats.org/drawingml/2006/main">
              <a:ext uri="{FF2B5EF4-FFF2-40B4-BE49-F238E27FC236}">
                <a16:creationId xmlns:a16="http://schemas.microsoft.com/office/drawing/2014/main" id="{0D6578F6-DBF1-49C1-8A24-80E3AB1D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41" name="diagram-749">
            <a:extLst xmlns:a="http://schemas.openxmlformats.org/drawingml/2006/main">
              <a:ext uri="{FF2B5EF4-FFF2-40B4-BE49-F238E27FC236}">
                <a16:creationId xmlns:a16="http://schemas.microsoft.com/office/drawing/2014/main" id="{BC8A5AE6-30DD-4A9F-827A-9DAF9B08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3241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42" name="diagram-750">
            <a:extLst xmlns:a="http://schemas.openxmlformats.org/drawingml/2006/main">
              <a:ext uri="{FF2B5EF4-FFF2-40B4-BE49-F238E27FC236}">
                <a16:creationId xmlns:a16="http://schemas.microsoft.com/office/drawing/2014/main" id="{20294B66-1293-4285-BE2F-6FFAEDC1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14625"/>
            <a:ext cx="76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43" name="diagram-751">
            <a:extLst xmlns:a="http://schemas.openxmlformats.org/drawingml/2006/main">
              <a:ext uri="{FF2B5EF4-FFF2-40B4-BE49-F238E27FC236}">
                <a16:creationId xmlns:a16="http://schemas.microsoft.com/office/drawing/2014/main" id="{F90ECABA-70DE-4532-B057-3BE74C29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228975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8"/>
          </a:solidFill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4" name="diagram-752">
            <a:extLst xmlns:a="http://schemas.openxmlformats.org/drawingml/2006/main">
              <a:ext uri="{FF2B5EF4-FFF2-40B4-BE49-F238E27FC236}">
                <a16:creationId xmlns:a16="http://schemas.microsoft.com/office/drawing/2014/main" id="{4AB1B739-34DA-4DE1-B268-F4366D0D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2289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45" name="diagram-753">
            <a:extLst xmlns:a="http://schemas.openxmlformats.org/drawingml/2006/main">
              <a:ext uri="{FF2B5EF4-FFF2-40B4-BE49-F238E27FC236}">
                <a16:creationId xmlns:a16="http://schemas.microsoft.com/office/drawing/2014/main" id="{CE4B054E-0EBF-47E9-8AEF-33226522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2289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46" name="diagram-754">
            <a:extLst xmlns:a="http://schemas.openxmlformats.org/drawingml/2006/main">
              <a:ext uri="{FF2B5EF4-FFF2-40B4-BE49-F238E27FC236}">
                <a16:creationId xmlns:a16="http://schemas.microsoft.com/office/drawing/2014/main" id="{715B5480-773C-4F0D-8E85-F6DFDF72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619500"/>
            <a:ext cx="76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47" name="diagram-755">
            <a:extLst xmlns:a="http://schemas.openxmlformats.org/drawingml/2006/main">
              <a:ext uri="{FF2B5EF4-FFF2-40B4-BE49-F238E27FC236}">
                <a16:creationId xmlns:a16="http://schemas.microsoft.com/office/drawing/2014/main" id="{95827A95-2776-459C-B5FB-45CFACED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28975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8" name="diagram-756">
            <a:extLst xmlns:a="http://schemas.openxmlformats.org/drawingml/2006/main">
              <a:ext uri="{FF2B5EF4-FFF2-40B4-BE49-F238E27FC236}">
                <a16:creationId xmlns:a16="http://schemas.microsoft.com/office/drawing/2014/main" id="{243B315E-DD08-441E-B149-1CEF5F01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289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49" name="diagram-757">
            <a:extLst xmlns:a="http://schemas.openxmlformats.org/drawingml/2006/main">
              <a:ext uri="{FF2B5EF4-FFF2-40B4-BE49-F238E27FC236}">
                <a16:creationId xmlns:a16="http://schemas.microsoft.com/office/drawing/2014/main" id="{4245BF12-3C95-4C7C-BAE7-CC86746A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2289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50" name="diagram-758">
            <a:extLst xmlns:a="http://schemas.openxmlformats.org/drawingml/2006/main">
              <a:ext uri="{FF2B5EF4-FFF2-40B4-BE49-F238E27FC236}">
                <a16:creationId xmlns:a16="http://schemas.microsoft.com/office/drawing/2014/main" id="{274A7B96-8F8E-4B72-B5F3-460E6F80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76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51" name="text-759">
            <a:extLst xmlns:a="http://schemas.openxmlformats.org/drawingml/2006/main">
              <a:ext uri="{FF2B5EF4-FFF2-40B4-BE49-F238E27FC236}">
                <a16:creationId xmlns:a16="http://schemas.microsoft.com/office/drawing/2014/main" id="{DA022328-F929-4C4C-917C-601B1933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81475"/>
            <a:ext cx="2695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房间归位</a:t>
            </a:r>
            <a:endParaRPr sz="1875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等待位可再次使用</a:t>
            </a:r>
            <a:endParaRPr sz="1875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-760">
            <a:extLst xmlns:a="http://schemas.openxmlformats.org/drawingml/2006/main">
              <a:ext uri="{FF2B5EF4-FFF2-40B4-BE49-F238E27FC236}">
                <a16:creationId xmlns:a16="http://schemas.microsoft.com/office/drawing/2014/main" id="{F8F6AF00-0DB0-4F7A-9771-FFE09FA1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9225"/>
            <a:ext cx="1285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华容道的启发</a:t>
            </a:r>
            <a:endParaRPr sz="1950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text-761">
            <a:extLst xmlns:a="http://schemas.openxmlformats.org/drawingml/2006/main">
              <a:ext uri="{FF2B5EF4-FFF2-40B4-BE49-F238E27FC236}">
                <a16:creationId xmlns:a16="http://schemas.microsoft.com/office/drawing/2014/main" id="{68FC1839-2E89-46D8-9328-54B7F987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963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预留周转位置，让同一批房间持续重排</a:t>
            </a:r>
            <a:endParaRPr sz="1875" b="0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diagram-762">
            <a:extLst xmlns:a="http://schemas.openxmlformats.org/drawingml/2006/main">
              <a:ext uri="{FF2B5EF4-FFF2-40B4-BE49-F238E27FC236}">
                <a16:creationId xmlns:a16="http://schemas.microsoft.com/office/drawing/2014/main" id="{FB217EC9-A860-4FF5-8DF5-DF149EE5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00725"/>
            <a:ext cx="112776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5EFF8"/>
          </a:solidFill>
          <a:ln xmlns:a="http://schemas.openxmlformats.org/drawingml/2006/main" w="14288">
            <a:solidFill>
              <a:srgbClr val="703080"/>
            </a:solidFill>
          </a:ln>
        </p:spPr>
      </p:sp>
      <p:sp>
        <p:nvSpPr>
          <p:cNvPr id="55" name="text-763">
            <a:extLst xmlns:a="http://schemas.openxmlformats.org/drawingml/2006/main">
              <a:ext uri="{FF2B5EF4-FFF2-40B4-BE49-F238E27FC236}">
                <a16:creationId xmlns:a16="http://schemas.microsoft.com/office/drawing/2014/main" id="{079D3BDE-0524-45BA-AF07-264CA79E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96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共享机构负责搬运，等待位创造调整次序的空间</a:t>
            </a:r>
            <a:endParaRPr sz="2100" b="1">
              <a:solidFill>
                <a:srgbClr val="703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CD75728C-0B5E-4AC6-BF2E-D60E2F6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26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R2</a:t>
            </a:r>
          </a:p>
        </p:txBody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48C0B4C2-6617-45E0-AC17-FD63FFC7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3907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F2ECA49F-EB1E-48A4-9E88-4C48BDB4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2861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4C567016-C9A7-4CAB-A655-AA67B57A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86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其余舱</a:t>
            </a:r>
          </a:p>
        </p:txBody>
      </p:sp>
    </p:spTree>
    <p:extLst>
      <p:ext uri="{BB962C8B-B14F-4D97-AF65-F5344CB8AC3E}">
        <p14:creationId xmlns:p14="http://schemas.microsoft.com/office/powerpoint/2010/main" val="1518750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5945692b147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123825"/>
            <a:ext cx="175260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diagram-712">
            <a:extLst xmlns:a="http://schemas.openxmlformats.org/drawingml/2006/main">
              <a:ext uri="{FF2B5EF4-FFF2-40B4-BE49-F238E27FC236}">
                <a16:creationId xmlns:a16="http://schemas.microsoft.com/office/drawing/2014/main" id="{F31F8B76-B181-4EFF-81D1-A3464D0E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4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3" name="line-713">
            <a:extLst xmlns:a="http://schemas.openxmlformats.org/drawingml/2006/main">
              <a:ext uri="{FF2B5EF4-FFF2-40B4-BE49-F238E27FC236}">
                <a16:creationId xmlns:a16="http://schemas.microsoft.com/office/drawing/2014/main" id="{91F2B6F8-E766-49CC-BE3C-69A3AB6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5825"/>
            <a:ext cx="1219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3B3818-1264-4DCA-AAF0-91A91588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"/>
            <a:ext cx="9305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三个协作舱 集中到同一层</a:t>
            </a:r>
            <a:endParaRPr sz="2700" b="1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38A55D-5959-461E-9AD1-BECF550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4770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6</a:t>
            </a:r>
            <a:endParaRPr sz="1350" b="0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AADA125-7DC3-492F-9969-138FA3A2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9240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75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75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FC614A-5BF4-4DB8-9989-86F71545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43125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个指定协作舱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760DCE4-E18D-40E7-A9E1-F2A560A5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766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R02   R03   R08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AD82349-DD49-40BF-86EA-2C278C56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全部集中到 L2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958EBA-EFA0-4B35-9F2D-E5552EEB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形成新的同层科研组团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e07538b8f46f0"/>
          <a:stretch xmlns:a="http://schemas.openxmlformats.org/drawingml/2006/main"/>
        </p:blipFill>
        <p:spPr>
          <a:xfrm xmlns:a="http://schemas.openxmlformats.org/drawingml/2006/main">
            <a:off x="6477000" y="1903279"/>
            <a:ext cx="5143500" cy="3308616"/>
          </a:xfrm>
          <a:prstGeom xmlns:a="http://schemas.openxmlformats.org/drawingml/2006/main" prst="rect">
            <a:avLst/>
          </a:prstGeom>
        </p:spPr>
      </p:pic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DFAB45-3C72-4A7B-906F-6BF47E4C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48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结果来自当前软件“科研协作”预设。右图为已有软件舱体近景。</a:t>
            </a:r>
          </a:p>
        </p:txBody>
      </p:sp>
    </p:spTree>
    <p:extLst>
      <p:ext uri="{BB962C8B-B14F-4D97-AF65-F5344CB8AC3E}">
        <p14:creationId xmlns:p14="http://schemas.microsoft.com/office/powerpoint/2010/main" val="1518750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8dbe53cac44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123825"/>
            <a:ext cx="175260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diagram-712">
            <a:extLst xmlns:a="http://schemas.openxmlformats.org/drawingml/2006/main">
              <a:ext uri="{FF2B5EF4-FFF2-40B4-BE49-F238E27FC236}">
                <a16:creationId xmlns:a16="http://schemas.microsoft.com/office/drawing/2014/main" id="{F31F8B76-B181-4EFF-81D1-A3464D0E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4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3" name="line-713">
            <a:extLst xmlns:a="http://schemas.openxmlformats.org/drawingml/2006/main">
              <a:ext uri="{FF2B5EF4-FFF2-40B4-BE49-F238E27FC236}">
                <a16:creationId xmlns:a16="http://schemas.microsoft.com/office/drawing/2014/main" id="{91F2B6F8-E766-49CC-BE3C-69A3AB6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5825"/>
            <a:ext cx="1219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3B3818-1264-4DCA-AAF0-91A91588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"/>
            <a:ext cx="9305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同一批舱 组合出新的任务空间</a:t>
            </a:r>
            <a:endParaRPr sz="2700" b="1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38A55D-5959-461E-9AD1-BECF550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4770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7</a:t>
            </a:r>
            <a:endParaRPr sz="1350" b="0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D25605-5C61-4F3F-B973-5BE013DD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3857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25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25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170E3EF-EEB2-465D-8C21-F69FC72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5715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个舱，总数保持不变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F93A3B-7AF6-4845-839C-FE154ABB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两个预留泊位启用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D4D4A6-D1A5-4154-84B0-3C0D3E0A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715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同一批模块，服务下一项任务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686550" y="1962150"/>
          <a:ext xmlns:a="http://schemas.openxmlformats.org/drawingml/2006/main" cx="4810125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1428750"/>
                <a:gridCol w="1428750"/>
              </a:tblGrid>
              <a:tr h="1119188">
                <a:tc>
                  <a:txBody>
                    <a:bodyPr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二层入驻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重组前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重组后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</a:tr>
              <a:tr h="1119188">
                <a:tc>
                  <a:txBody>
                    <a:bodyPr/>
                    <a:lstStyle/>
                    <a:p>
                      <a:pPr algn="ctr"/>
                      <a:r>
                        <a:rPr sz="255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舱数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5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5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</a:tr>
            </a:tbl>
          </a:graphicData>
        </a:graphic>
      </p:graphicFrame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1700BCF-D724-4145-828F-DF5B6BBF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05325"/>
            <a:ext cx="470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已有空间重新组织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3B16D6A-BA14-4391-9919-0C584BD6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48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当前软件“基地扩建”预设；二层 6 舱重组为 8 舱，全站保持 24 舱。</a:t>
            </a:r>
          </a:p>
        </p:txBody>
      </p:sp>
    </p:spTree>
    <p:extLst>
      <p:ext uri="{BB962C8B-B14F-4D97-AF65-F5344CB8AC3E}">
        <p14:creationId xmlns:p14="http://schemas.microsoft.com/office/powerpoint/2010/main" val="1518750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53f908f194d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123825"/>
            <a:ext cx="175260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4BE282-EB3F-4CF3-8F28-DB37D190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4770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8</a:t>
            </a:r>
            <a:endParaRPr sz="1350" b="0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B676E4F-7C2F-478C-93C2-DB44ADA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125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任务在变，空间跟上</a:t>
            </a:r>
            <a:endParaRPr sz="4350" b="1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A4ABB100-3D49-4C48-B40D-8788ADA0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把布局变成一项可以调度的能力</a:t>
            </a:r>
            <a:endParaRPr sz="2700" b="0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2B7EAA9-1386-4F32-82E6-635CA4CE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57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月宫华容</a:t>
            </a:r>
          </a:p>
        </p:txBody>
      </p:sp>
    </p:spTree>
    <p:extLst>
      <p:ext uri="{BB962C8B-B14F-4D97-AF65-F5344CB8AC3E}">
        <p14:creationId xmlns:p14="http://schemas.microsoft.com/office/powerpoint/2010/main" val="200500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ca575534e4f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123825"/>
            <a:ext cx="175260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diagram-712">
            <a:extLst xmlns:a="http://schemas.openxmlformats.org/drawingml/2006/main">
              <a:ext uri="{FF2B5EF4-FFF2-40B4-BE49-F238E27FC236}">
                <a16:creationId xmlns:a16="http://schemas.microsoft.com/office/drawing/2014/main" id="{F31F8B76-B181-4EFF-81D1-A3464D0E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4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3" name="line-713">
            <a:extLst xmlns:a="http://schemas.openxmlformats.org/drawingml/2006/main">
              <a:ext uri="{FF2B5EF4-FFF2-40B4-BE49-F238E27FC236}">
                <a16:creationId xmlns:a16="http://schemas.microsoft.com/office/drawing/2014/main" id="{91F2B6F8-E766-49CC-BE3C-69A3AB6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5825"/>
            <a:ext cx="1219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3B3818-1264-4DCA-AAF0-91A91588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"/>
            <a:ext cx="9305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任务重组的具体结果</a:t>
            </a:r>
            <a:endParaRPr sz="2700" b="1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38A55D-5959-461E-9AD1-BECF550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4770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9</a:t>
            </a:r>
            <a:endParaRPr sz="1350" b="0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61975" y="1562100"/>
          <a:ext xmlns:a="http://schemas.openxmlformats.org/drawingml/2006/main" cx="1106805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6219825"/>
                <a:gridCol w="2733675"/>
              </a:tblGrid>
              <a:tr h="835819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重组后的空间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保持的条件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</a:tr>
              <a:tr h="835819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科研协作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个指定协作舱集中到 L2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 个舱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</a:tr>
              <a:tr h="835819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检修调位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R24 到首层东缘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相邻 2 处泊位留空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 个舱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835819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预留空间启用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L2 入驻由 6 舱变为 8 舱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 个舱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EA65408-2F3C-412A-997C-CD0D5AA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同一套空间资源，响应不同任务目标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867D6A3-7220-4F44-A8EC-6C377772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48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软件预设的布局结果；泊位留空表示空间缓冲。</a:t>
            </a:r>
          </a:p>
        </p:txBody>
      </p:sp>
    </p:spTree>
    <p:extLst>
      <p:ext uri="{BB962C8B-B14F-4D97-AF65-F5344CB8AC3E}">
        <p14:creationId xmlns:p14="http://schemas.microsoft.com/office/powerpoint/2010/main" val="15187508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2b0f4becf4e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123825"/>
            <a:ext cx="175260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diagram-712">
            <a:extLst xmlns:a="http://schemas.openxmlformats.org/drawingml/2006/main">
              <a:ext uri="{FF2B5EF4-FFF2-40B4-BE49-F238E27FC236}">
                <a16:creationId xmlns:a16="http://schemas.microsoft.com/office/drawing/2014/main" id="{F31F8B76-B181-4EFF-81D1-A3464D0E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4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3" name="line-713">
            <a:extLst xmlns:a="http://schemas.openxmlformats.org/drawingml/2006/main">
              <a:ext uri="{FF2B5EF4-FFF2-40B4-BE49-F238E27FC236}">
                <a16:creationId xmlns:a16="http://schemas.microsoft.com/office/drawing/2014/main" id="{91F2B6F8-E766-49CC-BE3C-69A3AB6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5825"/>
            <a:ext cx="1219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3B3818-1264-4DCA-AAF0-91A91588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"/>
            <a:ext cx="9305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共享驱动的适用场景</a:t>
            </a:r>
            <a:endParaRPr sz="2700" b="1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38A55D-5959-461E-9AD1-BECF550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4770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10</a:t>
            </a:r>
            <a:endParaRPr sz="1350" b="0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494A25-D9BB-4769-826E-77FFED54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平台共享搬运能力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28650" y="2752725"/>
          <a:ext xmlns:a="http://schemas.openxmlformats.org/drawingml/2006/main" cx="108966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57650"/>
                <a:gridCol w="6838950"/>
              </a:tblGrid>
              <a:tr h="645319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设计条件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对应价值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</a:tr>
              <a:tr h="645319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房间按需、逐个换位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一套机构轮流服务多个房间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</a:tr>
              <a:tr h="645319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模块保持被动结构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驱动与控制集中在平台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645319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通道与等待位预先定义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调度围绕占位和路径展开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</a:tr>
            </a:tbl>
          </a:graphicData>
        </a:graphic>
      </p:graphicFrame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C37B8A-1B70-42FB-B5A3-AE7C673D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48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桌面机构的架构价值；整体费用需结合平台、安装与维护核算。</a:t>
            </a:r>
          </a:p>
        </p:txBody>
      </p:sp>
    </p:spTree>
    <p:extLst>
      <p:ext uri="{BB962C8B-B14F-4D97-AF65-F5344CB8AC3E}">
        <p14:creationId xmlns:p14="http://schemas.microsoft.com/office/powerpoint/2010/main" val="15187508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69a1bf5a4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123825"/>
            <a:ext cx="175260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diagram-712">
            <a:extLst xmlns:a="http://schemas.openxmlformats.org/drawingml/2006/main">
              <a:ext uri="{FF2B5EF4-FFF2-40B4-BE49-F238E27FC236}">
                <a16:creationId xmlns:a16="http://schemas.microsoft.com/office/drawing/2014/main" id="{F31F8B76-B181-4EFF-81D1-A3464D0E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4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80"/>
          </a:solidFill>
          <a:ln xmlns:a="http://schemas.openxmlformats.org/drawingml/2006/main" w="0">
            <a:solidFill>
              <a:srgbClr val="703080"/>
            </a:solidFill>
          </a:ln>
        </p:spPr>
      </p:sp>
      <p:sp>
        <p:nvSpPr>
          <p:cNvPr id="3" name="line-713">
            <a:extLst xmlns:a="http://schemas.openxmlformats.org/drawingml/2006/main">
              <a:ext uri="{FF2B5EF4-FFF2-40B4-BE49-F238E27FC236}">
                <a16:creationId xmlns:a16="http://schemas.microsoft.com/office/drawing/2014/main" id="{91F2B6F8-E766-49CC-BE3C-69A3AB6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5825"/>
            <a:ext cx="1219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3080"/>
            </a:solidFill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3B3818-1264-4DCA-AAF0-91A91588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"/>
            <a:ext cx="9305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两个尺度 一个重构逻辑</a:t>
            </a:r>
            <a:endParaRPr sz="2700" b="1">
              <a:solidFill>
                <a:srgbClr val="15151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38A55D-5959-461E-9AD1-BECF550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4770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11</a:t>
            </a:r>
            <a:endParaRPr sz="1350" b="0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0075" y="1581150"/>
          <a:ext xmlns:a="http://schemas.openxmlformats.org/drawingml/2006/main" cx="1099185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95925"/>
                <a:gridCol w="5495925"/>
              </a:tblGrid>
              <a:tr h="802481"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桌面机构设计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空间调度软件</a:t>
                      </a:r>
                    </a:p>
                  </a:txBody>
                  <a:tcPr marL="171450" marR="171450" marT="114300" marB="114300" anchor="ctr">
                    <a:solidFill>
                      <a:srgbClr val="71318A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单平台 XY 磁牵引</a:t>
                      </a:r>
                    </a:p>
                    <a:p>
                      <a:pPr algn="ctr"/>
                      <a:r>
                        <a:rPr sz="225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个被动模型房间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五层 24 个房间</a:t>
                      </a:r>
                    </a:p>
                    <a:p>
                      <a:pPr algn="ctr"/>
                      <a:r>
                        <a:rPr sz="225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 个有效节点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观察接合、牵引与释放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观察占位、路径与组团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面板承重，磁头牵引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既定通道内平移与升降</a:t>
                      </a:r>
                    </a:p>
                  </a:txBody>
                  <a:tcPr marL="171450" marR="171450" marT="114300" marB="114300" anchor="ctr">
                    <a:solidFill>
                      <a:srgbClr val="F4EFF7"/>
                    </a:solidFill>
                  </a:tcPr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29ADF1-60FF-4F9E-9099-C228D71B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1318A"/>
                </a:solidFill>
                <a:latin typeface="Microsoft YaHei"/>
                <a:ea typeface="Microsoft YaHei"/>
                <a:cs typeface="Microsoft YaHei"/>
              </a:rPr>
              <a:t>先定义任务关系，再组织空间重排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040F6E-3241-4AEE-8D14-B01211AA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48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616A"/>
                </a:solidFill>
                <a:latin typeface="Microsoft YaHei"/>
                <a:ea typeface="Microsoft YaHei"/>
                <a:cs typeface="Microsoft YaHei"/>
              </a:rPr>
              <a:t>当前发布对象为机构设计与软件几何调度。</a:t>
            </a:r>
          </a:p>
        </p:txBody>
      </p:sp>
    </p:spTree>
    <p:extLst>
      <p:ext uri="{BB962C8B-B14F-4D97-AF65-F5344CB8AC3E}">
        <p14:creationId xmlns:p14="http://schemas.microsoft.com/office/powerpoint/2010/main" val="1518750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2026-09-08T07:42:44.0420000Z</dcterms:created>
  <dcterms:modified xsi:type="dcterms:W3CDTF">2026-09-08T07:42:44.0420000Z</dcterms:modified>
</coreProperties>
</file>